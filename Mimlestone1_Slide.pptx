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3"/>
    <p:sldId id="257" r:id="rId4"/>
    <p:sldId id="258" r:id="rId5"/>
    <p:sldId id="259" r:id="rId6"/>
    <p:sldId id="260" r:id="rId7"/>
    <p:sldId id="261" r:id="rId8"/>
    <p:sldId id="262" r:id="rId9"/>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1pPr>
    <a:lvl2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2pPr>
    <a:lvl3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3pPr>
    <a:lvl4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4pPr>
    <a:lvl5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5pPr>
    <a:lvl6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6pPr>
    <a:lvl7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7pPr>
    <a:lvl8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8pPr>
    <a:lvl9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940675A-B579-460E-94D1-54222C63F5DA}">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4C3C2611-4C71-4FC5-86AE-919BDF0F9419}" styleName="">
    <a:wholeTbl>
      <a:tcTxStyle>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p:txBody>
      </p:sp>
      <p:sp>
        <p:nvSpPr>
          <p:cNvPr id="18" name="Shape 18"/>
          <p:cNvSpPr/>
          <p:nvPr>
            <p:ph type="body" sz="quarter" idx="1"/>
          </p:nvPr>
        </p:nvSpPr>
        <p:spPr>
          <a:xfrm>
            <a:off x="914400" y="4343400"/>
            <a:ext cx="5029200" cy="41148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panose="020F0502020204030204"/>
      </a:defRPr>
    </a:lvl1pPr>
    <a:lvl2pPr indent="228600" latinLnBrk="0">
      <a:defRPr sz="1200">
        <a:latin typeface="+mj-lt"/>
        <a:ea typeface="+mj-ea"/>
        <a:cs typeface="+mj-cs"/>
        <a:sym typeface="Calibri" panose="020F0502020204030204"/>
      </a:defRPr>
    </a:lvl2pPr>
    <a:lvl3pPr indent="457200" latinLnBrk="0">
      <a:defRPr sz="1200">
        <a:latin typeface="+mj-lt"/>
        <a:ea typeface="+mj-ea"/>
        <a:cs typeface="+mj-cs"/>
        <a:sym typeface="Calibri" panose="020F0502020204030204"/>
      </a:defRPr>
    </a:lvl3pPr>
    <a:lvl4pPr indent="685800" latinLnBrk="0">
      <a:defRPr sz="1200">
        <a:latin typeface="+mj-lt"/>
        <a:ea typeface="+mj-ea"/>
        <a:cs typeface="+mj-cs"/>
        <a:sym typeface="Calibri" panose="020F0502020204030204"/>
      </a:defRPr>
    </a:lvl4pPr>
    <a:lvl5pPr indent="914400" latinLnBrk="0">
      <a:defRPr sz="1200">
        <a:latin typeface="+mj-lt"/>
        <a:ea typeface="+mj-ea"/>
        <a:cs typeface="+mj-cs"/>
        <a:sym typeface="Calibri" panose="020F0502020204030204"/>
      </a:defRPr>
    </a:lvl5pPr>
    <a:lvl6pPr indent="1143000" latinLnBrk="0">
      <a:defRPr sz="1200">
        <a:latin typeface="+mj-lt"/>
        <a:ea typeface="+mj-ea"/>
        <a:cs typeface="+mj-cs"/>
        <a:sym typeface="Calibri" panose="020F0502020204030204"/>
      </a:defRPr>
    </a:lvl6pPr>
    <a:lvl7pPr indent="1371600" latinLnBrk="0">
      <a:defRPr sz="1200">
        <a:latin typeface="+mj-lt"/>
        <a:ea typeface="+mj-ea"/>
        <a:cs typeface="+mj-cs"/>
        <a:sym typeface="Calibri" panose="020F0502020204030204"/>
      </a:defRPr>
    </a:lvl7pPr>
    <a:lvl8pPr indent="1600200" latinLnBrk="0">
      <a:defRPr sz="1200">
        <a:latin typeface="+mj-lt"/>
        <a:ea typeface="+mj-ea"/>
        <a:cs typeface="+mj-cs"/>
        <a:sym typeface="Calibri" panose="020F0502020204030204"/>
      </a:defRPr>
    </a:lvl8pPr>
    <a:lvl9pPr indent="1828800" latinLnBrk="0">
      <a:defRPr sz="1200">
        <a:latin typeface="+mj-lt"/>
        <a:ea typeface="+mj-ea"/>
        <a:cs typeface="+mj-cs"/>
        <a:sym typeface="Calibri" panose="020F0502020204030204"/>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文本"/>
          <p:cNvSpPr txBox="1"/>
          <p:nvPr>
            <p:ph type="title"/>
          </p:nvPr>
        </p:nvSpPr>
        <p:spPr>
          <a:xfrm>
            <a:off x="1826683" y="769937"/>
            <a:ext cx="9753601" cy="1668463"/>
          </a:xfrm>
          <a:prstGeom prst="rect">
            <a:avLst/>
          </a:prstGeom>
          <a:ln w="12700">
            <a:miter lim="400000"/>
          </a:ln>
        </p:spPr>
        <p:txBody>
          <a:bodyPr lIns="45718" tIns="45718" rIns="45718" bIns="45718" anchor="ctr"/>
          <a:lstStyle/>
          <a:p>
            <a:r>
              <a:t>标题文本</a:t>
            </a:r>
          </a:p>
        </p:txBody>
      </p:sp>
      <p:sp>
        <p:nvSpPr>
          <p:cNvPr id="3" name="正文级别 1…"/>
          <p:cNvSpPr txBox="1"/>
          <p:nvPr>
            <p:ph type="body" idx="1"/>
          </p:nvPr>
        </p:nvSpPr>
        <p:spPr>
          <a:xfrm>
            <a:off x="6805083" y="2438400"/>
            <a:ext cx="4775201" cy="4419600"/>
          </a:xfrm>
          <a:prstGeom prst="rect">
            <a:avLst/>
          </a:prstGeom>
          <a:ln w="12700">
            <a:miter lim="400000"/>
          </a:ln>
        </p:spPr>
        <p:txBody>
          <a:bodyPr lIns="45718" tIns="45718" rIns="45718" bIns="45718"/>
          <a:lstStyle/>
          <a:p>
            <a:r>
              <a:t>正文级别 1</a:t>
            </a:r>
          </a:p>
          <a:p>
            <a:pPr lvl="1"/>
            <a:r>
              <a:t>正文级别 2</a:t>
            </a:r>
          </a:p>
          <a:p>
            <a:pPr lvl="2"/>
            <a:r>
              <a:t>正文级别 3</a:t>
            </a:r>
          </a:p>
          <a:p>
            <a:pPr lvl="3"/>
            <a:r>
              <a:t>正文级别 4</a:t>
            </a:r>
          </a:p>
          <a:p>
            <a:pPr lvl="4"/>
            <a:r>
              <a:t>正文级别 5</a:t>
            </a:r>
          </a:p>
        </p:txBody>
      </p:sp>
      <p:sp>
        <p:nvSpPr>
          <p:cNvPr id="4" name="幻灯片编号"/>
          <p:cNvSpPr txBox="1"/>
          <p:nvPr>
            <p:ph type="sldNum" sz="quarter" idx="2"/>
          </p:nvPr>
        </p:nvSpPr>
        <p:spPr>
          <a:xfrm>
            <a:off x="8478978" y="6232198"/>
            <a:ext cx="258623" cy="248304"/>
          </a:xfrm>
          <a:prstGeom prst="rect">
            <a:avLst/>
          </a:prstGeom>
          <a:ln w="12700">
            <a:miter lim="400000"/>
          </a:ln>
        </p:spPr>
        <p:txBody>
          <a:bodyPr wrap="none" lIns="45718" tIns="45718" rIns="45718" bIns="45718" anchor="ctr">
            <a:spAutoFit/>
          </a:bodyPr>
          <a:lstStyle>
            <a:lvl1pPr algn="r">
              <a:defRPr sz="1200"/>
            </a:lvl1pPr>
          </a:lstStyle>
          <a:p>
            <a:fld id="{86CB4B4D-7CA3-9044-876B-883B54F8677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Lst>
  <p:transition spd="med"/>
  <p:txStyles>
    <p:titleStyle>
      <a:lvl1pPr marL="0" marR="0" indent="0" algn="ctr" defTabSz="914400" rtl="0" latinLnBrk="0">
        <a:lnSpc>
          <a:spcPct val="10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1pPr>
      <a:lvl2pPr marL="0" marR="0" indent="0" algn="ctr" defTabSz="914400" rtl="0" latinLnBrk="0">
        <a:lnSpc>
          <a:spcPct val="10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2pPr>
      <a:lvl3pPr marL="0" marR="0" indent="0" algn="ctr" defTabSz="914400" rtl="0" latinLnBrk="0">
        <a:lnSpc>
          <a:spcPct val="10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3pPr>
      <a:lvl4pPr marL="0" marR="0" indent="0" algn="ctr" defTabSz="914400" rtl="0" latinLnBrk="0">
        <a:lnSpc>
          <a:spcPct val="10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4pPr>
      <a:lvl5pPr marL="0" marR="0" indent="0" algn="ctr" defTabSz="914400" rtl="0" latinLnBrk="0">
        <a:lnSpc>
          <a:spcPct val="10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5pPr>
      <a:lvl6pPr marL="0" marR="0" indent="0" algn="ctr" defTabSz="914400" rtl="0" latinLnBrk="0">
        <a:lnSpc>
          <a:spcPct val="10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6pPr>
      <a:lvl7pPr marL="0" marR="0" indent="0" algn="ctr" defTabSz="914400" rtl="0" latinLnBrk="0">
        <a:lnSpc>
          <a:spcPct val="10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7pPr>
      <a:lvl8pPr marL="0" marR="0" indent="0" algn="ctr" defTabSz="914400" rtl="0" latinLnBrk="0">
        <a:lnSpc>
          <a:spcPct val="10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8pPr>
      <a:lvl9pPr marL="0" marR="0" indent="0" algn="ctr" defTabSz="914400" rtl="0" latinLnBrk="0">
        <a:lnSpc>
          <a:spcPct val="10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9pPr>
    </p:titleStyle>
    <p:bodyStyle>
      <a:lvl1pPr marL="342900" marR="0" indent="-342900" algn="l" defTabSz="914400" rtl="0" latinLnBrk="0">
        <a:lnSpc>
          <a:spcPct val="100000"/>
        </a:lnSpc>
        <a:spcBef>
          <a:spcPts val="700"/>
        </a:spcBef>
        <a:spcAft>
          <a:spcPts val="0"/>
        </a:spcAft>
        <a:buClrTx/>
        <a:buSzPct val="100000"/>
        <a:buFont typeface="Arial" panose="020B0604020202020204"/>
        <a:buChar char="•"/>
        <a:defRPr sz="3200" b="0" i="0" u="none" strike="noStrike" cap="none" spc="0" baseline="0">
          <a:solidFill>
            <a:srgbClr val="000000"/>
          </a:solidFill>
          <a:uFillTx/>
          <a:latin typeface="+mj-lt"/>
          <a:ea typeface="+mj-ea"/>
          <a:cs typeface="+mj-cs"/>
          <a:sym typeface="Calibri" panose="020F0502020204030204"/>
        </a:defRPr>
      </a:lvl1pPr>
      <a:lvl2pPr marL="783590" marR="0" indent="-326390" algn="l" defTabSz="914400" rtl="0" latinLnBrk="0">
        <a:lnSpc>
          <a:spcPct val="100000"/>
        </a:lnSpc>
        <a:spcBef>
          <a:spcPts val="700"/>
        </a:spcBef>
        <a:spcAft>
          <a:spcPts val="0"/>
        </a:spcAft>
        <a:buClrTx/>
        <a:buSzPct val="100000"/>
        <a:buFont typeface="Arial" panose="020B0604020202020204"/>
        <a:buChar char="–"/>
        <a:defRPr sz="3200" b="0" i="0" u="none" strike="noStrike" cap="none" spc="0" baseline="0">
          <a:solidFill>
            <a:srgbClr val="000000"/>
          </a:solidFill>
          <a:uFillTx/>
          <a:latin typeface="+mj-lt"/>
          <a:ea typeface="+mj-ea"/>
          <a:cs typeface="+mj-cs"/>
          <a:sym typeface="Calibri" panose="020F0502020204030204"/>
        </a:defRPr>
      </a:lvl2pPr>
      <a:lvl3pPr marL="1219200" marR="0" indent="-304800" algn="l" defTabSz="914400" rtl="0" latinLnBrk="0">
        <a:lnSpc>
          <a:spcPct val="100000"/>
        </a:lnSpc>
        <a:spcBef>
          <a:spcPts val="700"/>
        </a:spcBef>
        <a:spcAft>
          <a:spcPts val="0"/>
        </a:spcAft>
        <a:buClrTx/>
        <a:buSzPct val="100000"/>
        <a:buFont typeface="Arial" panose="020B0604020202020204"/>
        <a:buChar char="•"/>
        <a:defRPr sz="3200" b="0" i="0" u="none" strike="noStrike" cap="none" spc="0" baseline="0">
          <a:solidFill>
            <a:srgbClr val="000000"/>
          </a:solidFill>
          <a:uFillTx/>
          <a:latin typeface="+mj-lt"/>
          <a:ea typeface="+mj-ea"/>
          <a:cs typeface="+mj-cs"/>
          <a:sym typeface="Calibri" panose="020F0502020204030204"/>
        </a:defRPr>
      </a:lvl3pPr>
      <a:lvl4pPr marL="1737360" marR="0" indent="-365760" algn="l" defTabSz="914400" rtl="0" latinLnBrk="0">
        <a:lnSpc>
          <a:spcPct val="100000"/>
        </a:lnSpc>
        <a:spcBef>
          <a:spcPts val="700"/>
        </a:spcBef>
        <a:spcAft>
          <a:spcPts val="0"/>
        </a:spcAft>
        <a:buClrTx/>
        <a:buSzPct val="100000"/>
        <a:buFont typeface="Arial" panose="020B0604020202020204"/>
        <a:buChar char="–"/>
        <a:defRPr sz="3200" b="0" i="0" u="none" strike="noStrike" cap="none" spc="0" baseline="0">
          <a:solidFill>
            <a:srgbClr val="000000"/>
          </a:solidFill>
          <a:uFillTx/>
          <a:latin typeface="+mj-lt"/>
          <a:ea typeface="+mj-ea"/>
          <a:cs typeface="+mj-cs"/>
          <a:sym typeface="Calibri" panose="020F0502020204030204"/>
        </a:defRPr>
      </a:lvl4pPr>
      <a:lvl5pPr marL="2194560" marR="0" indent="-365760" algn="l" defTabSz="914400" rtl="0" latinLnBrk="0">
        <a:lnSpc>
          <a:spcPct val="100000"/>
        </a:lnSpc>
        <a:spcBef>
          <a:spcPts val="700"/>
        </a:spcBef>
        <a:spcAft>
          <a:spcPts val="0"/>
        </a:spcAft>
        <a:buClrTx/>
        <a:buSzPct val="100000"/>
        <a:buFont typeface="Arial" panose="020B0604020202020204"/>
        <a:buChar char="»"/>
        <a:defRPr sz="3200" b="0" i="0" u="none" strike="noStrike" cap="none" spc="0" baseline="0">
          <a:solidFill>
            <a:srgbClr val="000000"/>
          </a:solidFill>
          <a:uFillTx/>
          <a:latin typeface="+mj-lt"/>
          <a:ea typeface="+mj-ea"/>
          <a:cs typeface="+mj-cs"/>
          <a:sym typeface="Calibri" panose="020F0502020204030204"/>
        </a:defRPr>
      </a:lvl5pPr>
      <a:lvl6pPr marL="2651760" marR="0" indent="-365760" algn="l" defTabSz="914400" rtl="0" latinLnBrk="0">
        <a:lnSpc>
          <a:spcPct val="100000"/>
        </a:lnSpc>
        <a:spcBef>
          <a:spcPts val="700"/>
        </a:spcBef>
        <a:spcAft>
          <a:spcPts val="0"/>
        </a:spcAft>
        <a:buClrTx/>
        <a:buSzPct val="100000"/>
        <a:buFont typeface="Arial" panose="020B0604020202020204"/>
        <a:buChar char="•"/>
        <a:defRPr sz="3200" b="0" i="0" u="none" strike="noStrike" cap="none" spc="0" baseline="0">
          <a:solidFill>
            <a:srgbClr val="000000"/>
          </a:solidFill>
          <a:uFillTx/>
          <a:latin typeface="+mj-lt"/>
          <a:ea typeface="+mj-ea"/>
          <a:cs typeface="+mj-cs"/>
          <a:sym typeface="Calibri" panose="020F0502020204030204"/>
        </a:defRPr>
      </a:lvl6pPr>
      <a:lvl7pPr marL="3108960" marR="0" indent="-365760" algn="l" defTabSz="914400" rtl="0" latinLnBrk="0">
        <a:lnSpc>
          <a:spcPct val="100000"/>
        </a:lnSpc>
        <a:spcBef>
          <a:spcPts val="700"/>
        </a:spcBef>
        <a:spcAft>
          <a:spcPts val="0"/>
        </a:spcAft>
        <a:buClrTx/>
        <a:buSzPct val="100000"/>
        <a:buFont typeface="Arial" panose="020B0604020202020204"/>
        <a:buChar char="•"/>
        <a:defRPr sz="3200" b="0" i="0" u="none" strike="noStrike" cap="none" spc="0" baseline="0">
          <a:solidFill>
            <a:srgbClr val="000000"/>
          </a:solidFill>
          <a:uFillTx/>
          <a:latin typeface="+mj-lt"/>
          <a:ea typeface="+mj-ea"/>
          <a:cs typeface="+mj-cs"/>
          <a:sym typeface="Calibri" panose="020F0502020204030204"/>
        </a:defRPr>
      </a:lvl7pPr>
      <a:lvl8pPr marL="3566160" marR="0" indent="-365760" algn="l" defTabSz="914400" rtl="0" latinLnBrk="0">
        <a:lnSpc>
          <a:spcPct val="100000"/>
        </a:lnSpc>
        <a:spcBef>
          <a:spcPts val="700"/>
        </a:spcBef>
        <a:spcAft>
          <a:spcPts val="0"/>
        </a:spcAft>
        <a:buClrTx/>
        <a:buSzPct val="100000"/>
        <a:buFont typeface="Arial" panose="020B0604020202020204"/>
        <a:buChar char="•"/>
        <a:defRPr sz="3200" b="0" i="0" u="none" strike="noStrike" cap="none" spc="0" baseline="0">
          <a:solidFill>
            <a:srgbClr val="000000"/>
          </a:solidFill>
          <a:uFillTx/>
          <a:latin typeface="+mj-lt"/>
          <a:ea typeface="+mj-ea"/>
          <a:cs typeface="+mj-cs"/>
          <a:sym typeface="Calibri" panose="020F0502020204030204"/>
        </a:defRPr>
      </a:lvl8pPr>
      <a:lvl9pPr marL="4023360" marR="0" indent="-365760" algn="l" defTabSz="914400" rtl="0" latinLnBrk="0">
        <a:lnSpc>
          <a:spcPct val="100000"/>
        </a:lnSpc>
        <a:spcBef>
          <a:spcPts val="700"/>
        </a:spcBef>
        <a:spcAft>
          <a:spcPts val="0"/>
        </a:spcAft>
        <a:buClrTx/>
        <a:buSzPct val="100000"/>
        <a:buFont typeface="Arial" panose="020B0604020202020204"/>
        <a:buChar char="•"/>
        <a:defRPr sz="3200" b="0" i="0" u="none" strike="noStrike" cap="none" spc="0" baseline="0">
          <a:solidFill>
            <a:srgbClr val="000000"/>
          </a:solidFill>
          <a:uFillTx/>
          <a:latin typeface="+mj-lt"/>
          <a:ea typeface="+mj-ea"/>
          <a:cs typeface="+mj-cs"/>
          <a:sym typeface="Calibri" panose="020F0502020204030204"/>
        </a:defRPr>
      </a:lvl9pPr>
    </p:bodyStyle>
    <p:otherStyle>
      <a:lvl1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1pPr>
      <a:lvl2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2pPr>
      <a:lvl3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3pPr>
      <a:lvl4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4pPr>
      <a:lvl5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5pPr>
      <a:lvl6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6pPr>
      <a:lvl7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7pPr>
      <a:lvl8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8pPr>
      <a:lvl9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pic>
        <p:nvPicPr>
          <p:cNvPr id="2" name="图片 1" descr="1b053a274649070ba44f42c540f31c14"/>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7752080" y="1557020"/>
            <a:ext cx="2798445" cy="2670810"/>
          </a:xfrm>
          <a:prstGeom prst="rect">
            <a:avLst/>
          </a:prstGeom>
        </p:spPr>
      </p:pic>
      <p:sp>
        <p:nvSpPr>
          <p:cNvPr id="20" name="Shape 0"/>
          <p:cNvSpPr/>
          <p:nvPr/>
        </p:nvSpPr>
        <p:spPr>
          <a:xfrm>
            <a:off x="548638" y="548640"/>
            <a:ext cx="11064244" cy="1"/>
          </a:xfrm>
          <a:prstGeom prst="line">
            <a:avLst/>
          </a:prstGeom>
          <a:ln w="15875">
            <a:solidFill>
              <a:srgbClr val="7C6BB5"/>
            </a:solidFill>
          </a:ln>
        </p:spPr>
        <p:txBody>
          <a:bodyPr lIns="45718" tIns="45718" rIns="45718" bIns="45718"/>
          <a:lstStyle/>
          <a:p/>
        </p:txBody>
      </p:sp>
      <p:sp>
        <p:nvSpPr>
          <p:cNvPr id="21" name="Text 1"/>
          <p:cNvSpPr txBox="1"/>
          <p:nvPr/>
        </p:nvSpPr>
        <p:spPr>
          <a:xfrm>
            <a:off x="548639" y="749852"/>
            <a:ext cx="5486403" cy="137071"/>
          </a:xfrm>
          <a:prstGeom prst="rect">
            <a:avLst/>
          </a:prstGeom>
          <a:ln w="12700">
            <a:miter lim="400000"/>
          </a:ln>
        </p:spPr>
        <p:txBody>
          <a:bodyPr lIns="0" tIns="0" rIns="0" bIns="0" anchor="ctr">
            <a:spAutoFit/>
          </a:bodyPr>
          <a:lstStyle>
            <a:lvl1pPr>
              <a:defRPr sz="1000" b="1" spc="250">
                <a:solidFill>
                  <a:srgbClr val="7C6BB5"/>
                </a:solidFill>
              </a:defRPr>
            </a:lvl1pPr>
          </a:lstStyle>
          <a:p>
            <a:r>
              <a:t>MILESTONE 1</a:t>
            </a:r>
          </a:p>
        </p:txBody>
      </p:sp>
      <p:sp>
        <p:nvSpPr>
          <p:cNvPr id="22" name="Text 2"/>
          <p:cNvSpPr txBox="1"/>
          <p:nvPr/>
        </p:nvSpPr>
        <p:spPr>
          <a:xfrm>
            <a:off x="10058400" y="749852"/>
            <a:ext cx="1554481" cy="137071"/>
          </a:xfrm>
          <a:prstGeom prst="rect">
            <a:avLst/>
          </a:prstGeom>
          <a:ln w="12700">
            <a:miter lim="400000"/>
          </a:ln>
        </p:spPr>
        <p:txBody>
          <a:bodyPr lIns="0" tIns="0" rIns="0" bIns="0" anchor="ctr">
            <a:spAutoFit/>
          </a:bodyPr>
          <a:lstStyle>
            <a:lvl1pPr algn="r">
              <a:defRPr sz="1000" b="1" spc="250">
                <a:solidFill>
                  <a:srgbClr val="7A7490"/>
                </a:solidFill>
              </a:defRPr>
            </a:lvl1pPr>
          </a:lstStyle>
          <a:p>
            <a:r>
              <a:t>TEAM PROJECT</a:t>
            </a:r>
          </a:p>
        </p:txBody>
      </p:sp>
      <p:sp>
        <p:nvSpPr>
          <p:cNvPr id="23" name="Text 3"/>
          <p:cNvSpPr txBox="1"/>
          <p:nvPr/>
        </p:nvSpPr>
        <p:spPr>
          <a:xfrm>
            <a:off x="1188720" y="1917065"/>
            <a:ext cx="6637020" cy="830580"/>
          </a:xfrm>
          <a:prstGeom prst="rect">
            <a:avLst/>
          </a:prstGeom>
          <a:ln w="12700">
            <a:miter lim="400000"/>
          </a:ln>
        </p:spPr>
        <p:txBody>
          <a:bodyPr wrap="square" lIns="0" tIns="0" rIns="0" bIns="0" anchor="ctr">
            <a:spAutoFit/>
          </a:bodyPr>
          <a:lstStyle>
            <a:lvl1pPr algn="ctr">
              <a:defRPr sz="5400" b="1">
                <a:solidFill>
                  <a:srgbClr val="2A2440"/>
                </a:solidFill>
                <a:latin typeface="Georgia" panose="02040502050405020303"/>
                <a:ea typeface="Georgia" panose="02040502050405020303"/>
                <a:cs typeface="Georgia" panose="02040502050405020303"/>
                <a:sym typeface="Georgia" panose="02040502050405020303"/>
              </a:defRPr>
            </a:lvl1pPr>
          </a:lstStyle>
          <a:p>
            <a:pPr algn="l"/>
            <a:r>
              <a:t>Smart Cat Litter</a:t>
            </a:r>
          </a:p>
        </p:txBody>
      </p:sp>
      <p:sp>
        <p:nvSpPr>
          <p:cNvPr id="24" name="Text 4"/>
          <p:cNvSpPr txBox="1"/>
          <p:nvPr/>
        </p:nvSpPr>
        <p:spPr>
          <a:xfrm>
            <a:off x="1188720" y="2922905"/>
            <a:ext cx="6637020" cy="830580"/>
          </a:xfrm>
          <a:prstGeom prst="rect">
            <a:avLst/>
          </a:prstGeom>
          <a:ln w="12700">
            <a:miter lim="400000"/>
          </a:ln>
        </p:spPr>
        <p:txBody>
          <a:bodyPr wrap="square" lIns="0" tIns="0" rIns="0" bIns="0" anchor="ctr">
            <a:spAutoFit/>
          </a:bodyPr>
          <a:lstStyle>
            <a:lvl1pPr algn="ctr">
              <a:defRPr sz="5400" b="1" i="1">
                <a:solidFill>
                  <a:srgbClr val="7C6BB5"/>
                </a:solidFill>
                <a:latin typeface="Georgia" panose="02040502050405020303"/>
                <a:ea typeface="Georgia" panose="02040502050405020303"/>
                <a:cs typeface="Georgia" panose="02040502050405020303"/>
                <a:sym typeface="Georgia" panose="02040502050405020303"/>
              </a:defRPr>
            </a:lvl1pPr>
          </a:lstStyle>
          <a:p>
            <a:pPr algn="l"/>
            <a:r>
              <a:t>Box Monitor</a:t>
            </a:r>
          </a:p>
        </p:txBody>
      </p:sp>
      <p:sp>
        <p:nvSpPr>
          <p:cNvPr id="25" name="Shape 5"/>
          <p:cNvSpPr/>
          <p:nvPr/>
        </p:nvSpPr>
        <p:spPr>
          <a:xfrm>
            <a:off x="5532120" y="4343400"/>
            <a:ext cx="1097282" cy="0"/>
          </a:xfrm>
          <a:prstGeom prst="line">
            <a:avLst/>
          </a:prstGeom>
          <a:ln w="12700">
            <a:solidFill>
              <a:srgbClr val="B5ADCF"/>
            </a:solidFill>
          </a:ln>
        </p:spPr>
        <p:txBody>
          <a:bodyPr lIns="45718" tIns="45718" rIns="45718" bIns="45718"/>
          <a:lstStyle/>
          <a:p/>
        </p:txBody>
      </p:sp>
      <p:sp>
        <p:nvSpPr>
          <p:cNvPr id="26" name="Text 6"/>
          <p:cNvSpPr txBox="1"/>
          <p:nvPr/>
        </p:nvSpPr>
        <p:spPr>
          <a:xfrm>
            <a:off x="548638" y="4627441"/>
            <a:ext cx="11064244" cy="209155"/>
          </a:xfrm>
          <a:prstGeom prst="rect">
            <a:avLst/>
          </a:prstGeom>
          <a:ln w="12700">
            <a:miter lim="400000"/>
          </a:ln>
        </p:spPr>
        <p:txBody>
          <a:bodyPr lIns="0" tIns="0" rIns="0" bIns="0" anchor="ctr">
            <a:spAutoFit/>
          </a:bodyPr>
          <a:lstStyle>
            <a:lvl1pPr algn="ctr">
              <a:defRPr sz="1600" i="1">
                <a:solidFill>
                  <a:srgbClr val="7A7490"/>
                </a:solidFill>
              </a:defRPr>
            </a:lvl1pPr>
          </a:lstStyle>
          <a:p>
            <a:r>
              <a:t>Passive health tracking for cats through visit, weight, and pattern monitoring.</a:t>
            </a:r>
          </a:p>
        </p:txBody>
      </p:sp>
      <p:sp>
        <p:nvSpPr>
          <p:cNvPr id="27" name="Shape 7"/>
          <p:cNvSpPr/>
          <p:nvPr/>
        </p:nvSpPr>
        <p:spPr>
          <a:xfrm>
            <a:off x="1188719" y="5212079"/>
            <a:ext cx="9784082" cy="1"/>
          </a:xfrm>
          <a:prstGeom prst="line">
            <a:avLst/>
          </a:prstGeom>
          <a:ln>
            <a:solidFill>
              <a:srgbClr val="E4DFF0"/>
            </a:solidFill>
          </a:ln>
        </p:spPr>
        <p:txBody>
          <a:bodyPr lIns="45718" tIns="45718" rIns="45718" bIns="45718"/>
          <a:lstStyle/>
          <a:p/>
        </p:txBody>
      </p:sp>
      <p:sp>
        <p:nvSpPr>
          <p:cNvPr id="28" name="Text 8"/>
          <p:cNvSpPr txBox="1"/>
          <p:nvPr/>
        </p:nvSpPr>
        <p:spPr>
          <a:xfrm>
            <a:off x="1188718" y="5468618"/>
            <a:ext cx="3657603" cy="127001"/>
          </a:xfrm>
          <a:prstGeom prst="rect">
            <a:avLst/>
          </a:prstGeom>
          <a:ln w="12700">
            <a:miter lim="400000"/>
          </a:ln>
        </p:spPr>
        <p:txBody>
          <a:bodyPr lIns="0" tIns="0" rIns="0" bIns="0" anchor="ctr">
            <a:spAutoFit/>
          </a:bodyPr>
          <a:lstStyle>
            <a:lvl1pPr>
              <a:defRPr sz="900" b="1" spc="200">
                <a:solidFill>
                  <a:srgbClr val="7C6BB5"/>
                </a:solidFill>
              </a:defRPr>
            </a:lvl1pPr>
          </a:lstStyle>
          <a:p>
            <a:r>
              <a:t>TEAM</a:t>
            </a:r>
          </a:p>
        </p:txBody>
      </p:sp>
      <p:sp>
        <p:nvSpPr>
          <p:cNvPr id="29" name="Text 9"/>
          <p:cNvSpPr txBox="1"/>
          <p:nvPr/>
        </p:nvSpPr>
        <p:spPr>
          <a:xfrm>
            <a:off x="1188719" y="5758880"/>
            <a:ext cx="4389123" cy="186558"/>
          </a:xfrm>
          <a:prstGeom prst="rect">
            <a:avLst/>
          </a:prstGeom>
          <a:ln w="12700">
            <a:miter lim="400000"/>
          </a:ln>
        </p:spPr>
        <p:txBody>
          <a:bodyPr lIns="0" tIns="0" rIns="0" bIns="0" anchor="ctr">
            <a:spAutoFit/>
          </a:bodyPr>
          <a:lstStyle>
            <a:lvl1pPr>
              <a:defRPr sz="1500">
                <a:solidFill>
                  <a:srgbClr val="2A2440"/>
                </a:solidFill>
              </a:defRPr>
            </a:lvl1pPr>
          </a:lstStyle>
          <a:p>
            <a:r>
              <a:t>Mengqi Shi    Yuna Xiong    Xin Luo</a:t>
            </a:r>
          </a:p>
        </p:txBody>
      </p:sp>
      <p:sp>
        <p:nvSpPr>
          <p:cNvPr id="30" name="Text 10"/>
          <p:cNvSpPr txBox="1"/>
          <p:nvPr/>
        </p:nvSpPr>
        <p:spPr>
          <a:xfrm>
            <a:off x="5943600" y="5468618"/>
            <a:ext cx="3657600" cy="127001"/>
          </a:xfrm>
          <a:prstGeom prst="rect">
            <a:avLst/>
          </a:prstGeom>
          <a:ln w="12700">
            <a:miter lim="400000"/>
          </a:ln>
        </p:spPr>
        <p:txBody>
          <a:bodyPr lIns="0" tIns="0" rIns="0" bIns="0" anchor="ctr">
            <a:spAutoFit/>
          </a:bodyPr>
          <a:lstStyle>
            <a:lvl1pPr>
              <a:defRPr sz="900" b="1" spc="200">
                <a:solidFill>
                  <a:srgbClr val="7C6BB5"/>
                </a:solidFill>
              </a:defRPr>
            </a:lvl1pPr>
          </a:lstStyle>
          <a:p>
            <a:r>
              <a:t>TEAM</a:t>
            </a:r>
          </a:p>
        </p:txBody>
      </p:sp>
      <p:sp>
        <p:nvSpPr>
          <p:cNvPr id="31" name="Text 11"/>
          <p:cNvSpPr txBox="1"/>
          <p:nvPr/>
        </p:nvSpPr>
        <p:spPr>
          <a:xfrm>
            <a:off x="5943600" y="5758880"/>
            <a:ext cx="4389121" cy="186558"/>
          </a:xfrm>
          <a:prstGeom prst="rect">
            <a:avLst/>
          </a:prstGeom>
          <a:ln w="12700">
            <a:miter lim="400000"/>
          </a:ln>
        </p:spPr>
        <p:txBody>
          <a:bodyPr lIns="0" tIns="0" rIns="0" bIns="0" anchor="ctr">
            <a:spAutoFit/>
          </a:bodyPr>
          <a:lstStyle>
            <a:lvl1pPr>
              <a:defRPr sz="1500">
                <a:solidFill>
                  <a:srgbClr val="2A2440"/>
                </a:solidFill>
              </a:defRPr>
            </a:lvl1pPr>
          </a:lstStyle>
          <a:p>
            <a:r>
              <a:t>Team SmartLitterBox</a:t>
            </a:r>
          </a:p>
        </p:txBody>
      </p:sp>
      <p:sp>
        <p:nvSpPr>
          <p:cNvPr id="32" name="Text 12"/>
          <p:cNvSpPr txBox="1"/>
          <p:nvPr/>
        </p:nvSpPr>
        <p:spPr>
          <a:xfrm>
            <a:off x="8503918" y="5468618"/>
            <a:ext cx="3657603" cy="127001"/>
          </a:xfrm>
          <a:prstGeom prst="rect">
            <a:avLst/>
          </a:prstGeom>
          <a:ln w="12700">
            <a:miter lim="400000"/>
          </a:ln>
        </p:spPr>
        <p:txBody>
          <a:bodyPr lIns="0" tIns="0" rIns="0" bIns="0" anchor="ctr">
            <a:spAutoFit/>
          </a:bodyPr>
          <a:lstStyle>
            <a:lvl1pPr>
              <a:defRPr sz="900" b="1" spc="200">
                <a:solidFill>
                  <a:srgbClr val="7C6BB5"/>
                </a:solidFill>
              </a:defRPr>
            </a:lvl1pPr>
          </a:lstStyle>
          <a:p>
            <a:r>
              <a:t>GITHUB</a:t>
            </a:r>
          </a:p>
        </p:txBody>
      </p:sp>
      <p:sp>
        <p:nvSpPr>
          <p:cNvPr id="33" name="Text 13"/>
          <p:cNvSpPr txBox="1"/>
          <p:nvPr/>
        </p:nvSpPr>
        <p:spPr>
          <a:xfrm>
            <a:off x="8503918" y="5758880"/>
            <a:ext cx="4389122" cy="186558"/>
          </a:xfrm>
          <a:prstGeom prst="rect">
            <a:avLst/>
          </a:prstGeom>
          <a:ln w="12700">
            <a:miter lim="400000"/>
          </a:ln>
        </p:spPr>
        <p:txBody>
          <a:bodyPr lIns="0" tIns="0" rIns="0" bIns="0" anchor="ctr">
            <a:spAutoFit/>
          </a:bodyPr>
          <a:lstStyle>
            <a:lvl1pPr>
              <a:defRPr sz="1500">
                <a:solidFill>
                  <a:srgbClr val="2A2440"/>
                </a:solidFill>
              </a:defRPr>
            </a:lvl1pPr>
          </a:lstStyle>
          <a:p>
            <a:r>
              <a:t>[github.com/your repo link]</a:t>
            </a:r>
          </a:p>
        </p:txBody>
      </p:sp>
      <p:sp>
        <p:nvSpPr>
          <p:cNvPr id="34" name="Shape 14"/>
          <p:cNvSpPr/>
          <p:nvPr/>
        </p:nvSpPr>
        <p:spPr>
          <a:xfrm>
            <a:off x="548638" y="6446520"/>
            <a:ext cx="11064244" cy="1"/>
          </a:xfrm>
          <a:prstGeom prst="line">
            <a:avLst/>
          </a:prstGeom>
          <a:ln>
            <a:solidFill>
              <a:srgbClr val="E4DFF0"/>
            </a:solidFill>
          </a:ln>
        </p:spPr>
        <p:txBody>
          <a:bodyPr lIns="45718" tIns="45718" rIns="45718" bIns="45718"/>
          <a:lstStyle/>
          <a:p/>
        </p:txBody>
      </p:sp>
      <p:sp>
        <p:nvSpPr>
          <p:cNvPr id="35" name="Text 15"/>
          <p:cNvSpPr txBox="1"/>
          <p:nvPr/>
        </p:nvSpPr>
        <p:spPr>
          <a:xfrm>
            <a:off x="548640" y="6560864"/>
            <a:ext cx="7315201" cy="137071"/>
          </a:xfrm>
          <a:prstGeom prst="rect">
            <a:avLst/>
          </a:prstGeom>
          <a:ln w="12700">
            <a:miter lim="400000"/>
          </a:ln>
        </p:spPr>
        <p:txBody>
          <a:bodyPr lIns="0" tIns="0" rIns="0" bIns="0" anchor="ctr">
            <a:spAutoFit/>
          </a:bodyPr>
          <a:lstStyle>
            <a:lvl1pPr>
              <a:defRPr sz="1000">
                <a:solidFill>
                  <a:srgbClr val="7A7490"/>
                </a:solidFill>
              </a:defRPr>
            </a:lvl1pPr>
          </a:lstStyle>
          <a:p>
            <a:r>
              <a:t>Smart Cat Litter Box Monitor   |   Milestone 1</a:t>
            </a:r>
          </a:p>
        </p:txBody>
      </p:sp>
      <p:sp>
        <p:nvSpPr>
          <p:cNvPr id="36" name="Text 16"/>
          <p:cNvSpPr txBox="1"/>
          <p:nvPr/>
        </p:nvSpPr>
        <p:spPr>
          <a:xfrm>
            <a:off x="10698480" y="6560864"/>
            <a:ext cx="914402" cy="137071"/>
          </a:xfrm>
          <a:prstGeom prst="rect">
            <a:avLst/>
          </a:prstGeom>
          <a:ln w="12700">
            <a:miter lim="400000"/>
          </a:ln>
        </p:spPr>
        <p:txBody>
          <a:bodyPr lIns="0" tIns="0" rIns="0" bIns="0" anchor="ctr">
            <a:spAutoFit/>
          </a:bodyPr>
          <a:lstStyle>
            <a:lvl1pPr algn="r">
              <a:defRPr sz="1000">
                <a:solidFill>
                  <a:srgbClr val="7A7490"/>
                </a:solidFill>
              </a:defRPr>
            </a:lvl1pPr>
          </a:lstStyle>
          <a:p>
            <a:r>
              <a:t>1 / 6</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38" name="Shape 0"/>
          <p:cNvSpPr/>
          <p:nvPr/>
        </p:nvSpPr>
        <p:spPr>
          <a:xfrm>
            <a:off x="548640" y="530351"/>
            <a:ext cx="146306" cy="146306"/>
          </a:xfrm>
          <a:prstGeom prst="rect">
            <a:avLst/>
          </a:prstGeom>
          <a:solidFill>
            <a:srgbClr val="7C6BB5"/>
          </a:solidFill>
          <a:ln w="12700">
            <a:solidFill>
              <a:srgbClr val="7C6BB5"/>
            </a:solidFill>
          </a:ln>
        </p:spPr>
        <p:txBody>
          <a:bodyPr lIns="45718" tIns="45718" rIns="45718" bIns="45718"/>
          <a:lstStyle/>
          <a:p/>
        </p:txBody>
      </p:sp>
      <p:sp>
        <p:nvSpPr>
          <p:cNvPr id="39" name="Text 1"/>
          <p:cNvSpPr txBox="1"/>
          <p:nvPr/>
        </p:nvSpPr>
        <p:spPr>
          <a:xfrm>
            <a:off x="777239" y="534967"/>
            <a:ext cx="5486403" cy="137072"/>
          </a:xfrm>
          <a:prstGeom prst="rect">
            <a:avLst/>
          </a:prstGeom>
          <a:ln w="12700">
            <a:miter lim="400000"/>
          </a:ln>
        </p:spPr>
        <p:txBody>
          <a:bodyPr lIns="0" tIns="0" rIns="0" bIns="0" anchor="ctr">
            <a:spAutoFit/>
          </a:bodyPr>
          <a:lstStyle>
            <a:lvl1pPr>
              <a:defRPr sz="1000" b="1" spc="250">
                <a:solidFill>
                  <a:srgbClr val="7C6BB5"/>
                </a:solidFill>
              </a:defRPr>
            </a:lvl1pPr>
          </a:lstStyle>
          <a:p>
            <a:r>
              <a:t>01  PROBLEM</a:t>
            </a:r>
          </a:p>
        </p:txBody>
      </p:sp>
      <p:sp>
        <p:nvSpPr>
          <p:cNvPr id="40" name="Text 2"/>
          <p:cNvSpPr txBox="1"/>
          <p:nvPr/>
        </p:nvSpPr>
        <p:spPr>
          <a:xfrm>
            <a:off x="548638" y="989329"/>
            <a:ext cx="11064244" cy="444501"/>
          </a:xfrm>
          <a:prstGeom prst="rect">
            <a:avLst/>
          </a:prstGeom>
          <a:ln w="12700">
            <a:miter lim="400000"/>
          </a:ln>
        </p:spPr>
        <p:txBody>
          <a:bodyPr lIns="0" tIns="0" rIns="0" bIns="0" anchor="ctr">
            <a:spAutoFit/>
          </a:bodyPr>
          <a:lstStyle>
            <a:lvl1pPr>
              <a:defRPr sz="3000" b="1">
                <a:solidFill>
                  <a:srgbClr val="2A2440"/>
                </a:solidFill>
                <a:latin typeface="Georgia" panose="02040502050405020303"/>
                <a:ea typeface="Georgia" panose="02040502050405020303"/>
                <a:cs typeface="Georgia" panose="02040502050405020303"/>
                <a:sym typeface="Georgia" panose="02040502050405020303"/>
              </a:defRPr>
            </a:lvl1pPr>
          </a:lstStyle>
          <a:p>
            <a:r>
              <a:t>The Problem &amp; Who It Affects</a:t>
            </a:r>
          </a:p>
        </p:txBody>
      </p:sp>
      <p:sp>
        <p:nvSpPr>
          <p:cNvPr id="41" name="Shape 3"/>
          <p:cNvSpPr/>
          <p:nvPr/>
        </p:nvSpPr>
        <p:spPr>
          <a:xfrm flipH="1">
            <a:off x="6035040" y="2103120"/>
            <a:ext cx="1" cy="4023360"/>
          </a:xfrm>
          <a:prstGeom prst="line">
            <a:avLst/>
          </a:prstGeom>
          <a:ln>
            <a:solidFill>
              <a:srgbClr val="E4DFF0"/>
            </a:solidFill>
          </a:ln>
        </p:spPr>
        <p:txBody>
          <a:bodyPr lIns="45718" tIns="45718" rIns="45718" bIns="45718"/>
          <a:lstStyle/>
          <a:p/>
        </p:txBody>
      </p:sp>
      <p:sp>
        <p:nvSpPr>
          <p:cNvPr id="42" name="Text 4"/>
          <p:cNvSpPr txBox="1"/>
          <p:nvPr/>
        </p:nvSpPr>
        <p:spPr>
          <a:xfrm>
            <a:off x="548639" y="2103164"/>
            <a:ext cx="4572003" cy="137071"/>
          </a:xfrm>
          <a:prstGeom prst="rect">
            <a:avLst/>
          </a:prstGeom>
          <a:ln w="12700">
            <a:miter lim="400000"/>
          </a:ln>
        </p:spPr>
        <p:txBody>
          <a:bodyPr lIns="0" tIns="0" rIns="0" bIns="0" anchor="ctr">
            <a:spAutoFit/>
          </a:bodyPr>
          <a:lstStyle>
            <a:lvl1pPr>
              <a:defRPr sz="1000" b="1" spc="200">
                <a:solidFill>
                  <a:srgbClr val="7C6BB5"/>
                </a:solidFill>
              </a:defRPr>
            </a:lvl1pPr>
          </a:lstStyle>
          <a:p>
            <a:r>
              <a:t>THE PROBLEM</a:t>
            </a:r>
          </a:p>
        </p:txBody>
      </p:sp>
      <p:sp>
        <p:nvSpPr>
          <p:cNvPr id="43" name="Text 5"/>
          <p:cNvSpPr txBox="1"/>
          <p:nvPr/>
        </p:nvSpPr>
        <p:spPr>
          <a:xfrm>
            <a:off x="548638" y="2404110"/>
            <a:ext cx="5303524" cy="952501"/>
          </a:xfrm>
          <a:prstGeom prst="rect">
            <a:avLst/>
          </a:prstGeom>
          <a:ln w="12700">
            <a:miter lim="400000"/>
          </a:ln>
        </p:spPr>
        <p:txBody>
          <a:bodyPr lIns="0" tIns="0" rIns="0" bIns="0" anchor="ctr">
            <a:spAutoFit/>
          </a:bodyPr>
          <a:lstStyle>
            <a:lvl1pPr>
              <a:defRPr sz="2200" i="1">
                <a:solidFill>
                  <a:srgbClr val="2A2440"/>
                </a:solidFill>
                <a:latin typeface="Georgia" panose="02040502050405020303"/>
                <a:ea typeface="Georgia" panose="02040502050405020303"/>
                <a:cs typeface="Georgia" panose="02040502050405020303"/>
                <a:sym typeface="Georgia" panose="02040502050405020303"/>
              </a:defRPr>
            </a:lvl1pPr>
          </a:lstStyle>
          <a:p>
            <a:r>
              <a:t>Cat owners have no easy way to detect early signs of health issues from litter box behavior.</a:t>
            </a:r>
          </a:p>
        </p:txBody>
      </p:sp>
      <p:sp>
        <p:nvSpPr>
          <p:cNvPr id="44" name="Text 6"/>
          <p:cNvSpPr txBox="1"/>
          <p:nvPr/>
        </p:nvSpPr>
        <p:spPr>
          <a:xfrm>
            <a:off x="548638" y="4387280"/>
            <a:ext cx="5303524" cy="1100958"/>
          </a:xfrm>
          <a:prstGeom prst="rect">
            <a:avLst/>
          </a:prstGeom>
          <a:ln w="12700">
            <a:miter lim="400000"/>
          </a:ln>
        </p:spPr>
        <p:txBody>
          <a:bodyPr lIns="0" tIns="0" rIns="0" bIns="0" anchor="ctr">
            <a:spAutoFit/>
          </a:bodyPr>
          <a:lstStyle>
            <a:lvl1pPr>
              <a:defRPr sz="1500">
                <a:solidFill>
                  <a:srgbClr val="7A7490"/>
                </a:solidFill>
              </a:defRPr>
            </a:lvl1pPr>
          </a:lstStyle>
          <a:p>
            <a:r>
              <a:t>Cats often hide symptoms of illness such as urinary blockages or weight loss. Subtle changes in litter box visit frequency, duration, and body weight are hard to notice without consistent tracking. By the time owners spot a problem, the condition may already be serious.</a:t>
            </a:r>
          </a:p>
        </p:txBody>
      </p:sp>
      <p:sp>
        <p:nvSpPr>
          <p:cNvPr id="45" name="Text 7"/>
          <p:cNvSpPr txBox="1"/>
          <p:nvPr/>
        </p:nvSpPr>
        <p:spPr>
          <a:xfrm>
            <a:off x="6309359" y="2103164"/>
            <a:ext cx="4572002" cy="137071"/>
          </a:xfrm>
          <a:prstGeom prst="rect">
            <a:avLst/>
          </a:prstGeom>
          <a:ln w="12700">
            <a:miter lim="400000"/>
          </a:ln>
        </p:spPr>
        <p:txBody>
          <a:bodyPr lIns="0" tIns="0" rIns="0" bIns="0" anchor="ctr">
            <a:spAutoFit/>
          </a:bodyPr>
          <a:lstStyle>
            <a:lvl1pPr>
              <a:defRPr sz="1000" b="1" spc="200">
                <a:solidFill>
                  <a:srgbClr val="7C6BB5"/>
                </a:solidFill>
              </a:defRPr>
            </a:lvl1pPr>
          </a:lstStyle>
          <a:p>
            <a:r>
              <a:t>BY THE NUMBERS</a:t>
            </a:r>
          </a:p>
        </p:txBody>
      </p:sp>
      <p:sp>
        <p:nvSpPr>
          <p:cNvPr id="46" name="Text 8"/>
          <p:cNvSpPr txBox="1"/>
          <p:nvPr/>
        </p:nvSpPr>
        <p:spPr>
          <a:xfrm>
            <a:off x="6309359" y="2484120"/>
            <a:ext cx="5303522" cy="609601"/>
          </a:xfrm>
          <a:prstGeom prst="rect">
            <a:avLst/>
          </a:prstGeom>
          <a:ln w="12700">
            <a:miter lim="400000"/>
          </a:ln>
        </p:spPr>
        <p:txBody>
          <a:bodyPr lIns="0" tIns="0" rIns="0" bIns="0" anchor="ctr">
            <a:spAutoFit/>
          </a:bodyPr>
          <a:lstStyle>
            <a:lvl1pPr>
              <a:defRPr sz="4200" b="1">
                <a:solidFill>
                  <a:srgbClr val="5B4A94"/>
                </a:solidFill>
                <a:latin typeface="Georgia" panose="02040502050405020303"/>
                <a:ea typeface="Georgia" panose="02040502050405020303"/>
                <a:cs typeface="Georgia" panose="02040502050405020303"/>
                <a:sym typeface="Georgia" panose="02040502050405020303"/>
              </a:defRPr>
            </a:lvl1pPr>
          </a:lstStyle>
          <a:p>
            <a:r>
              <a:t>64.5%</a:t>
            </a:r>
          </a:p>
        </p:txBody>
      </p:sp>
      <p:sp>
        <p:nvSpPr>
          <p:cNvPr id="47" name="Text 9"/>
          <p:cNvSpPr txBox="1"/>
          <p:nvPr/>
        </p:nvSpPr>
        <p:spPr>
          <a:xfrm>
            <a:off x="6309359" y="3472618"/>
            <a:ext cx="5303522" cy="369963"/>
          </a:xfrm>
          <a:prstGeom prst="rect">
            <a:avLst/>
          </a:prstGeom>
          <a:ln w="12700">
            <a:miter lim="400000"/>
          </a:ln>
        </p:spPr>
        <p:txBody>
          <a:bodyPr lIns="0" tIns="0" rIns="0" bIns="0" anchor="ctr">
            <a:spAutoFit/>
          </a:bodyPr>
          <a:lstStyle>
            <a:lvl1pPr>
              <a:defRPr sz="1300" i="1">
                <a:solidFill>
                  <a:srgbClr val="7A7490"/>
                </a:solidFill>
              </a:defRPr>
            </a:lvl1pPr>
          </a:lstStyle>
          <a:p>
            <a:r>
              <a:t>of cats with urinary tract issues show no obvious symptoms until the condition becomes serious</a:t>
            </a:r>
          </a:p>
        </p:txBody>
      </p:sp>
      <p:sp>
        <p:nvSpPr>
          <p:cNvPr id="48" name="Shape 10"/>
          <p:cNvSpPr/>
          <p:nvPr/>
        </p:nvSpPr>
        <p:spPr>
          <a:xfrm>
            <a:off x="6309359" y="4160520"/>
            <a:ext cx="5303522" cy="1"/>
          </a:xfrm>
          <a:prstGeom prst="line">
            <a:avLst/>
          </a:prstGeom>
          <a:ln>
            <a:solidFill>
              <a:srgbClr val="E4DFF0"/>
            </a:solidFill>
          </a:ln>
        </p:spPr>
        <p:txBody>
          <a:bodyPr lIns="45718" tIns="45718" rIns="45718" bIns="45718"/>
          <a:lstStyle/>
          <a:p/>
        </p:txBody>
      </p:sp>
      <p:sp>
        <p:nvSpPr>
          <p:cNvPr id="49" name="Text 11"/>
          <p:cNvSpPr txBox="1"/>
          <p:nvPr/>
        </p:nvSpPr>
        <p:spPr>
          <a:xfrm>
            <a:off x="6309359" y="4389164"/>
            <a:ext cx="4572002" cy="137071"/>
          </a:xfrm>
          <a:prstGeom prst="rect">
            <a:avLst/>
          </a:prstGeom>
          <a:ln w="12700">
            <a:miter lim="400000"/>
          </a:ln>
        </p:spPr>
        <p:txBody>
          <a:bodyPr lIns="0" tIns="0" rIns="0" bIns="0" anchor="ctr">
            <a:spAutoFit/>
          </a:bodyPr>
          <a:lstStyle>
            <a:lvl1pPr>
              <a:defRPr sz="1000" b="1" spc="200">
                <a:solidFill>
                  <a:srgbClr val="7C6BB5"/>
                </a:solidFill>
              </a:defRPr>
            </a:lvl1pPr>
          </a:lstStyle>
          <a:p>
            <a:r>
              <a:t>INTENDED USER GROUP</a:t>
            </a:r>
          </a:p>
        </p:txBody>
      </p:sp>
      <p:sp>
        <p:nvSpPr>
          <p:cNvPr id="50" name="Text 12"/>
          <p:cNvSpPr txBox="1"/>
          <p:nvPr/>
        </p:nvSpPr>
        <p:spPr>
          <a:xfrm>
            <a:off x="6309359" y="5164521"/>
            <a:ext cx="5303522" cy="643757"/>
          </a:xfrm>
          <a:prstGeom prst="rect">
            <a:avLst/>
          </a:prstGeom>
          <a:ln w="12700">
            <a:miter lim="400000"/>
          </a:ln>
        </p:spPr>
        <p:txBody>
          <a:bodyPr lIns="0" tIns="0" rIns="0" bIns="0" anchor="ctr">
            <a:spAutoFit/>
          </a:bodyPr>
          <a:lstStyle>
            <a:lvl1pPr>
              <a:defRPr sz="1500">
                <a:solidFill>
                  <a:srgbClr val="2A2440"/>
                </a:solidFill>
              </a:defRPr>
            </a:lvl1pPr>
          </a:lstStyle>
          <a:p>
            <a:r>
              <a:t>Cat owners who want passive, automatic monitoring of their cat's health through litter box usage patterns, without relying on manual observation or frequent vet visits.</a:t>
            </a:r>
          </a:p>
        </p:txBody>
      </p:sp>
      <p:sp>
        <p:nvSpPr>
          <p:cNvPr id="51" name="Shape 13"/>
          <p:cNvSpPr/>
          <p:nvPr/>
        </p:nvSpPr>
        <p:spPr>
          <a:xfrm>
            <a:off x="548638" y="6446520"/>
            <a:ext cx="11064244" cy="1"/>
          </a:xfrm>
          <a:prstGeom prst="line">
            <a:avLst/>
          </a:prstGeom>
          <a:ln>
            <a:solidFill>
              <a:srgbClr val="E4DFF0"/>
            </a:solidFill>
          </a:ln>
        </p:spPr>
        <p:txBody>
          <a:bodyPr lIns="45718" tIns="45718" rIns="45718" bIns="45718"/>
          <a:lstStyle/>
          <a:p/>
        </p:txBody>
      </p:sp>
      <p:sp>
        <p:nvSpPr>
          <p:cNvPr id="52" name="Text 14"/>
          <p:cNvSpPr txBox="1"/>
          <p:nvPr/>
        </p:nvSpPr>
        <p:spPr>
          <a:xfrm>
            <a:off x="548640" y="6560864"/>
            <a:ext cx="7315201" cy="137071"/>
          </a:xfrm>
          <a:prstGeom prst="rect">
            <a:avLst/>
          </a:prstGeom>
          <a:ln w="12700">
            <a:miter lim="400000"/>
          </a:ln>
        </p:spPr>
        <p:txBody>
          <a:bodyPr lIns="0" tIns="0" rIns="0" bIns="0" anchor="ctr">
            <a:spAutoFit/>
          </a:bodyPr>
          <a:lstStyle>
            <a:lvl1pPr>
              <a:defRPr sz="1000">
                <a:solidFill>
                  <a:srgbClr val="7A7490"/>
                </a:solidFill>
              </a:defRPr>
            </a:lvl1pPr>
          </a:lstStyle>
          <a:p>
            <a:r>
              <a:t>Smart Cat Litter Box Monitor   |   Milestone 1</a:t>
            </a:r>
          </a:p>
        </p:txBody>
      </p:sp>
      <p:sp>
        <p:nvSpPr>
          <p:cNvPr id="53" name="Text 15"/>
          <p:cNvSpPr txBox="1"/>
          <p:nvPr/>
        </p:nvSpPr>
        <p:spPr>
          <a:xfrm>
            <a:off x="10698480" y="6560864"/>
            <a:ext cx="914402" cy="137071"/>
          </a:xfrm>
          <a:prstGeom prst="rect">
            <a:avLst/>
          </a:prstGeom>
          <a:ln w="12700">
            <a:miter lim="400000"/>
          </a:ln>
        </p:spPr>
        <p:txBody>
          <a:bodyPr lIns="0" tIns="0" rIns="0" bIns="0" anchor="ctr">
            <a:spAutoFit/>
          </a:bodyPr>
          <a:lstStyle>
            <a:lvl1pPr algn="r">
              <a:defRPr sz="1000">
                <a:solidFill>
                  <a:srgbClr val="7A7490"/>
                </a:solidFill>
              </a:defRPr>
            </a:lvl1pPr>
          </a:lstStyle>
          <a:p>
            <a:r>
              <a:t>2 / 6</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55" name="Shape 0"/>
          <p:cNvSpPr/>
          <p:nvPr/>
        </p:nvSpPr>
        <p:spPr>
          <a:xfrm>
            <a:off x="548640" y="530351"/>
            <a:ext cx="146306" cy="146306"/>
          </a:xfrm>
          <a:prstGeom prst="rect">
            <a:avLst/>
          </a:prstGeom>
          <a:solidFill>
            <a:srgbClr val="7C6BB5"/>
          </a:solidFill>
          <a:ln w="12700">
            <a:solidFill>
              <a:srgbClr val="7C6BB5"/>
            </a:solidFill>
          </a:ln>
        </p:spPr>
        <p:txBody>
          <a:bodyPr lIns="45718" tIns="45718" rIns="45718" bIns="45718"/>
          <a:lstStyle/>
          <a:p/>
        </p:txBody>
      </p:sp>
      <p:sp>
        <p:nvSpPr>
          <p:cNvPr id="56" name="Text 1"/>
          <p:cNvSpPr txBox="1"/>
          <p:nvPr/>
        </p:nvSpPr>
        <p:spPr>
          <a:xfrm>
            <a:off x="777239" y="534967"/>
            <a:ext cx="5486403" cy="137072"/>
          </a:xfrm>
          <a:prstGeom prst="rect">
            <a:avLst/>
          </a:prstGeom>
          <a:ln w="12700">
            <a:miter lim="400000"/>
          </a:ln>
        </p:spPr>
        <p:txBody>
          <a:bodyPr lIns="0" tIns="0" rIns="0" bIns="0" anchor="ctr">
            <a:spAutoFit/>
          </a:bodyPr>
          <a:lstStyle>
            <a:lvl1pPr>
              <a:defRPr sz="1000" b="1" spc="250">
                <a:solidFill>
                  <a:srgbClr val="7C6BB5"/>
                </a:solidFill>
              </a:defRPr>
            </a:lvl1pPr>
          </a:lstStyle>
          <a:p>
            <a:r>
              <a:t>02  SOLUTION</a:t>
            </a:r>
          </a:p>
        </p:txBody>
      </p:sp>
      <p:sp>
        <p:nvSpPr>
          <p:cNvPr id="57" name="Text 2"/>
          <p:cNvSpPr txBox="1"/>
          <p:nvPr/>
        </p:nvSpPr>
        <p:spPr>
          <a:xfrm>
            <a:off x="548638" y="989329"/>
            <a:ext cx="11064244" cy="444501"/>
          </a:xfrm>
          <a:prstGeom prst="rect">
            <a:avLst/>
          </a:prstGeom>
          <a:ln w="12700">
            <a:miter lim="400000"/>
          </a:ln>
        </p:spPr>
        <p:txBody>
          <a:bodyPr lIns="0" tIns="0" rIns="0" bIns="0" anchor="ctr">
            <a:spAutoFit/>
          </a:bodyPr>
          <a:lstStyle>
            <a:lvl1pPr>
              <a:defRPr sz="3000" b="1">
                <a:solidFill>
                  <a:srgbClr val="2A2440"/>
                </a:solidFill>
                <a:latin typeface="Georgia" panose="02040502050405020303"/>
                <a:ea typeface="Georgia" panose="02040502050405020303"/>
                <a:cs typeface="Georgia" panose="02040502050405020303"/>
                <a:sym typeface="Georgia" panose="02040502050405020303"/>
              </a:defRPr>
            </a:lvl1pPr>
          </a:lstStyle>
          <a:p>
            <a:r>
              <a:t>Our Solution &amp; Key Features</a:t>
            </a:r>
          </a:p>
        </p:txBody>
      </p:sp>
      <p:sp>
        <p:nvSpPr>
          <p:cNvPr id="58" name="Text 3"/>
          <p:cNvSpPr txBox="1"/>
          <p:nvPr/>
        </p:nvSpPr>
        <p:spPr>
          <a:xfrm>
            <a:off x="548639" y="2011723"/>
            <a:ext cx="4572003" cy="137072"/>
          </a:xfrm>
          <a:prstGeom prst="rect">
            <a:avLst/>
          </a:prstGeom>
          <a:ln w="12700">
            <a:miter lim="400000"/>
          </a:ln>
        </p:spPr>
        <p:txBody>
          <a:bodyPr lIns="0" tIns="0" rIns="0" bIns="0" anchor="ctr">
            <a:spAutoFit/>
          </a:bodyPr>
          <a:lstStyle>
            <a:lvl1pPr>
              <a:defRPr sz="1000" b="1" spc="200">
                <a:solidFill>
                  <a:srgbClr val="7C6BB5"/>
                </a:solidFill>
              </a:defRPr>
            </a:lvl1pPr>
          </a:lstStyle>
          <a:p>
            <a:r>
              <a:t>IN ONE SENTENCE</a:t>
            </a:r>
          </a:p>
        </p:txBody>
      </p:sp>
      <p:sp>
        <p:nvSpPr>
          <p:cNvPr id="59" name="Text 4"/>
          <p:cNvSpPr txBox="1"/>
          <p:nvPr/>
        </p:nvSpPr>
        <p:spPr>
          <a:xfrm>
            <a:off x="548640" y="2725419"/>
            <a:ext cx="4480560" cy="1955801"/>
          </a:xfrm>
          <a:prstGeom prst="rect">
            <a:avLst/>
          </a:prstGeom>
          <a:ln w="12700">
            <a:miter lim="400000"/>
          </a:ln>
        </p:spPr>
        <p:txBody>
          <a:bodyPr lIns="0" tIns="0" rIns="0" bIns="0" anchor="ctr">
            <a:spAutoFit/>
          </a:bodyPr>
          <a:lstStyle>
            <a:lvl1pPr>
              <a:defRPr sz="2000" i="1">
                <a:solidFill>
                  <a:srgbClr val="2A2440"/>
                </a:solidFill>
                <a:latin typeface="Georgia" panose="02040502050405020303"/>
                <a:ea typeface="Georgia" panose="02040502050405020303"/>
                <a:cs typeface="Georgia" panose="02040502050405020303"/>
                <a:sym typeface="Georgia" panose="02040502050405020303"/>
              </a:defRPr>
            </a:lvl1pPr>
          </a:lstStyle>
          <a:p>
            <a:r>
              <a:t>A litter box mounted edge device that uses a PIR sensor and load cell to track each visit's duration and weight, runs anomaly detection against a personalized baseline on the ESP32S3, and syncs logs to a cloud dashboard for long term trend viewing.</a:t>
            </a:r>
          </a:p>
        </p:txBody>
      </p:sp>
      <p:sp>
        <p:nvSpPr>
          <p:cNvPr id="60" name="Shape 5"/>
          <p:cNvSpPr/>
          <p:nvPr/>
        </p:nvSpPr>
        <p:spPr>
          <a:xfrm>
            <a:off x="548640" y="5212079"/>
            <a:ext cx="4480560" cy="1"/>
          </a:xfrm>
          <a:prstGeom prst="line">
            <a:avLst/>
          </a:prstGeom>
          <a:ln>
            <a:solidFill>
              <a:srgbClr val="E4DFF0"/>
            </a:solidFill>
          </a:ln>
        </p:spPr>
        <p:txBody>
          <a:bodyPr lIns="45718" tIns="45718" rIns="45718" bIns="45718"/>
          <a:lstStyle/>
          <a:p/>
        </p:txBody>
      </p:sp>
      <p:sp>
        <p:nvSpPr>
          <p:cNvPr id="61" name="Text 6"/>
          <p:cNvSpPr txBox="1"/>
          <p:nvPr/>
        </p:nvSpPr>
        <p:spPr>
          <a:xfrm>
            <a:off x="548639" y="5377179"/>
            <a:ext cx="4572003" cy="127001"/>
          </a:xfrm>
          <a:prstGeom prst="rect">
            <a:avLst/>
          </a:prstGeom>
          <a:ln w="12700">
            <a:miter lim="400000"/>
          </a:ln>
        </p:spPr>
        <p:txBody>
          <a:bodyPr lIns="0" tIns="0" rIns="0" bIns="0" anchor="ctr">
            <a:spAutoFit/>
          </a:bodyPr>
          <a:lstStyle>
            <a:lvl1pPr>
              <a:defRPr sz="900" b="1" spc="200">
                <a:solidFill>
                  <a:srgbClr val="7A7490"/>
                </a:solidFill>
              </a:defRPr>
            </a:lvl1pPr>
          </a:lstStyle>
          <a:p>
            <a:r>
              <a:t>HARDWARE STACK</a:t>
            </a:r>
          </a:p>
        </p:txBody>
      </p:sp>
      <p:sp>
        <p:nvSpPr>
          <p:cNvPr id="62" name="Text 7"/>
          <p:cNvSpPr txBox="1"/>
          <p:nvPr/>
        </p:nvSpPr>
        <p:spPr>
          <a:xfrm>
            <a:off x="548639" y="5695626"/>
            <a:ext cx="5029203" cy="166763"/>
          </a:xfrm>
          <a:prstGeom prst="rect">
            <a:avLst/>
          </a:prstGeom>
          <a:ln w="12700">
            <a:miter lim="400000"/>
          </a:ln>
        </p:spPr>
        <p:txBody>
          <a:bodyPr lIns="0" tIns="0" rIns="0" bIns="0" anchor="ctr">
            <a:spAutoFit/>
          </a:bodyPr>
          <a:lstStyle>
            <a:lvl1pPr>
              <a:defRPr sz="1300">
                <a:solidFill>
                  <a:srgbClr val="2A2440"/>
                </a:solidFill>
              </a:defRPr>
            </a:lvl1pPr>
          </a:lstStyle>
          <a:p>
            <a:r>
              <a:t>XIAO ESP32S3    |    Load cell + HX711    |    PIR sensor</a:t>
            </a:r>
          </a:p>
        </p:txBody>
      </p:sp>
      <p:sp>
        <p:nvSpPr>
          <p:cNvPr id="63" name="Shape 8"/>
          <p:cNvSpPr/>
          <p:nvPr/>
        </p:nvSpPr>
        <p:spPr>
          <a:xfrm flipH="1">
            <a:off x="5303520" y="1920238"/>
            <a:ext cx="1" cy="4297683"/>
          </a:xfrm>
          <a:prstGeom prst="line">
            <a:avLst/>
          </a:prstGeom>
          <a:ln>
            <a:solidFill>
              <a:srgbClr val="E4DFF0"/>
            </a:solidFill>
          </a:ln>
        </p:spPr>
        <p:txBody>
          <a:bodyPr lIns="45718" tIns="45718" rIns="45718" bIns="45718"/>
          <a:lstStyle/>
          <a:p/>
        </p:txBody>
      </p:sp>
      <p:sp>
        <p:nvSpPr>
          <p:cNvPr id="64" name="Text 9"/>
          <p:cNvSpPr txBox="1"/>
          <p:nvPr/>
        </p:nvSpPr>
        <p:spPr>
          <a:xfrm>
            <a:off x="5577840" y="2011723"/>
            <a:ext cx="4572002" cy="137072"/>
          </a:xfrm>
          <a:prstGeom prst="rect">
            <a:avLst/>
          </a:prstGeom>
          <a:ln w="12700">
            <a:miter lim="400000"/>
          </a:ln>
        </p:spPr>
        <p:txBody>
          <a:bodyPr lIns="0" tIns="0" rIns="0" bIns="0" anchor="ctr">
            <a:spAutoFit/>
          </a:bodyPr>
          <a:lstStyle>
            <a:lvl1pPr>
              <a:defRPr sz="1000" b="1" spc="200">
                <a:solidFill>
                  <a:srgbClr val="7C6BB5"/>
                </a:solidFill>
              </a:defRPr>
            </a:lvl1pPr>
          </a:lstStyle>
          <a:p>
            <a:r>
              <a:t>KEY FEATURES</a:t>
            </a:r>
          </a:p>
        </p:txBody>
      </p:sp>
      <p:sp>
        <p:nvSpPr>
          <p:cNvPr id="65" name="Shape 10"/>
          <p:cNvSpPr/>
          <p:nvPr/>
        </p:nvSpPr>
        <p:spPr>
          <a:xfrm>
            <a:off x="5577840" y="2331720"/>
            <a:ext cx="457203" cy="457203"/>
          </a:xfrm>
          <a:prstGeom prst="ellipse">
            <a:avLst/>
          </a:prstGeom>
          <a:solidFill>
            <a:srgbClr val="EEEAF7"/>
          </a:solidFill>
          <a:ln>
            <a:solidFill>
              <a:srgbClr val="7C6BB5"/>
            </a:solidFill>
          </a:ln>
        </p:spPr>
        <p:txBody>
          <a:bodyPr lIns="45718" tIns="45718" rIns="45718" bIns="45718"/>
          <a:lstStyle/>
          <a:p/>
        </p:txBody>
      </p:sp>
      <p:sp>
        <p:nvSpPr>
          <p:cNvPr id="66" name="Text 11"/>
          <p:cNvSpPr txBox="1"/>
          <p:nvPr/>
        </p:nvSpPr>
        <p:spPr>
          <a:xfrm>
            <a:off x="5577840" y="2493186"/>
            <a:ext cx="457202" cy="134268"/>
          </a:xfrm>
          <a:prstGeom prst="rect">
            <a:avLst/>
          </a:prstGeom>
          <a:ln w="12700">
            <a:miter lim="400000"/>
          </a:ln>
        </p:spPr>
        <p:txBody>
          <a:bodyPr lIns="0" tIns="0" rIns="0" bIns="0" anchor="ctr">
            <a:spAutoFit/>
          </a:bodyPr>
          <a:lstStyle>
            <a:lvl1pPr algn="ctr">
              <a:defRPr sz="1100" b="1">
                <a:solidFill>
                  <a:srgbClr val="5B4A94"/>
                </a:solidFill>
              </a:defRPr>
            </a:lvl1pPr>
          </a:lstStyle>
          <a:p>
            <a:r>
              <a:t>01</a:t>
            </a:r>
          </a:p>
        </p:txBody>
      </p:sp>
      <p:sp>
        <p:nvSpPr>
          <p:cNvPr id="67" name="Text 12"/>
          <p:cNvSpPr txBox="1"/>
          <p:nvPr/>
        </p:nvSpPr>
        <p:spPr>
          <a:xfrm>
            <a:off x="6217920" y="2351023"/>
            <a:ext cx="5303522" cy="254001"/>
          </a:xfrm>
          <a:prstGeom prst="rect">
            <a:avLst/>
          </a:prstGeom>
          <a:ln w="12700">
            <a:miter lim="400000"/>
          </a:ln>
        </p:spPr>
        <p:txBody>
          <a:bodyPr lIns="0" tIns="0" rIns="0" bIns="0" anchor="ctr">
            <a:spAutoFit/>
          </a:bodyPr>
          <a:lstStyle>
            <a:lvl1pPr>
              <a:defRPr sz="1700" b="1">
                <a:solidFill>
                  <a:srgbClr val="2A2440"/>
                </a:solidFill>
                <a:latin typeface="Georgia" panose="02040502050405020303"/>
                <a:ea typeface="Georgia" panose="02040502050405020303"/>
                <a:cs typeface="Georgia" panose="02040502050405020303"/>
                <a:sym typeface="Georgia" panose="02040502050405020303"/>
              </a:defRPr>
            </a:lvl1pPr>
          </a:lstStyle>
          <a:p>
            <a:r>
              <a:t>Visit Detection</a:t>
            </a:r>
          </a:p>
        </p:txBody>
      </p:sp>
      <p:sp>
        <p:nvSpPr>
          <p:cNvPr id="68" name="Text 13"/>
          <p:cNvSpPr txBox="1"/>
          <p:nvPr/>
        </p:nvSpPr>
        <p:spPr>
          <a:xfrm>
            <a:off x="6217920" y="2883846"/>
            <a:ext cx="5394962" cy="166763"/>
          </a:xfrm>
          <a:prstGeom prst="rect">
            <a:avLst/>
          </a:prstGeom>
          <a:ln w="12700">
            <a:miter lim="400000"/>
          </a:ln>
        </p:spPr>
        <p:txBody>
          <a:bodyPr lIns="0" tIns="0" rIns="0" bIns="0" anchor="ctr">
            <a:spAutoFit/>
          </a:bodyPr>
          <a:lstStyle>
            <a:lvl1pPr>
              <a:defRPr sz="1300">
                <a:solidFill>
                  <a:srgbClr val="7A7490"/>
                </a:solidFill>
              </a:defRPr>
            </a:lvl1pPr>
          </a:lstStyle>
          <a:p>
            <a:r>
              <a:t>PIR sensor captures entry and exit automatically for every visit.</a:t>
            </a:r>
          </a:p>
        </p:txBody>
      </p:sp>
      <p:sp>
        <p:nvSpPr>
          <p:cNvPr id="69" name="Shape 14"/>
          <p:cNvSpPr/>
          <p:nvPr/>
        </p:nvSpPr>
        <p:spPr>
          <a:xfrm>
            <a:off x="5577840" y="3337559"/>
            <a:ext cx="457203" cy="457203"/>
          </a:xfrm>
          <a:prstGeom prst="ellipse">
            <a:avLst/>
          </a:prstGeom>
          <a:solidFill>
            <a:srgbClr val="EEEAF7"/>
          </a:solidFill>
          <a:ln>
            <a:solidFill>
              <a:srgbClr val="7C6BB5"/>
            </a:solidFill>
          </a:ln>
        </p:spPr>
        <p:txBody>
          <a:bodyPr lIns="45718" tIns="45718" rIns="45718" bIns="45718"/>
          <a:lstStyle/>
          <a:p/>
        </p:txBody>
      </p:sp>
      <p:sp>
        <p:nvSpPr>
          <p:cNvPr id="70" name="Text 15"/>
          <p:cNvSpPr txBox="1"/>
          <p:nvPr/>
        </p:nvSpPr>
        <p:spPr>
          <a:xfrm>
            <a:off x="5577840" y="3499025"/>
            <a:ext cx="457202" cy="134269"/>
          </a:xfrm>
          <a:prstGeom prst="rect">
            <a:avLst/>
          </a:prstGeom>
          <a:ln w="12700">
            <a:miter lim="400000"/>
          </a:ln>
        </p:spPr>
        <p:txBody>
          <a:bodyPr lIns="0" tIns="0" rIns="0" bIns="0" anchor="ctr">
            <a:spAutoFit/>
          </a:bodyPr>
          <a:lstStyle>
            <a:lvl1pPr algn="ctr">
              <a:defRPr sz="1100" b="1">
                <a:solidFill>
                  <a:srgbClr val="5B4A94"/>
                </a:solidFill>
              </a:defRPr>
            </a:lvl1pPr>
          </a:lstStyle>
          <a:p>
            <a:r>
              <a:t>02</a:t>
            </a:r>
          </a:p>
        </p:txBody>
      </p:sp>
      <p:sp>
        <p:nvSpPr>
          <p:cNvPr id="71" name="Text 16"/>
          <p:cNvSpPr txBox="1"/>
          <p:nvPr/>
        </p:nvSpPr>
        <p:spPr>
          <a:xfrm>
            <a:off x="6217920" y="3356863"/>
            <a:ext cx="5303522" cy="254001"/>
          </a:xfrm>
          <a:prstGeom prst="rect">
            <a:avLst/>
          </a:prstGeom>
          <a:ln w="12700">
            <a:miter lim="400000"/>
          </a:ln>
        </p:spPr>
        <p:txBody>
          <a:bodyPr lIns="0" tIns="0" rIns="0" bIns="0" anchor="ctr">
            <a:spAutoFit/>
          </a:bodyPr>
          <a:lstStyle>
            <a:lvl1pPr>
              <a:defRPr sz="1700" b="1">
                <a:solidFill>
                  <a:srgbClr val="2A2440"/>
                </a:solidFill>
                <a:latin typeface="Georgia" panose="02040502050405020303"/>
                <a:ea typeface="Georgia" panose="02040502050405020303"/>
                <a:cs typeface="Georgia" panose="02040502050405020303"/>
                <a:sym typeface="Georgia" panose="02040502050405020303"/>
              </a:defRPr>
            </a:lvl1pPr>
          </a:lstStyle>
          <a:p>
            <a:r>
              <a:t>Weight Tracking</a:t>
            </a:r>
          </a:p>
        </p:txBody>
      </p:sp>
      <p:sp>
        <p:nvSpPr>
          <p:cNvPr id="72" name="Text 17"/>
          <p:cNvSpPr txBox="1"/>
          <p:nvPr/>
        </p:nvSpPr>
        <p:spPr>
          <a:xfrm>
            <a:off x="6217920" y="3889685"/>
            <a:ext cx="5394962" cy="166763"/>
          </a:xfrm>
          <a:prstGeom prst="rect">
            <a:avLst/>
          </a:prstGeom>
          <a:ln w="12700">
            <a:miter lim="400000"/>
          </a:ln>
        </p:spPr>
        <p:txBody>
          <a:bodyPr lIns="0" tIns="0" rIns="0" bIns="0" anchor="ctr">
            <a:spAutoFit/>
          </a:bodyPr>
          <a:lstStyle>
            <a:lvl1pPr>
              <a:defRPr sz="1300">
                <a:solidFill>
                  <a:srgbClr val="7A7490"/>
                </a:solidFill>
              </a:defRPr>
            </a:lvl1pPr>
          </a:lstStyle>
          <a:p>
            <a:r>
              <a:t>Load cell measures cat weight per visit and tracks long term trends.</a:t>
            </a:r>
          </a:p>
        </p:txBody>
      </p:sp>
      <p:sp>
        <p:nvSpPr>
          <p:cNvPr id="73" name="Shape 18"/>
          <p:cNvSpPr/>
          <p:nvPr/>
        </p:nvSpPr>
        <p:spPr>
          <a:xfrm>
            <a:off x="5577840" y="4343400"/>
            <a:ext cx="457203" cy="457200"/>
          </a:xfrm>
          <a:prstGeom prst="ellipse">
            <a:avLst/>
          </a:prstGeom>
          <a:solidFill>
            <a:srgbClr val="EEEAF7"/>
          </a:solidFill>
          <a:ln>
            <a:solidFill>
              <a:srgbClr val="7C6BB5"/>
            </a:solidFill>
          </a:ln>
        </p:spPr>
        <p:txBody>
          <a:bodyPr lIns="45718" tIns="45718" rIns="45718" bIns="45718"/>
          <a:lstStyle/>
          <a:p/>
        </p:txBody>
      </p:sp>
      <p:sp>
        <p:nvSpPr>
          <p:cNvPr id="74" name="Text 19"/>
          <p:cNvSpPr txBox="1"/>
          <p:nvPr/>
        </p:nvSpPr>
        <p:spPr>
          <a:xfrm>
            <a:off x="5577840" y="4504865"/>
            <a:ext cx="457202" cy="134269"/>
          </a:xfrm>
          <a:prstGeom prst="rect">
            <a:avLst/>
          </a:prstGeom>
          <a:ln w="12700">
            <a:miter lim="400000"/>
          </a:ln>
        </p:spPr>
        <p:txBody>
          <a:bodyPr lIns="0" tIns="0" rIns="0" bIns="0" anchor="ctr">
            <a:spAutoFit/>
          </a:bodyPr>
          <a:lstStyle>
            <a:lvl1pPr algn="ctr">
              <a:defRPr sz="1100" b="1">
                <a:solidFill>
                  <a:srgbClr val="5B4A94"/>
                </a:solidFill>
              </a:defRPr>
            </a:lvl1pPr>
          </a:lstStyle>
          <a:p>
            <a:r>
              <a:t>03</a:t>
            </a:r>
          </a:p>
        </p:txBody>
      </p:sp>
      <p:sp>
        <p:nvSpPr>
          <p:cNvPr id="75" name="Text 20"/>
          <p:cNvSpPr txBox="1"/>
          <p:nvPr/>
        </p:nvSpPr>
        <p:spPr>
          <a:xfrm>
            <a:off x="6217920" y="4362702"/>
            <a:ext cx="5303522" cy="254001"/>
          </a:xfrm>
          <a:prstGeom prst="rect">
            <a:avLst/>
          </a:prstGeom>
          <a:ln w="12700">
            <a:miter lim="400000"/>
          </a:ln>
        </p:spPr>
        <p:txBody>
          <a:bodyPr lIns="0" tIns="0" rIns="0" bIns="0" anchor="ctr">
            <a:spAutoFit/>
          </a:bodyPr>
          <a:lstStyle>
            <a:lvl1pPr>
              <a:defRPr sz="1700" b="1">
                <a:solidFill>
                  <a:srgbClr val="2A2440"/>
                </a:solidFill>
                <a:latin typeface="Georgia" panose="02040502050405020303"/>
                <a:ea typeface="Georgia" panose="02040502050405020303"/>
                <a:cs typeface="Georgia" panose="02040502050405020303"/>
                <a:sym typeface="Georgia" panose="02040502050405020303"/>
              </a:defRPr>
            </a:lvl1pPr>
          </a:lstStyle>
          <a:p>
            <a:r>
              <a:t>On Device Anomaly</a:t>
            </a:r>
          </a:p>
        </p:txBody>
      </p:sp>
      <p:sp>
        <p:nvSpPr>
          <p:cNvPr id="76" name="Text 21"/>
          <p:cNvSpPr txBox="1"/>
          <p:nvPr/>
        </p:nvSpPr>
        <p:spPr>
          <a:xfrm>
            <a:off x="6217920" y="4895526"/>
            <a:ext cx="5394962" cy="166763"/>
          </a:xfrm>
          <a:prstGeom prst="rect">
            <a:avLst/>
          </a:prstGeom>
          <a:ln w="12700">
            <a:miter lim="400000"/>
          </a:ln>
        </p:spPr>
        <p:txBody>
          <a:bodyPr lIns="0" tIns="0" rIns="0" bIns="0" anchor="ctr">
            <a:spAutoFit/>
          </a:bodyPr>
          <a:lstStyle>
            <a:lvl1pPr>
              <a:defRPr sz="1300">
                <a:solidFill>
                  <a:srgbClr val="7A7490"/>
                </a:solidFill>
              </a:defRPr>
            </a:lvl1pPr>
          </a:lstStyle>
          <a:p>
            <a:r>
              <a:t>Rule based detector compares each visit to a personalized 7 day baseline.</a:t>
            </a:r>
          </a:p>
        </p:txBody>
      </p:sp>
      <p:sp>
        <p:nvSpPr>
          <p:cNvPr id="77" name="Shape 22"/>
          <p:cNvSpPr/>
          <p:nvPr/>
        </p:nvSpPr>
        <p:spPr>
          <a:xfrm>
            <a:off x="5577840" y="5349240"/>
            <a:ext cx="457203" cy="457203"/>
          </a:xfrm>
          <a:prstGeom prst="ellipse">
            <a:avLst/>
          </a:prstGeom>
          <a:solidFill>
            <a:srgbClr val="EEEAF7"/>
          </a:solidFill>
          <a:ln>
            <a:solidFill>
              <a:srgbClr val="7C6BB5"/>
            </a:solidFill>
          </a:ln>
        </p:spPr>
        <p:txBody>
          <a:bodyPr lIns="45718" tIns="45718" rIns="45718" bIns="45718"/>
          <a:lstStyle/>
          <a:p/>
        </p:txBody>
      </p:sp>
      <p:sp>
        <p:nvSpPr>
          <p:cNvPr id="78" name="Text 23"/>
          <p:cNvSpPr txBox="1"/>
          <p:nvPr/>
        </p:nvSpPr>
        <p:spPr>
          <a:xfrm>
            <a:off x="5577840" y="5510706"/>
            <a:ext cx="457202" cy="134268"/>
          </a:xfrm>
          <a:prstGeom prst="rect">
            <a:avLst/>
          </a:prstGeom>
          <a:ln w="12700">
            <a:miter lim="400000"/>
          </a:ln>
        </p:spPr>
        <p:txBody>
          <a:bodyPr lIns="0" tIns="0" rIns="0" bIns="0" anchor="ctr">
            <a:spAutoFit/>
          </a:bodyPr>
          <a:lstStyle>
            <a:lvl1pPr algn="ctr">
              <a:defRPr sz="1100" b="1">
                <a:solidFill>
                  <a:srgbClr val="5B4A94"/>
                </a:solidFill>
              </a:defRPr>
            </a:lvl1pPr>
          </a:lstStyle>
          <a:p>
            <a:r>
              <a:t>04</a:t>
            </a:r>
          </a:p>
        </p:txBody>
      </p:sp>
      <p:sp>
        <p:nvSpPr>
          <p:cNvPr id="79" name="Text 24"/>
          <p:cNvSpPr txBox="1"/>
          <p:nvPr/>
        </p:nvSpPr>
        <p:spPr>
          <a:xfrm>
            <a:off x="6217920" y="5368543"/>
            <a:ext cx="5303522" cy="254001"/>
          </a:xfrm>
          <a:prstGeom prst="rect">
            <a:avLst/>
          </a:prstGeom>
          <a:ln w="12700">
            <a:miter lim="400000"/>
          </a:ln>
        </p:spPr>
        <p:txBody>
          <a:bodyPr lIns="0" tIns="0" rIns="0" bIns="0" anchor="ctr">
            <a:spAutoFit/>
          </a:bodyPr>
          <a:lstStyle>
            <a:lvl1pPr>
              <a:defRPr sz="1700" b="1">
                <a:solidFill>
                  <a:srgbClr val="2A2440"/>
                </a:solidFill>
                <a:latin typeface="Georgia" panose="02040502050405020303"/>
                <a:ea typeface="Georgia" panose="02040502050405020303"/>
                <a:cs typeface="Georgia" panose="02040502050405020303"/>
                <a:sym typeface="Georgia" panose="02040502050405020303"/>
              </a:defRPr>
            </a:lvl1pPr>
          </a:lstStyle>
          <a:p>
            <a:r>
              <a:t>Cloud Trends</a:t>
            </a:r>
          </a:p>
        </p:txBody>
      </p:sp>
      <p:sp>
        <p:nvSpPr>
          <p:cNvPr id="80" name="Text 25"/>
          <p:cNvSpPr txBox="1"/>
          <p:nvPr/>
        </p:nvSpPr>
        <p:spPr>
          <a:xfrm>
            <a:off x="6217920" y="5901365"/>
            <a:ext cx="5394962" cy="166763"/>
          </a:xfrm>
          <a:prstGeom prst="rect">
            <a:avLst/>
          </a:prstGeom>
          <a:ln w="12700">
            <a:miter lim="400000"/>
          </a:ln>
        </p:spPr>
        <p:txBody>
          <a:bodyPr lIns="0" tIns="0" rIns="0" bIns="0" anchor="ctr">
            <a:spAutoFit/>
          </a:bodyPr>
          <a:lstStyle>
            <a:lvl1pPr>
              <a:defRPr sz="1300">
                <a:solidFill>
                  <a:srgbClr val="7A7490"/>
                </a:solidFill>
              </a:defRPr>
            </a:lvl1pPr>
          </a:lstStyle>
          <a:p>
            <a:r>
              <a:t>MQTT upload to a dashboard so owners can view history and alerts.</a:t>
            </a:r>
          </a:p>
        </p:txBody>
      </p:sp>
      <p:sp>
        <p:nvSpPr>
          <p:cNvPr id="81" name="Shape 26"/>
          <p:cNvSpPr/>
          <p:nvPr/>
        </p:nvSpPr>
        <p:spPr>
          <a:xfrm>
            <a:off x="548638" y="6446520"/>
            <a:ext cx="11064244" cy="1"/>
          </a:xfrm>
          <a:prstGeom prst="line">
            <a:avLst/>
          </a:prstGeom>
          <a:ln>
            <a:solidFill>
              <a:srgbClr val="E4DFF0"/>
            </a:solidFill>
          </a:ln>
        </p:spPr>
        <p:txBody>
          <a:bodyPr lIns="45718" tIns="45718" rIns="45718" bIns="45718"/>
          <a:lstStyle/>
          <a:p/>
        </p:txBody>
      </p:sp>
      <p:sp>
        <p:nvSpPr>
          <p:cNvPr id="82" name="Text 27"/>
          <p:cNvSpPr txBox="1"/>
          <p:nvPr/>
        </p:nvSpPr>
        <p:spPr>
          <a:xfrm>
            <a:off x="548640" y="6560864"/>
            <a:ext cx="7315201" cy="137071"/>
          </a:xfrm>
          <a:prstGeom prst="rect">
            <a:avLst/>
          </a:prstGeom>
          <a:ln w="12700">
            <a:miter lim="400000"/>
          </a:ln>
        </p:spPr>
        <p:txBody>
          <a:bodyPr lIns="0" tIns="0" rIns="0" bIns="0" anchor="ctr">
            <a:spAutoFit/>
          </a:bodyPr>
          <a:lstStyle>
            <a:lvl1pPr>
              <a:defRPr sz="1000">
                <a:solidFill>
                  <a:srgbClr val="7A7490"/>
                </a:solidFill>
              </a:defRPr>
            </a:lvl1pPr>
          </a:lstStyle>
          <a:p>
            <a:r>
              <a:t>Smart Cat Litter Box Monitor   |   Milestone 1</a:t>
            </a:r>
          </a:p>
        </p:txBody>
      </p:sp>
      <p:sp>
        <p:nvSpPr>
          <p:cNvPr id="83" name="Text 28"/>
          <p:cNvSpPr txBox="1"/>
          <p:nvPr/>
        </p:nvSpPr>
        <p:spPr>
          <a:xfrm>
            <a:off x="10698480" y="6560864"/>
            <a:ext cx="914402" cy="137071"/>
          </a:xfrm>
          <a:prstGeom prst="rect">
            <a:avLst/>
          </a:prstGeom>
          <a:ln w="12700">
            <a:miter lim="400000"/>
          </a:ln>
        </p:spPr>
        <p:txBody>
          <a:bodyPr lIns="0" tIns="0" rIns="0" bIns="0" anchor="ctr">
            <a:spAutoFit/>
          </a:bodyPr>
          <a:lstStyle>
            <a:lvl1pPr algn="r">
              <a:defRPr sz="1000">
                <a:solidFill>
                  <a:srgbClr val="7A7490"/>
                </a:solidFill>
              </a:defRPr>
            </a:lvl1pPr>
          </a:lstStyle>
          <a:p>
            <a:r>
              <a:t>3 / 6</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show="0">
  <p:cSld>
    <p:bg>
      <p:bgPr>
        <a:solidFill>
          <a:srgbClr val="FBFAF6"/>
        </a:solidFill>
        <a:effectLst/>
      </p:bgPr>
    </p:bg>
    <p:spTree>
      <p:nvGrpSpPr>
        <p:cNvPr id="1" name=""/>
        <p:cNvGrpSpPr/>
        <p:nvPr/>
      </p:nvGrpSpPr>
      <p:grpSpPr>
        <a:xfrm>
          <a:off x="0" y="0"/>
          <a:ext cx="0" cy="0"/>
          <a:chOff x="0" y="0"/>
          <a:chExt cx="0" cy="0"/>
        </a:xfrm>
      </p:grpSpPr>
      <p:sp>
        <p:nvSpPr>
          <p:cNvPr id="85" name="Shape 0"/>
          <p:cNvSpPr/>
          <p:nvPr/>
        </p:nvSpPr>
        <p:spPr>
          <a:xfrm>
            <a:off x="548640" y="530351"/>
            <a:ext cx="146306" cy="146306"/>
          </a:xfrm>
          <a:prstGeom prst="rect">
            <a:avLst/>
          </a:prstGeom>
          <a:solidFill>
            <a:srgbClr val="7C6BB5"/>
          </a:solidFill>
          <a:ln w="12700">
            <a:solidFill>
              <a:srgbClr val="7C6BB5"/>
            </a:solidFill>
          </a:ln>
        </p:spPr>
        <p:txBody>
          <a:bodyPr lIns="45718" tIns="45718" rIns="45718" bIns="45718"/>
          <a:lstStyle/>
          <a:p/>
        </p:txBody>
      </p:sp>
      <p:sp>
        <p:nvSpPr>
          <p:cNvPr id="86" name="Text 1"/>
          <p:cNvSpPr txBox="1"/>
          <p:nvPr/>
        </p:nvSpPr>
        <p:spPr>
          <a:xfrm>
            <a:off x="777239" y="534967"/>
            <a:ext cx="5486403" cy="137072"/>
          </a:xfrm>
          <a:prstGeom prst="rect">
            <a:avLst/>
          </a:prstGeom>
          <a:ln w="12700">
            <a:miter lim="400000"/>
          </a:ln>
        </p:spPr>
        <p:txBody>
          <a:bodyPr lIns="0" tIns="0" rIns="0" bIns="0" anchor="ctr">
            <a:spAutoFit/>
          </a:bodyPr>
          <a:lstStyle>
            <a:lvl1pPr>
              <a:defRPr sz="1000" b="1" spc="250">
                <a:solidFill>
                  <a:srgbClr val="7C6BB5"/>
                </a:solidFill>
              </a:defRPr>
            </a:lvl1pPr>
          </a:lstStyle>
          <a:p>
            <a:r>
              <a:t>03  ARCHITECTURE</a:t>
            </a:r>
          </a:p>
        </p:txBody>
      </p:sp>
      <p:sp>
        <p:nvSpPr>
          <p:cNvPr id="87" name="Text 2"/>
          <p:cNvSpPr txBox="1"/>
          <p:nvPr/>
        </p:nvSpPr>
        <p:spPr>
          <a:xfrm>
            <a:off x="548638" y="989329"/>
            <a:ext cx="11064244" cy="444501"/>
          </a:xfrm>
          <a:prstGeom prst="rect">
            <a:avLst/>
          </a:prstGeom>
          <a:ln w="12700">
            <a:miter lim="400000"/>
          </a:ln>
        </p:spPr>
        <p:txBody>
          <a:bodyPr lIns="0" tIns="0" rIns="0" bIns="0" anchor="ctr">
            <a:spAutoFit/>
          </a:bodyPr>
          <a:lstStyle>
            <a:lvl1pPr>
              <a:defRPr sz="3000" b="1">
                <a:solidFill>
                  <a:srgbClr val="2A2440"/>
                </a:solidFill>
                <a:latin typeface="Georgia" panose="02040502050405020303"/>
                <a:ea typeface="Georgia" panose="02040502050405020303"/>
                <a:cs typeface="Georgia" panose="02040502050405020303"/>
                <a:sym typeface="Georgia" panose="02040502050405020303"/>
              </a:defRPr>
            </a:lvl1pPr>
          </a:lstStyle>
          <a:p>
            <a:r>
              <a:t>Updated System Architecture</a:t>
            </a:r>
          </a:p>
        </p:txBody>
      </p:sp>
      <p:sp>
        <p:nvSpPr>
          <p:cNvPr id="88" name="Shape 3"/>
          <p:cNvSpPr/>
          <p:nvPr/>
        </p:nvSpPr>
        <p:spPr>
          <a:xfrm>
            <a:off x="7772400" y="1170432"/>
            <a:ext cx="182883" cy="182883"/>
          </a:xfrm>
          <a:prstGeom prst="ellipse">
            <a:avLst/>
          </a:prstGeom>
          <a:solidFill>
            <a:srgbClr val="6FB58A"/>
          </a:solidFill>
          <a:ln w="12700">
            <a:solidFill>
              <a:srgbClr val="6FB58A"/>
            </a:solidFill>
          </a:ln>
        </p:spPr>
        <p:txBody>
          <a:bodyPr lIns="45718" tIns="45718" rIns="45718" bIns="45718"/>
          <a:lstStyle/>
          <a:p/>
        </p:txBody>
      </p:sp>
      <p:sp>
        <p:nvSpPr>
          <p:cNvPr id="89" name="Text 4"/>
          <p:cNvSpPr txBox="1"/>
          <p:nvPr/>
        </p:nvSpPr>
        <p:spPr>
          <a:xfrm>
            <a:off x="8028430" y="1183439"/>
            <a:ext cx="1371602" cy="156865"/>
          </a:xfrm>
          <a:prstGeom prst="rect">
            <a:avLst/>
          </a:prstGeom>
          <a:ln w="12700">
            <a:miter lim="400000"/>
          </a:ln>
        </p:spPr>
        <p:txBody>
          <a:bodyPr lIns="0" tIns="0" rIns="0" bIns="0" anchor="ctr">
            <a:spAutoFit/>
          </a:bodyPr>
          <a:lstStyle>
            <a:lvl1pPr>
              <a:defRPr sz="1200">
                <a:solidFill>
                  <a:srgbClr val="7A7490"/>
                </a:solidFill>
              </a:defRPr>
            </a:lvl1pPr>
          </a:lstStyle>
          <a:p>
            <a:r>
              <a:t>Proven</a:t>
            </a:r>
          </a:p>
        </p:txBody>
      </p:sp>
      <p:sp>
        <p:nvSpPr>
          <p:cNvPr id="90" name="Shape 5"/>
          <p:cNvSpPr/>
          <p:nvPr/>
        </p:nvSpPr>
        <p:spPr>
          <a:xfrm>
            <a:off x="9235440" y="1170432"/>
            <a:ext cx="182883" cy="182883"/>
          </a:xfrm>
          <a:prstGeom prst="ellipse">
            <a:avLst/>
          </a:prstGeom>
          <a:solidFill>
            <a:srgbClr val="D9B65A"/>
          </a:solidFill>
          <a:ln w="12700">
            <a:solidFill>
              <a:srgbClr val="D9B65A"/>
            </a:solidFill>
          </a:ln>
        </p:spPr>
        <p:txBody>
          <a:bodyPr lIns="45718" tIns="45718" rIns="45718" bIns="45718"/>
          <a:lstStyle/>
          <a:p/>
        </p:txBody>
      </p:sp>
      <p:sp>
        <p:nvSpPr>
          <p:cNvPr id="91" name="Text 6"/>
          <p:cNvSpPr txBox="1"/>
          <p:nvPr/>
        </p:nvSpPr>
        <p:spPr>
          <a:xfrm>
            <a:off x="9491471" y="1183439"/>
            <a:ext cx="1371602" cy="156865"/>
          </a:xfrm>
          <a:prstGeom prst="rect">
            <a:avLst/>
          </a:prstGeom>
          <a:ln w="12700">
            <a:miter lim="400000"/>
          </a:ln>
        </p:spPr>
        <p:txBody>
          <a:bodyPr lIns="0" tIns="0" rIns="0" bIns="0" anchor="ctr">
            <a:spAutoFit/>
          </a:bodyPr>
          <a:lstStyle>
            <a:lvl1pPr>
              <a:defRPr sz="1200">
                <a:solidFill>
                  <a:srgbClr val="7A7490"/>
                </a:solidFill>
              </a:defRPr>
            </a:lvl1pPr>
          </a:lstStyle>
          <a:p>
            <a:r>
              <a:t>In progress</a:t>
            </a:r>
          </a:p>
        </p:txBody>
      </p:sp>
      <p:sp>
        <p:nvSpPr>
          <p:cNvPr id="92" name="Shape 7"/>
          <p:cNvSpPr/>
          <p:nvPr/>
        </p:nvSpPr>
        <p:spPr>
          <a:xfrm>
            <a:off x="10698480" y="1170432"/>
            <a:ext cx="182883" cy="182883"/>
          </a:xfrm>
          <a:prstGeom prst="ellipse">
            <a:avLst/>
          </a:prstGeom>
          <a:solidFill>
            <a:srgbClr val="C47A7A"/>
          </a:solidFill>
          <a:ln w="12700">
            <a:solidFill>
              <a:srgbClr val="C47A7A"/>
            </a:solidFill>
          </a:ln>
        </p:spPr>
        <p:txBody>
          <a:bodyPr lIns="45718" tIns="45718" rIns="45718" bIns="45718"/>
          <a:lstStyle/>
          <a:p/>
        </p:txBody>
      </p:sp>
      <p:sp>
        <p:nvSpPr>
          <p:cNvPr id="93" name="Text 8"/>
          <p:cNvSpPr txBox="1"/>
          <p:nvPr/>
        </p:nvSpPr>
        <p:spPr>
          <a:xfrm>
            <a:off x="10954511" y="1183439"/>
            <a:ext cx="1371602" cy="156865"/>
          </a:xfrm>
          <a:prstGeom prst="rect">
            <a:avLst/>
          </a:prstGeom>
          <a:ln w="12700">
            <a:miter lim="400000"/>
          </a:ln>
        </p:spPr>
        <p:txBody>
          <a:bodyPr lIns="0" tIns="0" rIns="0" bIns="0" anchor="ctr">
            <a:spAutoFit/>
          </a:bodyPr>
          <a:lstStyle>
            <a:lvl1pPr>
              <a:defRPr sz="1200">
                <a:solidFill>
                  <a:srgbClr val="7A7490"/>
                </a:solidFill>
              </a:defRPr>
            </a:lvl1pPr>
          </a:lstStyle>
          <a:p>
            <a:r>
              <a:t>Blocked</a:t>
            </a:r>
          </a:p>
        </p:txBody>
      </p:sp>
      <p:sp>
        <p:nvSpPr>
          <p:cNvPr id="94" name="Shape 9"/>
          <p:cNvSpPr/>
          <p:nvPr/>
        </p:nvSpPr>
        <p:spPr>
          <a:xfrm>
            <a:off x="1143000" y="2139694"/>
            <a:ext cx="2011679" cy="822962"/>
          </a:xfrm>
          <a:prstGeom prst="rect">
            <a:avLst/>
          </a:prstGeom>
          <a:solidFill>
            <a:srgbClr val="FFFFFF"/>
          </a:solidFill>
          <a:ln w="12700">
            <a:solidFill>
              <a:srgbClr val="E4DFF0"/>
            </a:solidFill>
          </a:ln>
        </p:spPr>
        <p:txBody>
          <a:bodyPr lIns="45718" tIns="45718" rIns="45718" bIns="45718"/>
          <a:lstStyle/>
          <a:p/>
        </p:txBody>
      </p:sp>
      <p:sp>
        <p:nvSpPr>
          <p:cNvPr id="95" name="Shape 10"/>
          <p:cNvSpPr/>
          <p:nvPr/>
        </p:nvSpPr>
        <p:spPr>
          <a:xfrm>
            <a:off x="1280160" y="2276855"/>
            <a:ext cx="164595" cy="164595"/>
          </a:xfrm>
          <a:prstGeom prst="ellipse">
            <a:avLst/>
          </a:prstGeom>
          <a:solidFill>
            <a:srgbClr val="D9B65A"/>
          </a:solidFill>
          <a:ln w="12700">
            <a:solidFill>
              <a:srgbClr val="D9B65A"/>
            </a:solidFill>
          </a:ln>
        </p:spPr>
        <p:txBody>
          <a:bodyPr lIns="45718" tIns="45718" rIns="45718" bIns="45718"/>
          <a:lstStyle/>
          <a:p/>
        </p:txBody>
      </p:sp>
      <p:sp>
        <p:nvSpPr>
          <p:cNvPr id="96" name="Text 11"/>
          <p:cNvSpPr txBox="1"/>
          <p:nvPr/>
        </p:nvSpPr>
        <p:spPr>
          <a:xfrm>
            <a:off x="1234439" y="2377493"/>
            <a:ext cx="1828802" cy="347365"/>
          </a:xfrm>
          <a:prstGeom prst="rect">
            <a:avLst/>
          </a:prstGeom>
          <a:ln w="12700">
            <a:miter lim="400000"/>
          </a:ln>
        </p:spPr>
        <p:txBody>
          <a:bodyPr lIns="0" tIns="0" rIns="0" bIns="0" anchor="ctr">
            <a:spAutoFit/>
          </a:bodyPr>
          <a:lstStyle/>
          <a:p>
            <a:pPr algn="ctr">
              <a:defRPr sz="1200" b="1">
                <a:solidFill>
                  <a:srgbClr val="2A2440"/>
                </a:solidFill>
              </a:defRPr>
            </a:pPr>
            <a:r>
              <a:t>PIR Motion</a:t>
            </a:r>
          </a:p>
          <a:p>
            <a:pPr algn="ctr">
              <a:defRPr sz="1200" b="1">
                <a:solidFill>
                  <a:srgbClr val="2A2440"/>
                </a:solidFill>
              </a:defRPr>
            </a:pPr>
            <a:r>
              <a:t>Sensor</a:t>
            </a:r>
          </a:p>
        </p:txBody>
      </p:sp>
      <p:sp>
        <p:nvSpPr>
          <p:cNvPr id="97" name="Shape 12"/>
          <p:cNvSpPr/>
          <p:nvPr/>
        </p:nvSpPr>
        <p:spPr>
          <a:xfrm>
            <a:off x="3520440" y="2139694"/>
            <a:ext cx="2011680" cy="822962"/>
          </a:xfrm>
          <a:prstGeom prst="rect">
            <a:avLst/>
          </a:prstGeom>
          <a:solidFill>
            <a:srgbClr val="FFFFFF"/>
          </a:solidFill>
          <a:ln w="12700">
            <a:solidFill>
              <a:srgbClr val="E4DFF0"/>
            </a:solidFill>
          </a:ln>
        </p:spPr>
        <p:txBody>
          <a:bodyPr lIns="45718" tIns="45718" rIns="45718" bIns="45718"/>
          <a:lstStyle/>
          <a:p/>
        </p:txBody>
      </p:sp>
      <p:sp>
        <p:nvSpPr>
          <p:cNvPr id="98" name="Shape 13"/>
          <p:cNvSpPr/>
          <p:nvPr/>
        </p:nvSpPr>
        <p:spPr>
          <a:xfrm>
            <a:off x="3657600" y="2276855"/>
            <a:ext cx="164594" cy="164595"/>
          </a:xfrm>
          <a:prstGeom prst="ellipse">
            <a:avLst/>
          </a:prstGeom>
          <a:solidFill>
            <a:srgbClr val="D9B65A"/>
          </a:solidFill>
          <a:ln w="12700">
            <a:solidFill>
              <a:srgbClr val="D9B65A"/>
            </a:solidFill>
          </a:ln>
        </p:spPr>
        <p:txBody>
          <a:bodyPr lIns="45718" tIns="45718" rIns="45718" bIns="45718"/>
          <a:lstStyle/>
          <a:p/>
        </p:txBody>
      </p:sp>
      <p:sp>
        <p:nvSpPr>
          <p:cNvPr id="99" name="Text 14"/>
          <p:cNvSpPr txBox="1"/>
          <p:nvPr/>
        </p:nvSpPr>
        <p:spPr>
          <a:xfrm>
            <a:off x="3611879" y="2377493"/>
            <a:ext cx="1828802" cy="347365"/>
          </a:xfrm>
          <a:prstGeom prst="rect">
            <a:avLst/>
          </a:prstGeom>
          <a:ln w="12700">
            <a:miter lim="400000"/>
          </a:ln>
        </p:spPr>
        <p:txBody>
          <a:bodyPr lIns="0" tIns="0" rIns="0" bIns="0" anchor="ctr">
            <a:spAutoFit/>
          </a:bodyPr>
          <a:lstStyle/>
          <a:p>
            <a:pPr algn="ctr">
              <a:defRPr sz="1200" b="1">
                <a:solidFill>
                  <a:srgbClr val="2A2440"/>
                </a:solidFill>
              </a:defRPr>
            </a:pPr>
            <a:r>
              <a:t>Load Cell</a:t>
            </a:r>
          </a:p>
          <a:p>
            <a:pPr algn="ctr">
              <a:defRPr sz="1200" b="1">
                <a:solidFill>
                  <a:srgbClr val="2A2440"/>
                </a:solidFill>
              </a:defRPr>
            </a:pPr>
            <a:r>
              <a:t>+ HX711</a:t>
            </a:r>
          </a:p>
        </p:txBody>
      </p:sp>
      <p:sp>
        <p:nvSpPr>
          <p:cNvPr id="100" name="Shape 15"/>
          <p:cNvSpPr/>
          <p:nvPr/>
        </p:nvSpPr>
        <p:spPr>
          <a:xfrm>
            <a:off x="2103120" y="3611879"/>
            <a:ext cx="2468882" cy="822962"/>
          </a:xfrm>
          <a:prstGeom prst="rect">
            <a:avLst/>
          </a:prstGeom>
          <a:solidFill>
            <a:srgbClr val="FFFFFF"/>
          </a:solidFill>
          <a:ln w="12700">
            <a:solidFill>
              <a:srgbClr val="E4DFF0"/>
            </a:solidFill>
          </a:ln>
        </p:spPr>
        <p:txBody>
          <a:bodyPr lIns="45718" tIns="45718" rIns="45718" bIns="45718"/>
          <a:lstStyle/>
          <a:p/>
        </p:txBody>
      </p:sp>
      <p:sp>
        <p:nvSpPr>
          <p:cNvPr id="101" name="Shape 16"/>
          <p:cNvSpPr/>
          <p:nvPr/>
        </p:nvSpPr>
        <p:spPr>
          <a:xfrm>
            <a:off x="2240278" y="3749040"/>
            <a:ext cx="164595" cy="164595"/>
          </a:xfrm>
          <a:prstGeom prst="ellipse">
            <a:avLst/>
          </a:prstGeom>
          <a:solidFill>
            <a:srgbClr val="D9B65A"/>
          </a:solidFill>
          <a:ln w="12700">
            <a:solidFill>
              <a:srgbClr val="D9B65A"/>
            </a:solidFill>
          </a:ln>
        </p:spPr>
        <p:txBody>
          <a:bodyPr lIns="45718" tIns="45718" rIns="45718" bIns="45718"/>
          <a:lstStyle/>
          <a:p/>
        </p:txBody>
      </p:sp>
      <p:sp>
        <p:nvSpPr>
          <p:cNvPr id="102" name="Text 17"/>
          <p:cNvSpPr txBox="1"/>
          <p:nvPr/>
        </p:nvSpPr>
        <p:spPr>
          <a:xfrm>
            <a:off x="2194560" y="3849676"/>
            <a:ext cx="2286002" cy="347366"/>
          </a:xfrm>
          <a:prstGeom prst="rect">
            <a:avLst/>
          </a:prstGeom>
          <a:ln w="12700">
            <a:miter lim="400000"/>
          </a:ln>
        </p:spPr>
        <p:txBody>
          <a:bodyPr lIns="0" tIns="0" rIns="0" bIns="0" anchor="ctr">
            <a:spAutoFit/>
          </a:bodyPr>
          <a:lstStyle/>
          <a:p>
            <a:pPr algn="ctr">
              <a:defRPr sz="1200" b="1">
                <a:solidFill>
                  <a:srgbClr val="2A2440"/>
                </a:solidFill>
              </a:defRPr>
            </a:pPr>
            <a:r>
              <a:t>Signal</a:t>
            </a:r>
          </a:p>
          <a:p>
            <a:pPr algn="ctr">
              <a:defRPr sz="1200" b="1">
                <a:solidFill>
                  <a:srgbClr val="2A2440"/>
                </a:solidFill>
              </a:defRPr>
            </a:pPr>
            <a:r>
              <a:t>Processing</a:t>
            </a:r>
          </a:p>
        </p:txBody>
      </p:sp>
      <p:sp>
        <p:nvSpPr>
          <p:cNvPr id="103" name="Shape 18"/>
          <p:cNvSpPr/>
          <p:nvPr/>
        </p:nvSpPr>
        <p:spPr>
          <a:xfrm>
            <a:off x="2103120" y="4892040"/>
            <a:ext cx="2468882" cy="822962"/>
          </a:xfrm>
          <a:prstGeom prst="rect">
            <a:avLst/>
          </a:prstGeom>
          <a:solidFill>
            <a:srgbClr val="FFFFFF"/>
          </a:solidFill>
          <a:ln w="12700">
            <a:solidFill>
              <a:srgbClr val="E4DFF0"/>
            </a:solidFill>
          </a:ln>
        </p:spPr>
        <p:txBody>
          <a:bodyPr lIns="45718" tIns="45718" rIns="45718" bIns="45718"/>
          <a:lstStyle/>
          <a:p/>
        </p:txBody>
      </p:sp>
      <p:sp>
        <p:nvSpPr>
          <p:cNvPr id="104" name="Shape 19"/>
          <p:cNvSpPr/>
          <p:nvPr/>
        </p:nvSpPr>
        <p:spPr>
          <a:xfrm>
            <a:off x="2240278" y="5029200"/>
            <a:ext cx="164595" cy="164594"/>
          </a:xfrm>
          <a:prstGeom prst="ellipse">
            <a:avLst/>
          </a:prstGeom>
          <a:solidFill>
            <a:srgbClr val="C47A7A"/>
          </a:solidFill>
          <a:ln w="12700">
            <a:solidFill>
              <a:srgbClr val="C47A7A"/>
            </a:solidFill>
          </a:ln>
        </p:spPr>
        <p:txBody>
          <a:bodyPr lIns="45718" tIns="45718" rIns="45718" bIns="45718"/>
          <a:lstStyle/>
          <a:p/>
        </p:txBody>
      </p:sp>
      <p:sp>
        <p:nvSpPr>
          <p:cNvPr id="105" name="Text 20"/>
          <p:cNvSpPr txBox="1"/>
          <p:nvPr/>
        </p:nvSpPr>
        <p:spPr>
          <a:xfrm>
            <a:off x="2194560" y="5129836"/>
            <a:ext cx="2286002" cy="347366"/>
          </a:xfrm>
          <a:prstGeom prst="rect">
            <a:avLst/>
          </a:prstGeom>
          <a:ln w="12700">
            <a:miter lim="400000"/>
          </a:ln>
        </p:spPr>
        <p:txBody>
          <a:bodyPr lIns="0" tIns="0" rIns="0" bIns="0" anchor="ctr">
            <a:spAutoFit/>
          </a:bodyPr>
          <a:lstStyle/>
          <a:p>
            <a:pPr algn="ctr">
              <a:defRPr sz="1200" b="1">
                <a:solidFill>
                  <a:srgbClr val="2A2440"/>
                </a:solidFill>
              </a:defRPr>
            </a:pPr>
            <a:r>
              <a:t>Anomaly</a:t>
            </a:r>
          </a:p>
          <a:p>
            <a:pPr algn="ctr">
              <a:defRPr sz="1200" b="1">
                <a:solidFill>
                  <a:srgbClr val="2A2440"/>
                </a:solidFill>
              </a:defRPr>
            </a:pPr>
            <a:r>
              <a:t>Detection</a:t>
            </a:r>
          </a:p>
        </p:txBody>
      </p:sp>
      <p:sp>
        <p:nvSpPr>
          <p:cNvPr id="106" name="Shape 21"/>
          <p:cNvSpPr/>
          <p:nvPr/>
        </p:nvSpPr>
        <p:spPr>
          <a:xfrm>
            <a:off x="5486400" y="4892040"/>
            <a:ext cx="2468882" cy="822962"/>
          </a:xfrm>
          <a:prstGeom prst="rect">
            <a:avLst/>
          </a:prstGeom>
          <a:solidFill>
            <a:srgbClr val="FFFFFF"/>
          </a:solidFill>
          <a:ln w="12700">
            <a:solidFill>
              <a:srgbClr val="E4DFF0"/>
            </a:solidFill>
          </a:ln>
        </p:spPr>
        <p:txBody>
          <a:bodyPr lIns="45718" tIns="45718" rIns="45718" bIns="45718"/>
          <a:lstStyle/>
          <a:p/>
        </p:txBody>
      </p:sp>
      <p:sp>
        <p:nvSpPr>
          <p:cNvPr id="107" name="Shape 22"/>
          <p:cNvSpPr/>
          <p:nvPr/>
        </p:nvSpPr>
        <p:spPr>
          <a:xfrm>
            <a:off x="5623559" y="5029200"/>
            <a:ext cx="164595" cy="164594"/>
          </a:xfrm>
          <a:prstGeom prst="ellipse">
            <a:avLst/>
          </a:prstGeom>
          <a:solidFill>
            <a:srgbClr val="C47A7A"/>
          </a:solidFill>
          <a:ln w="12700">
            <a:solidFill>
              <a:srgbClr val="C47A7A"/>
            </a:solidFill>
          </a:ln>
        </p:spPr>
        <p:txBody>
          <a:bodyPr lIns="45718" tIns="45718" rIns="45718" bIns="45718"/>
          <a:lstStyle/>
          <a:p/>
        </p:txBody>
      </p:sp>
      <p:sp>
        <p:nvSpPr>
          <p:cNvPr id="108" name="Text 23"/>
          <p:cNvSpPr txBox="1"/>
          <p:nvPr/>
        </p:nvSpPr>
        <p:spPr>
          <a:xfrm>
            <a:off x="5577840" y="5129836"/>
            <a:ext cx="2286002" cy="347366"/>
          </a:xfrm>
          <a:prstGeom prst="rect">
            <a:avLst/>
          </a:prstGeom>
          <a:ln w="12700">
            <a:miter lim="400000"/>
          </a:ln>
        </p:spPr>
        <p:txBody>
          <a:bodyPr lIns="0" tIns="0" rIns="0" bIns="0" anchor="ctr">
            <a:spAutoFit/>
          </a:bodyPr>
          <a:lstStyle/>
          <a:p>
            <a:pPr algn="ctr">
              <a:defRPr sz="1200" b="1">
                <a:solidFill>
                  <a:srgbClr val="2A2440"/>
                </a:solidFill>
              </a:defRPr>
            </a:pPr>
            <a:r>
              <a:t>Cloud</a:t>
            </a:r>
          </a:p>
          <a:p>
            <a:pPr algn="ctr">
              <a:defRPr sz="1200" b="1">
                <a:solidFill>
                  <a:srgbClr val="2A2440"/>
                </a:solidFill>
              </a:defRPr>
            </a:pPr>
            <a:r>
              <a:t>Upload (MQTT)</a:t>
            </a:r>
          </a:p>
        </p:txBody>
      </p:sp>
      <p:sp>
        <p:nvSpPr>
          <p:cNvPr id="109" name="Shape 24"/>
          <p:cNvSpPr/>
          <p:nvPr/>
        </p:nvSpPr>
        <p:spPr>
          <a:xfrm>
            <a:off x="8869680" y="4892040"/>
            <a:ext cx="2468882" cy="822962"/>
          </a:xfrm>
          <a:prstGeom prst="rect">
            <a:avLst/>
          </a:prstGeom>
          <a:solidFill>
            <a:srgbClr val="FFFFFF"/>
          </a:solidFill>
          <a:ln w="12700">
            <a:solidFill>
              <a:srgbClr val="E4DFF0"/>
            </a:solidFill>
          </a:ln>
        </p:spPr>
        <p:txBody>
          <a:bodyPr lIns="45718" tIns="45718" rIns="45718" bIns="45718"/>
          <a:lstStyle/>
          <a:p/>
        </p:txBody>
      </p:sp>
      <p:sp>
        <p:nvSpPr>
          <p:cNvPr id="110" name="Shape 25"/>
          <p:cNvSpPr/>
          <p:nvPr/>
        </p:nvSpPr>
        <p:spPr>
          <a:xfrm>
            <a:off x="9006840" y="5029200"/>
            <a:ext cx="164595" cy="164594"/>
          </a:xfrm>
          <a:prstGeom prst="ellipse">
            <a:avLst/>
          </a:prstGeom>
          <a:solidFill>
            <a:srgbClr val="C47A7A"/>
          </a:solidFill>
          <a:ln w="12700">
            <a:solidFill>
              <a:srgbClr val="C47A7A"/>
            </a:solidFill>
          </a:ln>
        </p:spPr>
        <p:txBody>
          <a:bodyPr lIns="45718" tIns="45718" rIns="45718" bIns="45718"/>
          <a:lstStyle/>
          <a:p/>
        </p:txBody>
      </p:sp>
      <p:sp>
        <p:nvSpPr>
          <p:cNvPr id="111" name="Text 26"/>
          <p:cNvSpPr txBox="1"/>
          <p:nvPr/>
        </p:nvSpPr>
        <p:spPr>
          <a:xfrm>
            <a:off x="8961118" y="5129836"/>
            <a:ext cx="2286002" cy="347366"/>
          </a:xfrm>
          <a:prstGeom prst="rect">
            <a:avLst/>
          </a:prstGeom>
          <a:ln w="12700">
            <a:miter lim="400000"/>
          </a:ln>
        </p:spPr>
        <p:txBody>
          <a:bodyPr lIns="0" tIns="0" rIns="0" bIns="0" anchor="ctr">
            <a:spAutoFit/>
          </a:bodyPr>
          <a:lstStyle/>
          <a:p>
            <a:pPr algn="ctr">
              <a:defRPr sz="1200" b="1">
                <a:solidFill>
                  <a:srgbClr val="2A2440"/>
                </a:solidFill>
              </a:defRPr>
            </a:pPr>
            <a:r>
              <a:t>Cloud</a:t>
            </a:r>
          </a:p>
          <a:p>
            <a:pPr algn="ctr">
              <a:defRPr sz="1200" b="1">
                <a:solidFill>
                  <a:srgbClr val="2A2440"/>
                </a:solidFill>
              </a:defRPr>
            </a:pPr>
            <a:r>
              <a:t>Dashboard</a:t>
            </a:r>
          </a:p>
        </p:txBody>
      </p:sp>
      <p:sp>
        <p:nvSpPr>
          <p:cNvPr id="112" name="Shape 27"/>
          <p:cNvSpPr/>
          <p:nvPr/>
        </p:nvSpPr>
        <p:spPr>
          <a:xfrm>
            <a:off x="8869680" y="2331720"/>
            <a:ext cx="2468882" cy="822962"/>
          </a:xfrm>
          <a:prstGeom prst="rect">
            <a:avLst/>
          </a:prstGeom>
          <a:solidFill>
            <a:srgbClr val="FFFFFF"/>
          </a:solidFill>
          <a:ln w="12700">
            <a:solidFill>
              <a:srgbClr val="E4DFF0"/>
            </a:solidFill>
          </a:ln>
        </p:spPr>
        <p:txBody>
          <a:bodyPr lIns="45718" tIns="45718" rIns="45718" bIns="45718"/>
          <a:lstStyle/>
          <a:p/>
        </p:txBody>
      </p:sp>
      <p:sp>
        <p:nvSpPr>
          <p:cNvPr id="113" name="Shape 28"/>
          <p:cNvSpPr/>
          <p:nvPr/>
        </p:nvSpPr>
        <p:spPr>
          <a:xfrm>
            <a:off x="9006840" y="2468878"/>
            <a:ext cx="164595" cy="164595"/>
          </a:xfrm>
          <a:prstGeom prst="ellipse">
            <a:avLst/>
          </a:prstGeom>
          <a:solidFill>
            <a:srgbClr val="6FB58A"/>
          </a:solidFill>
          <a:ln w="12700">
            <a:solidFill>
              <a:srgbClr val="6FB58A"/>
            </a:solidFill>
          </a:ln>
        </p:spPr>
        <p:txBody>
          <a:bodyPr lIns="45718" tIns="45718" rIns="45718" bIns="45718"/>
          <a:lstStyle/>
          <a:p/>
        </p:txBody>
      </p:sp>
      <p:sp>
        <p:nvSpPr>
          <p:cNvPr id="114" name="Text 29"/>
          <p:cNvSpPr txBox="1"/>
          <p:nvPr/>
        </p:nvSpPr>
        <p:spPr>
          <a:xfrm>
            <a:off x="8961118" y="2664767"/>
            <a:ext cx="2286002" cy="156865"/>
          </a:xfrm>
          <a:prstGeom prst="rect">
            <a:avLst/>
          </a:prstGeom>
          <a:ln w="12700">
            <a:miter lim="400000"/>
          </a:ln>
        </p:spPr>
        <p:txBody>
          <a:bodyPr lIns="0" tIns="0" rIns="0" bIns="0" anchor="ctr">
            <a:spAutoFit/>
          </a:bodyPr>
          <a:lstStyle>
            <a:lvl1pPr algn="ctr">
              <a:defRPr sz="1200" b="1">
                <a:solidFill>
                  <a:srgbClr val="2A2440"/>
                </a:solidFill>
              </a:defRPr>
            </a:lvl1pPr>
          </a:lstStyle>
          <a:p>
            <a:r>
              <a:t>ESP32S3 MCU</a:t>
            </a:r>
          </a:p>
        </p:txBody>
      </p:sp>
      <p:sp>
        <p:nvSpPr>
          <p:cNvPr id="115" name="Shape 30"/>
          <p:cNvSpPr/>
          <p:nvPr/>
        </p:nvSpPr>
        <p:spPr>
          <a:xfrm>
            <a:off x="2148839" y="3058667"/>
            <a:ext cx="1" cy="457202"/>
          </a:xfrm>
          <a:prstGeom prst="line">
            <a:avLst/>
          </a:prstGeom>
          <a:ln w="15875">
            <a:solidFill>
              <a:srgbClr val="7A7490"/>
            </a:solidFill>
          </a:ln>
        </p:spPr>
        <p:txBody>
          <a:bodyPr lIns="45718" tIns="45718" rIns="45718" bIns="45718"/>
          <a:lstStyle/>
          <a:p/>
        </p:txBody>
      </p:sp>
      <p:sp>
        <p:nvSpPr>
          <p:cNvPr id="116" name="Shape 31"/>
          <p:cNvSpPr/>
          <p:nvPr/>
        </p:nvSpPr>
        <p:spPr>
          <a:xfrm>
            <a:off x="2159590" y="3507929"/>
            <a:ext cx="1151648" cy="3"/>
          </a:xfrm>
          <a:prstGeom prst="line">
            <a:avLst/>
          </a:prstGeom>
          <a:ln w="15875">
            <a:solidFill>
              <a:srgbClr val="7A7490"/>
            </a:solidFill>
          </a:ln>
        </p:spPr>
        <p:txBody>
          <a:bodyPr lIns="45718" tIns="45718" rIns="45718" bIns="45718"/>
          <a:lstStyle/>
          <a:p/>
        </p:txBody>
      </p:sp>
      <p:sp>
        <p:nvSpPr>
          <p:cNvPr id="117" name="Shape 32"/>
          <p:cNvSpPr/>
          <p:nvPr/>
        </p:nvSpPr>
        <p:spPr>
          <a:xfrm>
            <a:off x="4526279" y="3058667"/>
            <a:ext cx="2" cy="457202"/>
          </a:xfrm>
          <a:prstGeom prst="line">
            <a:avLst/>
          </a:prstGeom>
          <a:ln w="15875">
            <a:solidFill>
              <a:srgbClr val="7A7490"/>
            </a:solidFill>
          </a:ln>
        </p:spPr>
        <p:txBody>
          <a:bodyPr lIns="45718" tIns="45718" rIns="45718" bIns="45718"/>
          <a:lstStyle/>
          <a:p/>
        </p:txBody>
      </p:sp>
      <p:sp>
        <p:nvSpPr>
          <p:cNvPr id="118" name="Shape 33"/>
          <p:cNvSpPr/>
          <p:nvPr/>
        </p:nvSpPr>
        <p:spPr>
          <a:xfrm>
            <a:off x="3311235" y="3507929"/>
            <a:ext cx="1198814" cy="3"/>
          </a:xfrm>
          <a:prstGeom prst="line">
            <a:avLst/>
          </a:prstGeom>
          <a:ln w="15875">
            <a:solidFill>
              <a:srgbClr val="7A7490"/>
            </a:solidFill>
          </a:ln>
        </p:spPr>
        <p:txBody>
          <a:bodyPr lIns="45718" tIns="45718" rIns="45718" bIns="45718"/>
          <a:lstStyle/>
          <a:p/>
        </p:txBody>
      </p:sp>
      <p:sp>
        <p:nvSpPr>
          <p:cNvPr id="119" name="Shape 34"/>
          <p:cNvSpPr/>
          <p:nvPr/>
        </p:nvSpPr>
        <p:spPr>
          <a:xfrm>
            <a:off x="3337559" y="4434840"/>
            <a:ext cx="2" cy="457202"/>
          </a:xfrm>
          <a:prstGeom prst="line">
            <a:avLst/>
          </a:prstGeom>
          <a:ln w="15875">
            <a:solidFill>
              <a:srgbClr val="7A7490"/>
            </a:solidFill>
            <a:prstDash val="dash"/>
          </a:ln>
        </p:spPr>
        <p:txBody>
          <a:bodyPr lIns="45718" tIns="45718" rIns="45718" bIns="45718"/>
          <a:lstStyle/>
          <a:p/>
        </p:txBody>
      </p:sp>
      <p:sp>
        <p:nvSpPr>
          <p:cNvPr id="120" name="Shape 35"/>
          <p:cNvSpPr/>
          <p:nvPr/>
        </p:nvSpPr>
        <p:spPr>
          <a:xfrm>
            <a:off x="4572000" y="5303519"/>
            <a:ext cx="914400" cy="2"/>
          </a:xfrm>
          <a:prstGeom prst="line">
            <a:avLst/>
          </a:prstGeom>
          <a:ln w="15875">
            <a:solidFill>
              <a:srgbClr val="7A7490"/>
            </a:solidFill>
            <a:prstDash val="dash"/>
          </a:ln>
        </p:spPr>
        <p:txBody>
          <a:bodyPr lIns="45718" tIns="45718" rIns="45718" bIns="45718"/>
          <a:lstStyle/>
          <a:p/>
        </p:txBody>
      </p:sp>
      <p:sp>
        <p:nvSpPr>
          <p:cNvPr id="121" name="Shape 36"/>
          <p:cNvSpPr/>
          <p:nvPr/>
        </p:nvSpPr>
        <p:spPr>
          <a:xfrm>
            <a:off x="7955280" y="5303519"/>
            <a:ext cx="914402" cy="2"/>
          </a:xfrm>
          <a:prstGeom prst="line">
            <a:avLst/>
          </a:prstGeom>
          <a:ln w="15875">
            <a:solidFill>
              <a:srgbClr val="7A7490"/>
            </a:solidFill>
            <a:prstDash val="dash"/>
          </a:ln>
        </p:spPr>
        <p:txBody>
          <a:bodyPr lIns="45718" tIns="45718" rIns="45718" bIns="45718"/>
          <a:lstStyle/>
          <a:p/>
        </p:txBody>
      </p:sp>
      <p:sp>
        <p:nvSpPr>
          <p:cNvPr id="122" name="Shape 37"/>
          <p:cNvSpPr/>
          <p:nvPr/>
        </p:nvSpPr>
        <p:spPr>
          <a:xfrm>
            <a:off x="10104118" y="4160519"/>
            <a:ext cx="3" cy="731522"/>
          </a:xfrm>
          <a:prstGeom prst="line">
            <a:avLst/>
          </a:prstGeom>
          <a:ln w="15875">
            <a:solidFill>
              <a:srgbClr val="7C6BB5"/>
            </a:solidFill>
            <a:prstDash val="dash"/>
          </a:ln>
        </p:spPr>
        <p:txBody>
          <a:bodyPr lIns="45718" tIns="45718" rIns="45718" bIns="45718"/>
          <a:lstStyle/>
          <a:p/>
        </p:txBody>
      </p:sp>
      <p:sp>
        <p:nvSpPr>
          <p:cNvPr id="123" name="Shape 38"/>
          <p:cNvSpPr/>
          <p:nvPr/>
        </p:nvSpPr>
        <p:spPr>
          <a:xfrm>
            <a:off x="4570412" y="4160520"/>
            <a:ext cx="5533709" cy="1"/>
          </a:xfrm>
          <a:prstGeom prst="line">
            <a:avLst/>
          </a:prstGeom>
          <a:ln w="15875">
            <a:solidFill>
              <a:srgbClr val="7C6BB5"/>
            </a:solidFill>
            <a:prstDash val="dash"/>
          </a:ln>
        </p:spPr>
        <p:txBody>
          <a:bodyPr lIns="45718" tIns="45718" rIns="45718" bIns="45718"/>
          <a:lstStyle/>
          <a:p/>
        </p:txBody>
      </p:sp>
      <p:sp>
        <p:nvSpPr>
          <p:cNvPr id="124" name="Text 39"/>
          <p:cNvSpPr txBox="1"/>
          <p:nvPr/>
        </p:nvSpPr>
        <p:spPr>
          <a:xfrm>
            <a:off x="5943600" y="3927392"/>
            <a:ext cx="3657600" cy="137071"/>
          </a:xfrm>
          <a:prstGeom prst="rect">
            <a:avLst/>
          </a:prstGeom>
          <a:ln w="12700">
            <a:miter lim="400000"/>
          </a:ln>
        </p:spPr>
        <p:txBody>
          <a:bodyPr lIns="0" tIns="0" rIns="0" bIns="0" anchor="ctr">
            <a:spAutoFit/>
          </a:bodyPr>
          <a:lstStyle>
            <a:lvl1pPr algn="ctr">
              <a:defRPr sz="1000" i="1">
                <a:solidFill>
                  <a:srgbClr val="7C6BB5"/>
                </a:solidFill>
              </a:defRPr>
            </a:lvl1pPr>
          </a:lstStyle>
          <a:p>
            <a:r>
              <a:t>feedback: updated baseline</a:t>
            </a:r>
          </a:p>
        </p:txBody>
      </p:sp>
      <p:sp>
        <p:nvSpPr>
          <p:cNvPr id="125" name="Text 40"/>
          <p:cNvSpPr txBox="1"/>
          <p:nvPr/>
        </p:nvSpPr>
        <p:spPr>
          <a:xfrm>
            <a:off x="548638" y="6240824"/>
            <a:ext cx="11064244" cy="137071"/>
          </a:xfrm>
          <a:prstGeom prst="rect">
            <a:avLst/>
          </a:prstGeom>
          <a:ln w="12700">
            <a:miter lim="400000"/>
          </a:ln>
        </p:spPr>
        <p:txBody>
          <a:bodyPr lIns="0" tIns="0" rIns="0" bIns="0" anchor="ctr">
            <a:spAutoFit/>
          </a:bodyPr>
          <a:lstStyle>
            <a:lvl1pPr>
              <a:defRPr sz="1000" i="1">
                <a:solidFill>
                  <a:srgbClr val="7A7490"/>
                </a:solidFill>
              </a:defRPr>
            </a:lvl1pPr>
          </a:lstStyle>
          <a:p>
            <a:r>
              <a:t>Solid lines mark tested interfaces. Dashed lines mark interfaces not yet verified. Update block status as components move from in progress to proven.</a:t>
            </a:r>
          </a:p>
        </p:txBody>
      </p:sp>
      <p:sp>
        <p:nvSpPr>
          <p:cNvPr id="126" name="Shape 41"/>
          <p:cNvSpPr/>
          <p:nvPr/>
        </p:nvSpPr>
        <p:spPr>
          <a:xfrm>
            <a:off x="548638" y="6446520"/>
            <a:ext cx="11064244" cy="1"/>
          </a:xfrm>
          <a:prstGeom prst="line">
            <a:avLst/>
          </a:prstGeom>
          <a:ln>
            <a:solidFill>
              <a:srgbClr val="E4DFF0"/>
            </a:solidFill>
          </a:ln>
        </p:spPr>
        <p:txBody>
          <a:bodyPr lIns="45718" tIns="45718" rIns="45718" bIns="45718"/>
          <a:lstStyle/>
          <a:p/>
        </p:txBody>
      </p:sp>
      <p:sp>
        <p:nvSpPr>
          <p:cNvPr id="127" name="Text 42"/>
          <p:cNvSpPr txBox="1"/>
          <p:nvPr/>
        </p:nvSpPr>
        <p:spPr>
          <a:xfrm>
            <a:off x="548640" y="6560864"/>
            <a:ext cx="7315201" cy="137071"/>
          </a:xfrm>
          <a:prstGeom prst="rect">
            <a:avLst/>
          </a:prstGeom>
          <a:ln w="12700">
            <a:miter lim="400000"/>
          </a:ln>
        </p:spPr>
        <p:txBody>
          <a:bodyPr lIns="0" tIns="0" rIns="0" bIns="0" anchor="ctr">
            <a:spAutoFit/>
          </a:bodyPr>
          <a:lstStyle>
            <a:lvl1pPr>
              <a:defRPr sz="1000">
                <a:solidFill>
                  <a:srgbClr val="7A7490"/>
                </a:solidFill>
              </a:defRPr>
            </a:lvl1pPr>
          </a:lstStyle>
          <a:p>
            <a:r>
              <a:t>Smart Cat Litter Box Monitor   |   Milestone 1</a:t>
            </a:r>
          </a:p>
        </p:txBody>
      </p:sp>
      <p:sp>
        <p:nvSpPr>
          <p:cNvPr id="128" name="Text 43"/>
          <p:cNvSpPr txBox="1"/>
          <p:nvPr/>
        </p:nvSpPr>
        <p:spPr>
          <a:xfrm>
            <a:off x="10698480" y="6560864"/>
            <a:ext cx="914402" cy="137071"/>
          </a:xfrm>
          <a:prstGeom prst="rect">
            <a:avLst/>
          </a:prstGeom>
          <a:ln w="12700">
            <a:miter lim="400000"/>
          </a:ln>
        </p:spPr>
        <p:txBody>
          <a:bodyPr lIns="0" tIns="0" rIns="0" bIns="0" anchor="ctr">
            <a:spAutoFit/>
          </a:bodyPr>
          <a:lstStyle>
            <a:lvl1pPr algn="r">
              <a:defRPr sz="1000">
                <a:solidFill>
                  <a:srgbClr val="7A7490"/>
                </a:solidFill>
              </a:defRPr>
            </a:lvl1pPr>
          </a:lstStyle>
          <a:p>
            <a:r>
              <a:t>4 / 6</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30" name="Shape 0"/>
          <p:cNvSpPr/>
          <p:nvPr/>
        </p:nvSpPr>
        <p:spPr>
          <a:xfrm>
            <a:off x="548640" y="530351"/>
            <a:ext cx="146306" cy="146306"/>
          </a:xfrm>
          <a:prstGeom prst="rect">
            <a:avLst/>
          </a:prstGeom>
          <a:solidFill>
            <a:srgbClr val="7C6BB5"/>
          </a:solidFill>
          <a:ln w="12700">
            <a:solidFill>
              <a:srgbClr val="7C6BB5"/>
            </a:solidFill>
          </a:ln>
        </p:spPr>
        <p:txBody>
          <a:bodyPr lIns="45718" tIns="45718" rIns="45718" bIns="45718"/>
          <a:lstStyle/>
          <a:p/>
        </p:txBody>
      </p:sp>
      <p:sp>
        <p:nvSpPr>
          <p:cNvPr id="131" name="Text 1"/>
          <p:cNvSpPr txBox="1"/>
          <p:nvPr/>
        </p:nvSpPr>
        <p:spPr>
          <a:xfrm>
            <a:off x="777239" y="534967"/>
            <a:ext cx="5486403" cy="137072"/>
          </a:xfrm>
          <a:prstGeom prst="rect">
            <a:avLst/>
          </a:prstGeom>
          <a:ln w="12700">
            <a:miter lim="400000"/>
          </a:ln>
        </p:spPr>
        <p:txBody>
          <a:bodyPr lIns="0" tIns="0" rIns="0" bIns="0" anchor="ctr">
            <a:spAutoFit/>
          </a:bodyPr>
          <a:lstStyle>
            <a:lvl1pPr>
              <a:defRPr sz="1000" b="1" spc="250">
                <a:solidFill>
                  <a:srgbClr val="7C6BB5"/>
                </a:solidFill>
              </a:defRPr>
            </a:lvl1pPr>
          </a:lstStyle>
          <a:p>
            <a:r>
              <a:t>03  ARCHITECTURE</a:t>
            </a:r>
          </a:p>
        </p:txBody>
      </p:sp>
      <p:sp>
        <p:nvSpPr>
          <p:cNvPr id="132" name="Text 2"/>
          <p:cNvSpPr txBox="1"/>
          <p:nvPr/>
        </p:nvSpPr>
        <p:spPr>
          <a:xfrm>
            <a:off x="548639" y="989329"/>
            <a:ext cx="6461096" cy="444501"/>
          </a:xfrm>
          <a:prstGeom prst="rect">
            <a:avLst/>
          </a:prstGeom>
          <a:ln w="12700">
            <a:miter lim="400000"/>
          </a:ln>
        </p:spPr>
        <p:txBody>
          <a:bodyPr lIns="0" tIns="0" rIns="0" bIns="0" anchor="ctr">
            <a:spAutoFit/>
          </a:bodyPr>
          <a:lstStyle>
            <a:lvl1pPr>
              <a:defRPr sz="3000" b="1">
                <a:solidFill>
                  <a:srgbClr val="2A2440"/>
                </a:solidFill>
                <a:latin typeface="Georgia" panose="02040502050405020303"/>
                <a:ea typeface="Georgia" panose="02040502050405020303"/>
                <a:cs typeface="Georgia" panose="02040502050405020303"/>
                <a:sym typeface="Georgia" panose="02040502050405020303"/>
              </a:defRPr>
            </a:lvl1pPr>
          </a:lstStyle>
          <a:p>
            <a:r>
              <a:t>Updated System Architecture</a:t>
            </a:r>
          </a:p>
        </p:txBody>
      </p:sp>
      <p:sp>
        <p:nvSpPr>
          <p:cNvPr id="133" name="Text 40"/>
          <p:cNvSpPr txBox="1"/>
          <p:nvPr/>
        </p:nvSpPr>
        <p:spPr>
          <a:xfrm>
            <a:off x="548638" y="6240824"/>
            <a:ext cx="11064244" cy="137071"/>
          </a:xfrm>
          <a:prstGeom prst="rect">
            <a:avLst/>
          </a:prstGeom>
          <a:ln w="12700">
            <a:miter lim="400000"/>
          </a:ln>
        </p:spPr>
        <p:txBody>
          <a:bodyPr lIns="0" tIns="0" rIns="0" bIns="0" anchor="ctr">
            <a:spAutoFit/>
          </a:bodyPr>
          <a:lstStyle>
            <a:lvl1pPr>
              <a:defRPr sz="1000" i="1">
                <a:solidFill>
                  <a:srgbClr val="7A7490"/>
                </a:solidFill>
              </a:defRPr>
            </a:lvl1pPr>
          </a:lstStyle>
          <a:p>
            <a:r>
              <a:t>Solid lines mark tested interfaces. Dashed lines mark interfaces not yet verified. Update block status as components move from in progress to proven.</a:t>
            </a:r>
          </a:p>
        </p:txBody>
      </p:sp>
      <p:sp>
        <p:nvSpPr>
          <p:cNvPr id="134" name="Shape 41"/>
          <p:cNvSpPr/>
          <p:nvPr/>
        </p:nvSpPr>
        <p:spPr>
          <a:xfrm>
            <a:off x="548638" y="6446520"/>
            <a:ext cx="11064244" cy="1"/>
          </a:xfrm>
          <a:prstGeom prst="line">
            <a:avLst/>
          </a:prstGeom>
          <a:ln>
            <a:solidFill>
              <a:srgbClr val="E4DFF0"/>
            </a:solidFill>
          </a:ln>
        </p:spPr>
        <p:txBody>
          <a:bodyPr lIns="45718" tIns="45718" rIns="45718" bIns="45718"/>
          <a:lstStyle/>
          <a:p/>
        </p:txBody>
      </p:sp>
      <p:sp>
        <p:nvSpPr>
          <p:cNvPr id="135" name="Text 42"/>
          <p:cNvSpPr txBox="1"/>
          <p:nvPr/>
        </p:nvSpPr>
        <p:spPr>
          <a:xfrm>
            <a:off x="548640" y="6560864"/>
            <a:ext cx="7315201" cy="137071"/>
          </a:xfrm>
          <a:prstGeom prst="rect">
            <a:avLst/>
          </a:prstGeom>
          <a:ln w="12700">
            <a:miter lim="400000"/>
          </a:ln>
        </p:spPr>
        <p:txBody>
          <a:bodyPr lIns="0" tIns="0" rIns="0" bIns="0" anchor="ctr">
            <a:spAutoFit/>
          </a:bodyPr>
          <a:lstStyle>
            <a:lvl1pPr>
              <a:defRPr sz="1000">
                <a:solidFill>
                  <a:srgbClr val="7A7490"/>
                </a:solidFill>
              </a:defRPr>
            </a:lvl1pPr>
          </a:lstStyle>
          <a:p>
            <a:r>
              <a:t>Smart Cat Litter Box Monitor   |   Milestone 1</a:t>
            </a:r>
          </a:p>
        </p:txBody>
      </p:sp>
      <p:sp>
        <p:nvSpPr>
          <p:cNvPr id="136" name="Text 43"/>
          <p:cNvSpPr txBox="1"/>
          <p:nvPr/>
        </p:nvSpPr>
        <p:spPr>
          <a:xfrm>
            <a:off x="10698480" y="6560864"/>
            <a:ext cx="914402" cy="137071"/>
          </a:xfrm>
          <a:prstGeom prst="rect">
            <a:avLst/>
          </a:prstGeom>
          <a:ln w="12700">
            <a:miter lim="400000"/>
          </a:ln>
        </p:spPr>
        <p:txBody>
          <a:bodyPr lIns="0" tIns="0" rIns="0" bIns="0" anchor="ctr">
            <a:spAutoFit/>
          </a:bodyPr>
          <a:lstStyle>
            <a:lvl1pPr algn="r">
              <a:defRPr sz="1000">
                <a:solidFill>
                  <a:srgbClr val="7A7490"/>
                </a:solidFill>
              </a:defRPr>
            </a:lvl1pPr>
          </a:lstStyle>
          <a:p>
            <a:r>
              <a:t>4 / 6</a:t>
            </a:r>
          </a:p>
        </p:txBody>
      </p:sp>
      <p:pic>
        <p:nvPicPr>
          <p:cNvPr id="137" name="截屏2026-04-18 下午8.39.01.png" descr="截屏2026-04-18 下午8.39.01.png"/>
          <p:cNvPicPr>
            <a:picLocks noChangeAspect="1"/>
          </p:cNvPicPr>
          <p:nvPr/>
        </p:nvPicPr>
        <p:blipFill>
          <a:blip r:embed="rId1"/>
          <a:stretch>
            <a:fillRect/>
          </a:stretch>
        </p:blipFill>
        <p:spPr>
          <a:xfrm>
            <a:off x="761365" y="1562735"/>
            <a:ext cx="5502275" cy="4549140"/>
          </a:xfrm>
          <a:prstGeom prst="rect">
            <a:avLst/>
          </a:prstGeom>
          <a:ln w="12700">
            <a:miter lim="400000"/>
            <a:headEnd/>
            <a:tailEnd/>
          </a:ln>
        </p:spPr>
      </p:pic>
      <p:pic>
        <p:nvPicPr>
          <p:cNvPr id="2" name="图片 1" descr="0b8a45fce2cb29ac4f23c6205e532942"/>
          <p:cNvPicPr>
            <a:picLocks noChangeAspect="1"/>
          </p:cNvPicPr>
          <p:nvPr/>
        </p:nvPicPr>
        <p:blipFill>
          <a:blip r:embed="rId2"/>
          <a:stretch>
            <a:fillRect/>
          </a:stretch>
        </p:blipFill>
        <p:spPr>
          <a:xfrm>
            <a:off x="7463790" y="1124585"/>
            <a:ext cx="3222625" cy="2417445"/>
          </a:xfrm>
          <a:prstGeom prst="rect">
            <a:avLst/>
          </a:prstGeom>
        </p:spPr>
      </p:pic>
      <p:pic>
        <p:nvPicPr>
          <p:cNvPr id="3" name="图片 2" descr="7f5b198d1e557547be02981a417c238c"/>
          <p:cNvPicPr>
            <a:picLocks noChangeAspect="1"/>
          </p:cNvPicPr>
          <p:nvPr/>
        </p:nvPicPr>
        <p:blipFill>
          <a:blip r:embed="rId3"/>
          <a:stretch>
            <a:fillRect/>
          </a:stretch>
        </p:blipFill>
        <p:spPr>
          <a:xfrm>
            <a:off x="7463790" y="3644900"/>
            <a:ext cx="3208020" cy="2406015"/>
          </a:xfrm>
          <a:prstGeom prst="rect">
            <a:avLst/>
          </a:prstGeom>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39" name="Shape 0"/>
          <p:cNvSpPr/>
          <p:nvPr/>
        </p:nvSpPr>
        <p:spPr>
          <a:xfrm>
            <a:off x="548640" y="530351"/>
            <a:ext cx="146306" cy="146306"/>
          </a:xfrm>
          <a:prstGeom prst="rect">
            <a:avLst/>
          </a:prstGeom>
          <a:solidFill>
            <a:srgbClr val="7C6BB5"/>
          </a:solidFill>
          <a:ln w="12700">
            <a:solidFill>
              <a:srgbClr val="7C6BB5"/>
            </a:solidFill>
          </a:ln>
        </p:spPr>
        <p:txBody>
          <a:bodyPr lIns="45718" tIns="45718" rIns="45718" bIns="45718"/>
          <a:lstStyle/>
          <a:p/>
        </p:txBody>
      </p:sp>
      <p:sp>
        <p:nvSpPr>
          <p:cNvPr id="140" name="Text 1"/>
          <p:cNvSpPr txBox="1"/>
          <p:nvPr/>
        </p:nvSpPr>
        <p:spPr>
          <a:xfrm>
            <a:off x="777239" y="534967"/>
            <a:ext cx="5486403" cy="137072"/>
          </a:xfrm>
          <a:prstGeom prst="rect">
            <a:avLst/>
          </a:prstGeom>
          <a:ln w="12700">
            <a:miter lim="400000"/>
          </a:ln>
        </p:spPr>
        <p:txBody>
          <a:bodyPr lIns="0" tIns="0" rIns="0" bIns="0" anchor="ctr">
            <a:spAutoFit/>
          </a:bodyPr>
          <a:lstStyle>
            <a:lvl1pPr>
              <a:defRPr sz="1000" b="1" spc="250">
                <a:solidFill>
                  <a:srgbClr val="7C6BB5"/>
                </a:solidFill>
              </a:defRPr>
            </a:lvl1pPr>
          </a:lstStyle>
          <a:p>
            <a:r>
              <a:t>04  VALIDATION</a:t>
            </a:r>
          </a:p>
        </p:txBody>
      </p:sp>
      <p:sp>
        <p:nvSpPr>
          <p:cNvPr id="141" name="Text 2"/>
          <p:cNvSpPr txBox="1"/>
          <p:nvPr/>
        </p:nvSpPr>
        <p:spPr>
          <a:xfrm>
            <a:off x="548638" y="989329"/>
            <a:ext cx="11064244" cy="444501"/>
          </a:xfrm>
          <a:prstGeom prst="rect">
            <a:avLst/>
          </a:prstGeom>
          <a:ln w="12700">
            <a:miter lim="400000"/>
          </a:ln>
        </p:spPr>
        <p:txBody>
          <a:bodyPr lIns="0" tIns="0" rIns="0" bIns="0" anchor="ctr">
            <a:spAutoFit/>
          </a:bodyPr>
          <a:lstStyle>
            <a:lvl1pPr>
              <a:defRPr sz="3000" b="1">
                <a:solidFill>
                  <a:srgbClr val="2A2440"/>
                </a:solidFill>
                <a:latin typeface="Georgia" panose="02040502050405020303"/>
                <a:ea typeface="Georgia" panose="02040502050405020303"/>
                <a:cs typeface="Georgia" panose="02040502050405020303"/>
                <a:sym typeface="Georgia" panose="02040502050405020303"/>
              </a:defRPr>
            </a:lvl1pPr>
          </a:lstStyle>
          <a:p>
            <a:r>
              <a:t>Component Validation &amp; Results</a:t>
            </a:r>
          </a:p>
        </p:txBody>
      </p:sp>
      <p:sp>
        <p:nvSpPr>
          <p:cNvPr id="142" name="Text 3"/>
          <p:cNvSpPr txBox="1"/>
          <p:nvPr/>
        </p:nvSpPr>
        <p:spPr>
          <a:xfrm>
            <a:off x="548638" y="1781240"/>
            <a:ext cx="11064244" cy="186558"/>
          </a:xfrm>
          <a:prstGeom prst="rect">
            <a:avLst/>
          </a:prstGeom>
          <a:ln w="12700">
            <a:miter lim="400000"/>
          </a:ln>
        </p:spPr>
        <p:txBody>
          <a:bodyPr lIns="0" tIns="0" rIns="0" bIns="0" anchor="ctr">
            <a:spAutoFit/>
          </a:bodyPr>
          <a:lstStyle>
            <a:lvl1pPr>
              <a:defRPr sz="1500" i="1">
                <a:solidFill>
                  <a:srgbClr val="7A7490"/>
                </a:solidFill>
              </a:defRPr>
            </a:lvl1pPr>
          </a:lstStyle>
          <a:p>
            <a:r>
              <a:t>Each component validated with a quantitative test. Evidence: photos, plots, and commits.</a:t>
            </a:r>
          </a:p>
        </p:txBody>
      </p:sp>
      <p:sp>
        <p:nvSpPr>
          <p:cNvPr id="143" name="Shape 4"/>
          <p:cNvSpPr/>
          <p:nvPr/>
        </p:nvSpPr>
        <p:spPr>
          <a:xfrm>
            <a:off x="548639" y="2194560"/>
            <a:ext cx="3657603" cy="4160521"/>
          </a:xfrm>
          <a:prstGeom prst="rect">
            <a:avLst/>
          </a:prstGeom>
          <a:solidFill>
            <a:srgbClr val="FFFFFF"/>
          </a:solidFill>
          <a:ln w="12700">
            <a:solidFill>
              <a:srgbClr val="E4DFF0"/>
            </a:solidFill>
          </a:ln>
        </p:spPr>
        <p:txBody>
          <a:bodyPr lIns="45718" tIns="45718" rIns="45718" bIns="45718"/>
          <a:lstStyle/>
          <a:p/>
        </p:txBody>
      </p:sp>
      <p:sp>
        <p:nvSpPr>
          <p:cNvPr id="144" name="Text 5"/>
          <p:cNvSpPr txBox="1"/>
          <p:nvPr/>
        </p:nvSpPr>
        <p:spPr>
          <a:xfrm>
            <a:off x="822960" y="2400343"/>
            <a:ext cx="914402" cy="137072"/>
          </a:xfrm>
          <a:prstGeom prst="rect">
            <a:avLst/>
          </a:prstGeom>
          <a:ln w="12700">
            <a:miter lim="400000"/>
          </a:ln>
        </p:spPr>
        <p:txBody>
          <a:bodyPr lIns="0" tIns="0" rIns="0" bIns="0" anchor="ctr">
            <a:spAutoFit/>
          </a:bodyPr>
          <a:lstStyle>
            <a:lvl1pPr>
              <a:defRPr sz="1000" b="1" spc="200">
                <a:solidFill>
                  <a:srgbClr val="7C6BB5"/>
                </a:solidFill>
              </a:defRPr>
            </a:lvl1pPr>
          </a:lstStyle>
          <a:p>
            <a:r>
              <a:t>01</a:t>
            </a:r>
          </a:p>
        </p:txBody>
      </p:sp>
      <p:sp>
        <p:nvSpPr>
          <p:cNvPr id="145" name="Text 6"/>
          <p:cNvSpPr txBox="1"/>
          <p:nvPr/>
        </p:nvSpPr>
        <p:spPr>
          <a:xfrm>
            <a:off x="822958" y="2674664"/>
            <a:ext cx="3291844" cy="137071"/>
          </a:xfrm>
          <a:prstGeom prst="rect">
            <a:avLst/>
          </a:prstGeom>
          <a:ln w="12700">
            <a:miter lim="400000"/>
          </a:ln>
        </p:spPr>
        <p:txBody>
          <a:bodyPr lIns="0" tIns="0" rIns="0" bIns="0" anchor="ctr">
            <a:spAutoFit/>
          </a:bodyPr>
          <a:lstStyle>
            <a:lvl1pPr>
              <a:defRPr sz="1000" b="1" spc="150">
                <a:solidFill>
                  <a:srgbClr val="7A7490"/>
                </a:solidFill>
              </a:defRPr>
            </a:lvl1pPr>
          </a:lstStyle>
          <a:p>
            <a:r>
              <a:t>YUNA XIONG</a:t>
            </a:r>
          </a:p>
        </p:txBody>
      </p:sp>
      <p:sp>
        <p:nvSpPr>
          <p:cNvPr id="146" name="Text 7"/>
          <p:cNvSpPr txBox="1"/>
          <p:nvPr/>
        </p:nvSpPr>
        <p:spPr>
          <a:xfrm>
            <a:off x="822958" y="2939033"/>
            <a:ext cx="3291844" cy="266701"/>
          </a:xfrm>
          <a:prstGeom prst="rect">
            <a:avLst/>
          </a:prstGeom>
          <a:ln w="12700">
            <a:miter lim="400000"/>
          </a:ln>
        </p:spPr>
        <p:txBody>
          <a:bodyPr lIns="0" tIns="0" rIns="0" bIns="0" anchor="ctr">
            <a:spAutoFit/>
          </a:bodyPr>
          <a:lstStyle>
            <a:lvl1pPr>
              <a:defRPr b="1">
                <a:solidFill>
                  <a:srgbClr val="2A2440"/>
                </a:solidFill>
                <a:latin typeface="Georgia" panose="02040502050405020303"/>
                <a:ea typeface="Georgia" panose="02040502050405020303"/>
                <a:cs typeface="Georgia" panose="02040502050405020303"/>
                <a:sym typeface="Georgia" panose="02040502050405020303"/>
              </a:defRPr>
            </a:lvl1pPr>
          </a:lstStyle>
          <a:p>
            <a:r>
              <a:t>Sensor Hardware</a:t>
            </a:r>
          </a:p>
        </p:txBody>
      </p:sp>
      <p:sp>
        <p:nvSpPr>
          <p:cNvPr id="147" name="Shape 8"/>
          <p:cNvSpPr/>
          <p:nvPr/>
        </p:nvSpPr>
        <p:spPr>
          <a:xfrm>
            <a:off x="822960" y="3383278"/>
            <a:ext cx="3108962" cy="3"/>
          </a:xfrm>
          <a:prstGeom prst="line">
            <a:avLst/>
          </a:prstGeom>
          <a:ln>
            <a:solidFill>
              <a:srgbClr val="E4DFF0"/>
            </a:solidFill>
          </a:ln>
        </p:spPr>
        <p:txBody>
          <a:bodyPr lIns="45718" tIns="45718" rIns="45718" bIns="45718"/>
          <a:lstStyle/>
          <a:p/>
        </p:txBody>
      </p:sp>
      <p:sp>
        <p:nvSpPr>
          <p:cNvPr id="148" name="Text 9"/>
          <p:cNvSpPr txBox="1"/>
          <p:nvPr/>
        </p:nvSpPr>
        <p:spPr>
          <a:xfrm>
            <a:off x="822960" y="3589064"/>
            <a:ext cx="2743202" cy="137071"/>
          </a:xfrm>
          <a:prstGeom prst="rect">
            <a:avLst/>
          </a:prstGeom>
          <a:ln w="12700">
            <a:miter lim="400000"/>
          </a:ln>
        </p:spPr>
        <p:txBody>
          <a:bodyPr lIns="0" tIns="0" rIns="0" bIns="0" anchor="ctr">
            <a:spAutoFit/>
          </a:bodyPr>
          <a:lstStyle>
            <a:lvl1pPr>
              <a:defRPr sz="1000" b="1" spc="150">
                <a:solidFill>
                  <a:srgbClr val="7C6BB5"/>
                </a:solidFill>
              </a:defRPr>
            </a:lvl1pPr>
          </a:lstStyle>
          <a:p>
            <a:r>
              <a:t>METHOD</a:t>
            </a:r>
          </a:p>
        </p:txBody>
      </p:sp>
      <p:sp>
        <p:nvSpPr>
          <p:cNvPr id="149" name="Text 10"/>
          <p:cNvSpPr txBox="1"/>
          <p:nvPr/>
        </p:nvSpPr>
        <p:spPr>
          <a:xfrm>
            <a:off x="822960" y="3945058"/>
            <a:ext cx="3108962" cy="979563"/>
          </a:xfrm>
          <a:prstGeom prst="rect">
            <a:avLst/>
          </a:prstGeom>
          <a:ln w="12700">
            <a:miter lim="400000"/>
          </a:ln>
        </p:spPr>
        <p:txBody>
          <a:bodyPr lIns="0" tIns="0" rIns="0" bIns="0" anchor="ctr">
            <a:spAutoFit/>
          </a:bodyPr>
          <a:lstStyle>
            <a:lvl1pPr>
              <a:defRPr sz="1300">
                <a:solidFill>
                  <a:srgbClr val="2A2440"/>
                </a:solidFill>
              </a:defRPr>
            </a:lvl1pPr>
          </a:lstStyle>
          <a:p>
            <a:r>
              <a:t>Connected the HX711 load cell to the XIAO ESP32S3 and placed a 201.56 g reference weight 20 times. Each reading was recorded after a 5000 ms stabilization window at 1000 ms intervals.</a:t>
            </a:r>
          </a:p>
        </p:txBody>
      </p:sp>
      <p:sp>
        <p:nvSpPr>
          <p:cNvPr id="150" name="Shape 11"/>
          <p:cNvSpPr/>
          <p:nvPr/>
        </p:nvSpPr>
        <p:spPr>
          <a:xfrm>
            <a:off x="822960" y="5166359"/>
            <a:ext cx="3108962" cy="966862"/>
          </a:xfrm>
          <a:prstGeom prst="rect">
            <a:avLst/>
          </a:prstGeom>
          <a:solidFill>
            <a:srgbClr val="EEEAF7"/>
          </a:solidFill>
          <a:ln w="12700">
            <a:solidFill>
              <a:srgbClr val="EEEAF7"/>
            </a:solidFill>
          </a:ln>
        </p:spPr>
        <p:txBody>
          <a:bodyPr lIns="45718" tIns="45718" rIns="45718" bIns="45718"/>
          <a:lstStyle/>
          <a:p/>
        </p:txBody>
      </p:sp>
      <p:sp>
        <p:nvSpPr>
          <p:cNvPr id="151" name="Text 12"/>
          <p:cNvSpPr txBox="1"/>
          <p:nvPr/>
        </p:nvSpPr>
        <p:spPr>
          <a:xfrm>
            <a:off x="960119" y="5298992"/>
            <a:ext cx="2743201" cy="137071"/>
          </a:xfrm>
          <a:prstGeom prst="rect">
            <a:avLst/>
          </a:prstGeom>
          <a:ln w="12700">
            <a:miter lim="400000"/>
          </a:ln>
        </p:spPr>
        <p:txBody>
          <a:bodyPr lIns="0" tIns="0" rIns="0" bIns="0" anchor="ctr">
            <a:spAutoFit/>
          </a:bodyPr>
          <a:lstStyle>
            <a:lvl1pPr>
              <a:defRPr sz="1000" b="1" spc="150">
                <a:solidFill>
                  <a:srgbClr val="5B4A94"/>
                </a:solidFill>
              </a:defRPr>
            </a:lvl1pPr>
          </a:lstStyle>
          <a:p>
            <a:r>
              <a:t>RESULT</a:t>
            </a:r>
          </a:p>
        </p:txBody>
      </p:sp>
      <p:sp>
        <p:nvSpPr>
          <p:cNvPr id="152" name="Text 13"/>
          <p:cNvSpPr txBox="1"/>
          <p:nvPr/>
        </p:nvSpPr>
        <p:spPr>
          <a:xfrm>
            <a:off x="960119" y="5481636"/>
            <a:ext cx="2926082" cy="573163"/>
          </a:xfrm>
          <a:prstGeom prst="rect">
            <a:avLst/>
          </a:prstGeom>
          <a:ln w="12700">
            <a:miter lim="400000"/>
          </a:ln>
        </p:spPr>
        <p:txBody>
          <a:bodyPr lIns="0" tIns="0" rIns="0" bIns="0" anchor="ctr">
            <a:spAutoFit/>
          </a:bodyPr>
          <a:lstStyle>
            <a:lvl1pPr>
              <a:defRPr sz="1300" b="1">
                <a:solidFill>
                  <a:srgbClr val="2A2440"/>
                </a:solidFill>
              </a:defRPr>
            </a:lvl1pPr>
          </a:lstStyle>
          <a:p>
            <a:r>
              <a:t>Mean error 0.11 g, standard deviation 0.23 g. GO verdict, well within the 10 g accuracy threshold.</a:t>
            </a:r>
          </a:p>
        </p:txBody>
      </p:sp>
      <p:sp>
        <p:nvSpPr>
          <p:cNvPr id="153" name="Shape 15"/>
          <p:cNvSpPr/>
          <p:nvPr/>
        </p:nvSpPr>
        <p:spPr>
          <a:xfrm>
            <a:off x="4343400" y="2194560"/>
            <a:ext cx="3657600" cy="4160521"/>
          </a:xfrm>
          <a:prstGeom prst="rect">
            <a:avLst/>
          </a:prstGeom>
          <a:solidFill>
            <a:srgbClr val="FFFFFF"/>
          </a:solidFill>
          <a:ln w="12700">
            <a:solidFill>
              <a:srgbClr val="E4DFF0"/>
            </a:solidFill>
          </a:ln>
        </p:spPr>
        <p:txBody>
          <a:bodyPr lIns="45718" tIns="45718" rIns="45718" bIns="45718"/>
          <a:lstStyle/>
          <a:p/>
        </p:txBody>
      </p:sp>
      <p:sp>
        <p:nvSpPr>
          <p:cNvPr id="154" name="Text 16"/>
          <p:cNvSpPr txBox="1"/>
          <p:nvPr/>
        </p:nvSpPr>
        <p:spPr>
          <a:xfrm>
            <a:off x="4617720" y="2400343"/>
            <a:ext cx="914402" cy="137072"/>
          </a:xfrm>
          <a:prstGeom prst="rect">
            <a:avLst/>
          </a:prstGeom>
          <a:ln w="12700">
            <a:miter lim="400000"/>
          </a:ln>
        </p:spPr>
        <p:txBody>
          <a:bodyPr lIns="0" tIns="0" rIns="0" bIns="0" anchor="ctr">
            <a:spAutoFit/>
          </a:bodyPr>
          <a:lstStyle>
            <a:lvl1pPr>
              <a:defRPr sz="1000" b="1" spc="200">
                <a:solidFill>
                  <a:srgbClr val="7C6BB5"/>
                </a:solidFill>
              </a:defRPr>
            </a:lvl1pPr>
          </a:lstStyle>
          <a:p>
            <a:r>
              <a:t>02</a:t>
            </a:r>
          </a:p>
        </p:txBody>
      </p:sp>
      <p:sp>
        <p:nvSpPr>
          <p:cNvPr id="155" name="Text 17"/>
          <p:cNvSpPr txBox="1"/>
          <p:nvPr/>
        </p:nvSpPr>
        <p:spPr>
          <a:xfrm>
            <a:off x="4617720" y="2674664"/>
            <a:ext cx="3291842" cy="137071"/>
          </a:xfrm>
          <a:prstGeom prst="rect">
            <a:avLst/>
          </a:prstGeom>
          <a:ln w="12700">
            <a:miter lim="400000"/>
          </a:ln>
        </p:spPr>
        <p:txBody>
          <a:bodyPr lIns="0" tIns="0" rIns="0" bIns="0" anchor="ctr">
            <a:spAutoFit/>
          </a:bodyPr>
          <a:lstStyle>
            <a:lvl1pPr>
              <a:defRPr sz="1000" b="1" spc="150">
                <a:solidFill>
                  <a:srgbClr val="7A7490"/>
                </a:solidFill>
              </a:defRPr>
            </a:lvl1pPr>
          </a:lstStyle>
          <a:p>
            <a:r>
              <a:t>MENGQI SHI</a:t>
            </a:r>
          </a:p>
        </p:txBody>
      </p:sp>
      <p:sp>
        <p:nvSpPr>
          <p:cNvPr id="156" name="Text 18"/>
          <p:cNvSpPr txBox="1"/>
          <p:nvPr/>
        </p:nvSpPr>
        <p:spPr>
          <a:xfrm>
            <a:off x="4617720" y="2939033"/>
            <a:ext cx="3291842" cy="266701"/>
          </a:xfrm>
          <a:prstGeom prst="rect">
            <a:avLst/>
          </a:prstGeom>
          <a:ln w="12700">
            <a:miter lim="400000"/>
          </a:ln>
        </p:spPr>
        <p:txBody>
          <a:bodyPr lIns="0" tIns="0" rIns="0" bIns="0" anchor="ctr">
            <a:spAutoFit/>
          </a:bodyPr>
          <a:lstStyle>
            <a:lvl1pPr>
              <a:defRPr b="1">
                <a:solidFill>
                  <a:srgbClr val="2A2440"/>
                </a:solidFill>
                <a:latin typeface="Georgia" panose="02040502050405020303"/>
                <a:ea typeface="Georgia" panose="02040502050405020303"/>
                <a:cs typeface="Georgia" panose="02040502050405020303"/>
                <a:sym typeface="Georgia" panose="02040502050405020303"/>
              </a:defRPr>
            </a:lvl1pPr>
          </a:lstStyle>
          <a:p>
            <a:r>
              <a:t>Signal Stability</a:t>
            </a:r>
          </a:p>
        </p:txBody>
      </p:sp>
      <p:sp>
        <p:nvSpPr>
          <p:cNvPr id="157" name="Shape 19"/>
          <p:cNvSpPr/>
          <p:nvPr/>
        </p:nvSpPr>
        <p:spPr>
          <a:xfrm>
            <a:off x="4617720" y="3383278"/>
            <a:ext cx="3108962" cy="3"/>
          </a:xfrm>
          <a:prstGeom prst="line">
            <a:avLst/>
          </a:prstGeom>
          <a:ln>
            <a:solidFill>
              <a:srgbClr val="E4DFF0"/>
            </a:solidFill>
          </a:ln>
        </p:spPr>
        <p:txBody>
          <a:bodyPr lIns="45718" tIns="45718" rIns="45718" bIns="45718"/>
          <a:lstStyle/>
          <a:p/>
        </p:txBody>
      </p:sp>
      <p:sp>
        <p:nvSpPr>
          <p:cNvPr id="158" name="Text 20"/>
          <p:cNvSpPr txBox="1"/>
          <p:nvPr/>
        </p:nvSpPr>
        <p:spPr>
          <a:xfrm>
            <a:off x="4617720" y="3589064"/>
            <a:ext cx="2743202" cy="137071"/>
          </a:xfrm>
          <a:prstGeom prst="rect">
            <a:avLst/>
          </a:prstGeom>
          <a:ln w="12700">
            <a:miter lim="400000"/>
          </a:ln>
        </p:spPr>
        <p:txBody>
          <a:bodyPr lIns="0" tIns="0" rIns="0" bIns="0" anchor="ctr">
            <a:spAutoFit/>
          </a:bodyPr>
          <a:lstStyle>
            <a:lvl1pPr>
              <a:defRPr sz="1000" b="1" spc="150">
                <a:solidFill>
                  <a:srgbClr val="7C6BB5"/>
                </a:solidFill>
              </a:defRPr>
            </a:lvl1pPr>
          </a:lstStyle>
          <a:p>
            <a:r>
              <a:t>METHOD</a:t>
            </a:r>
          </a:p>
        </p:txBody>
      </p:sp>
      <p:sp>
        <p:nvSpPr>
          <p:cNvPr id="159" name="Text 21"/>
          <p:cNvSpPr txBox="1"/>
          <p:nvPr/>
        </p:nvSpPr>
        <p:spPr>
          <a:xfrm>
            <a:off x="4617720" y="3945058"/>
            <a:ext cx="3108962" cy="979563"/>
          </a:xfrm>
          <a:prstGeom prst="rect">
            <a:avLst/>
          </a:prstGeom>
          <a:ln w="12700">
            <a:miter lim="400000"/>
          </a:ln>
        </p:spPr>
        <p:txBody>
          <a:bodyPr lIns="0" tIns="0" rIns="0" bIns="0" anchor="ctr">
            <a:spAutoFit/>
          </a:bodyPr>
          <a:lstStyle>
            <a:lvl1pPr>
              <a:defRPr sz="1300">
                <a:solidFill>
                  <a:srgbClr val="2A2440"/>
                </a:solidFill>
              </a:defRPr>
            </a:lvl1pPr>
          </a:lstStyle>
          <a:p>
            <a:r>
              <a:t>Analyzed the 20 trial weight readings from the HX711 sensor to evaluate signal noise and reading consistency. Computed error distribution, peak to peak range, and standard deviation across all trials.</a:t>
            </a:r>
          </a:p>
        </p:txBody>
      </p:sp>
      <p:sp>
        <p:nvSpPr>
          <p:cNvPr id="160" name="Shape 22"/>
          <p:cNvSpPr/>
          <p:nvPr/>
        </p:nvSpPr>
        <p:spPr>
          <a:xfrm>
            <a:off x="4611370" y="5073406"/>
            <a:ext cx="3108962" cy="1152768"/>
          </a:xfrm>
          <a:prstGeom prst="rect">
            <a:avLst/>
          </a:prstGeom>
          <a:solidFill>
            <a:srgbClr val="EEEAF7"/>
          </a:solidFill>
          <a:ln w="12700">
            <a:solidFill>
              <a:srgbClr val="EEEAF7"/>
            </a:solidFill>
          </a:ln>
        </p:spPr>
        <p:txBody>
          <a:bodyPr lIns="45718" tIns="45718" rIns="45718" bIns="45718"/>
          <a:lstStyle/>
          <a:p/>
        </p:txBody>
      </p:sp>
      <p:sp>
        <p:nvSpPr>
          <p:cNvPr id="161" name="Text 23"/>
          <p:cNvSpPr txBox="1"/>
          <p:nvPr/>
        </p:nvSpPr>
        <p:spPr>
          <a:xfrm>
            <a:off x="4748529" y="5206039"/>
            <a:ext cx="2743202" cy="137072"/>
          </a:xfrm>
          <a:prstGeom prst="rect">
            <a:avLst/>
          </a:prstGeom>
          <a:ln w="12700">
            <a:miter lim="400000"/>
          </a:ln>
        </p:spPr>
        <p:txBody>
          <a:bodyPr lIns="0" tIns="0" rIns="0" bIns="0" anchor="ctr">
            <a:spAutoFit/>
          </a:bodyPr>
          <a:lstStyle>
            <a:lvl1pPr>
              <a:defRPr sz="1000" b="1" spc="150">
                <a:solidFill>
                  <a:srgbClr val="5B4A94"/>
                </a:solidFill>
              </a:defRPr>
            </a:lvl1pPr>
          </a:lstStyle>
          <a:p>
            <a:r>
              <a:t>RESULT</a:t>
            </a:r>
          </a:p>
        </p:txBody>
      </p:sp>
      <p:sp>
        <p:nvSpPr>
          <p:cNvPr id="162" name="Text 24"/>
          <p:cNvSpPr txBox="1"/>
          <p:nvPr/>
        </p:nvSpPr>
        <p:spPr>
          <a:xfrm>
            <a:off x="4748529" y="5388684"/>
            <a:ext cx="2926083" cy="776363"/>
          </a:xfrm>
          <a:prstGeom prst="rect">
            <a:avLst/>
          </a:prstGeom>
          <a:ln w="12700">
            <a:miter lim="400000"/>
          </a:ln>
        </p:spPr>
        <p:txBody>
          <a:bodyPr lIns="0" tIns="0" rIns="0" bIns="0" anchor="ctr">
            <a:spAutoFit/>
          </a:bodyPr>
          <a:lstStyle>
            <a:lvl1pPr>
              <a:defRPr sz="1300" b="1">
                <a:solidFill>
                  <a:srgbClr val="2A2440"/>
                </a:solidFill>
              </a:defRPr>
            </a:lvl1pPr>
          </a:lstStyle>
          <a:p>
            <a:r>
              <a:t>Peak to peak error range 0.72 g, max error 0.43 g, min error 0.29 g. Signal stable enough to serve as input for the anomaly detection pipeline.</a:t>
            </a:r>
          </a:p>
        </p:txBody>
      </p:sp>
      <p:sp>
        <p:nvSpPr>
          <p:cNvPr id="163" name="Shape 26"/>
          <p:cNvSpPr/>
          <p:nvPr/>
        </p:nvSpPr>
        <p:spPr>
          <a:xfrm>
            <a:off x="8138159" y="2194560"/>
            <a:ext cx="3657602" cy="4160521"/>
          </a:xfrm>
          <a:prstGeom prst="rect">
            <a:avLst/>
          </a:prstGeom>
          <a:solidFill>
            <a:srgbClr val="FFFFFF"/>
          </a:solidFill>
          <a:ln w="12700">
            <a:solidFill>
              <a:srgbClr val="E4DFF0"/>
            </a:solidFill>
          </a:ln>
        </p:spPr>
        <p:txBody>
          <a:bodyPr lIns="45718" tIns="45718" rIns="45718" bIns="45718"/>
          <a:lstStyle/>
          <a:p/>
        </p:txBody>
      </p:sp>
      <p:sp>
        <p:nvSpPr>
          <p:cNvPr id="164" name="Text 27"/>
          <p:cNvSpPr txBox="1"/>
          <p:nvPr/>
        </p:nvSpPr>
        <p:spPr>
          <a:xfrm>
            <a:off x="8412480" y="2400343"/>
            <a:ext cx="914402" cy="137072"/>
          </a:xfrm>
          <a:prstGeom prst="rect">
            <a:avLst/>
          </a:prstGeom>
          <a:ln w="12700">
            <a:miter lim="400000"/>
          </a:ln>
        </p:spPr>
        <p:txBody>
          <a:bodyPr lIns="0" tIns="0" rIns="0" bIns="0" anchor="ctr">
            <a:spAutoFit/>
          </a:bodyPr>
          <a:lstStyle>
            <a:lvl1pPr>
              <a:defRPr sz="1000" b="1" spc="200">
                <a:solidFill>
                  <a:srgbClr val="7C6BB5"/>
                </a:solidFill>
              </a:defRPr>
            </a:lvl1pPr>
          </a:lstStyle>
          <a:p>
            <a:r>
              <a:t>03</a:t>
            </a:r>
          </a:p>
        </p:txBody>
      </p:sp>
      <p:sp>
        <p:nvSpPr>
          <p:cNvPr id="165" name="Text 28"/>
          <p:cNvSpPr txBox="1"/>
          <p:nvPr/>
        </p:nvSpPr>
        <p:spPr>
          <a:xfrm>
            <a:off x="8412480" y="2674664"/>
            <a:ext cx="3291842" cy="137071"/>
          </a:xfrm>
          <a:prstGeom prst="rect">
            <a:avLst/>
          </a:prstGeom>
          <a:ln w="12700">
            <a:miter lim="400000"/>
          </a:ln>
        </p:spPr>
        <p:txBody>
          <a:bodyPr lIns="0" tIns="0" rIns="0" bIns="0" anchor="ctr">
            <a:spAutoFit/>
          </a:bodyPr>
          <a:lstStyle>
            <a:lvl1pPr>
              <a:defRPr sz="1000" b="1" spc="150">
                <a:solidFill>
                  <a:srgbClr val="7A7490"/>
                </a:solidFill>
              </a:defRPr>
            </a:lvl1pPr>
          </a:lstStyle>
          <a:p>
            <a:r>
              <a:t>XIN LUO</a:t>
            </a:r>
          </a:p>
        </p:txBody>
      </p:sp>
      <p:sp>
        <p:nvSpPr>
          <p:cNvPr id="166" name="Text 29"/>
          <p:cNvSpPr txBox="1"/>
          <p:nvPr/>
        </p:nvSpPr>
        <p:spPr>
          <a:xfrm>
            <a:off x="8412480" y="2805683"/>
            <a:ext cx="3291842" cy="533401"/>
          </a:xfrm>
          <a:prstGeom prst="rect">
            <a:avLst/>
          </a:prstGeom>
          <a:ln w="12700">
            <a:miter lim="400000"/>
          </a:ln>
        </p:spPr>
        <p:txBody>
          <a:bodyPr lIns="0" tIns="0" rIns="0" bIns="0" anchor="ctr">
            <a:spAutoFit/>
          </a:bodyPr>
          <a:lstStyle>
            <a:lvl1pPr>
              <a:defRPr b="1">
                <a:solidFill>
                  <a:srgbClr val="2A2440"/>
                </a:solidFill>
                <a:latin typeface="Georgia" panose="02040502050405020303"/>
                <a:ea typeface="Georgia" panose="02040502050405020303"/>
                <a:cs typeface="Georgia" panose="02040502050405020303"/>
                <a:sym typeface="Georgia" panose="02040502050405020303"/>
              </a:defRPr>
            </a:lvl1pPr>
          </a:lstStyle>
          <a:p>
            <a:r>
              <a:t>Data Logging and Transmission</a:t>
            </a:r>
          </a:p>
        </p:txBody>
      </p:sp>
      <p:sp>
        <p:nvSpPr>
          <p:cNvPr id="167" name="Shape 30"/>
          <p:cNvSpPr/>
          <p:nvPr/>
        </p:nvSpPr>
        <p:spPr>
          <a:xfrm>
            <a:off x="8412480" y="3383278"/>
            <a:ext cx="3108962" cy="3"/>
          </a:xfrm>
          <a:prstGeom prst="line">
            <a:avLst/>
          </a:prstGeom>
          <a:ln>
            <a:solidFill>
              <a:srgbClr val="E4DFF0"/>
            </a:solidFill>
          </a:ln>
        </p:spPr>
        <p:txBody>
          <a:bodyPr lIns="45718" tIns="45718" rIns="45718" bIns="45718"/>
          <a:lstStyle/>
          <a:p/>
        </p:txBody>
      </p:sp>
      <p:sp>
        <p:nvSpPr>
          <p:cNvPr id="168" name="Text 31"/>
          <p:cNvSpPr txBox="1"/>
          <p:nvPr/>
        </p:nvSpPr>
        <p:spPr>
          <a:xfrm>
            <a:off x="8412480" y="3589064"/>
            <a:ext cx="2743202" cy="137071"/>
          </a:xfrm>
          <a:prstGeom prst="rect">
            <a:avLst/>
          </a:prstGeom>
          <a:ln w="12700">
            <a:miter lim="400000"/>
          </a:ln>
        </p:spPr>
        <p:txBody>
          <a:bodyPr lIns="0" tIns="0" rIns="0" bIns="0" anchor="ctr">
            <a:spAutoFit/>
          </a:bodyPr>
          <a:lstStyle>
            <a:lvl1pPr>
              <a:defRPr sz="1000" b="1" spc="150">
                <a:solidFill>
                  <a:srgbClr val="7C6BB5"/>
                </a:solidFill>
              </a:defRPr>
            </a:lvl1pPr>
          </a:lstStyle>
          <a:p>
            <a:r>
              <a:t>METHOD</a:t>
            </a:r>
          </a:p>
        </p:txBody>
      </p:sp>
      <p:sp>
        <p:nvSpPr>
          <p:cNvPr id="169" name="Text 32"/>
          <p:cNvSpPr txBox="1"/>
          <p:nvPr/>
        </p:nvSpPr>
        <p:spPr>
          <a:xfrm>
            <a:off x="8412480" y="3945058"/>
            <a:ext cx="3108962" cy="979563"/>
          </a:xfrm>
          <a:prstGeom prst="rect">
            <a:avLst/>
          </a:prstGeom>
          <a:ln w="12700">
            <a:miter lim="400000"/>
          </a:ln>
        </p:spPr>
        <p:txBody>
          <a:bodyPr lIns="0" tIns="0" rIns="0" bIns="0" anchor="ctr">
            <a:spAutoFit/>
          </a:bodyPr>
          <a:lstStyle>
            <a:lvl1pPr>
              <a:defRPr sz="1300">
                <a:solidFill>
                  <a:srgbClr val="2A2440"/>
                </a:solidFill>
              </a:defRPr>
            </a:lvl1pPr>
          </a:lstStyle>
          <a:p>
            <a:r>
              <a:t>Developed the ESP32S3 firmware (Read_ESP32S3.ino) to read and log weight data via serial output. Verified that all 20 readings were captured without data loss at 1000 ms intervals over the test session.</a:t>
            </a:r>
          </a:p>
        </p:txBody>
      </p:sp>
      <p:sp>
        <p:nvSpPr>
          <p:cNvPr id="170" name="Shape 33"/>
          <p:cNvSpPr/>
          <p:nvPr/>
        </p:nvSpPr>
        <p:spPr>
          <a:xfrm>
            <a:off x="8418830" y="5073406"/>
            <a:ext cx="3108962" cy="1152768"/>
          </a:xfrm>
          <a:prstGeom prst="rect">
            <a:avLst/>
          </a:prstGeom>
          <a:solidFill>
            <a:srgbClr val="EEEAF7"/>
          </a:solidFill>
          <a:ln w="12700">
            <a:solidFill>
              <a:srgbClr val="EEEAF7"/>
            </a:solidFill>
          </a:ln>
        </p:spPr>
        <p:txBody>
          <a:bodyPr lIns="45718" tIns="45718" rIns="45718" bIns="45718"/>
          <a:lstStyle/>
          <a:p/>
        </p:txBody>
      </p:sp>
      <p:sp>
        <p:nvSpPr>
          <p:cNvPr id="171" name="Text 34"/>
          <p:cNvSpPr txBox="1"/>
          <p:nvPr/>
        </p:nvSpPr>
        <p:spPr>
          <a:xfrm>
            <a:off x="8555990" y="5206039"/>
            <a:ext cx="2743202" cy="137072"/>
          </a:xfrm>
          <a:prstGeom prst="rect">
            <a:avLst/>
          </a:prstGeom>
          <a:ln w="12700">
            <a:miter lim="400000"/>
          </a:ln>
        </p:spPr>
        <p:txBody>
          <a:bodyPr lIns="0" tIns="0" rIns="0" bIns="0" anchor="ctr">
            <a:spAutoFit/>
          </a:bodyPr>
          <a:lstStyle>
            <a:lvl1pPr>
              <a:defRPr sz="1000" b="1" spc="150">
                <a:solidFill>
                  <a:srgbClr val="5B4A94"/>
                </a:solidFill>
              </a:defRPr>
            </a:lvl1pPr>
          </a:lstStyle>
          <a:p>
            <a:r>
              <a:t>RESULT</a:t>
            </a:r>
          </a:p>
        </p:txBody>
      </p:sp>
      <p:sp>
        <p:nvSpPr>
          <p:cNvPr id="172" name="Text 35"/>
          <p:cNvSpPr txBox="1"/>
          <p:nvPr/>
        </p:nvSpPr>
        <p:spPr>
          <a:xfrm>
            <a:off x="8543290" y="5363209"/>
            <a:ext cx="2926082" cy="776362"/>
          </a:xfrm>
          <a:prstGeom prst="rect">
            <a:avLst/>
          </a:prstGeom>
          <a:ln w="12700">
            <a:miter lim="400000"/>
          </a:ln>
        </p:spPr>
        <p:txBody>
          <a:bodyPr lIns="0" tIns="0" rIns="0" bIns="0" anchor="ctr">
            <a:spAutoFit/>
          </a:bodyPr>
          <a:lstStyle>
            <a:lvl1pPr>
              <a:defRPr sz="1300" b="1">
                <a:solidFill>
                  <a:srgbClr val="2A2440"/>
                </a:solidFill>
              </a:defRPr>
            </a:lvl1pPr>
          </a:lstStyle>
          <a:p>
            <a:r>
              <a:t>20 out of 20 readings successfully captured with zero dropped samples. Firmware logging validated for future MQTT cloud upload integration.</a:t>
            </a:r>
          </a:p>
        </p:txBody>
      </p:sp>
      <p:sp>
        <p:nvSpPr>
          <p:cNvPr id="173" name="Shape 37"/>
          <p:cNvSpPr/>
          <p:nvPr/>
        </p:nvSpPr>
        <p:spPr>
          <a:xfrm>
            <a:off x="548638" y="6446520"/>
            <a:ext cx="11064244" cy="1"/>
          </a:xfrm>
          <a:prstGeom prst="line">
            <a:avLst/>
          </a:prstGeom>
          <a:ln>
            <a:solidFill>
              <a:srgbClr val="E4DFF0"/>
            </a:solidFill>
          </a:ln>
        </p:spPr>
        <p:txBody>
          <a:bodyPr lIns="45718" tIns="45718" rIns="45718" bIns="45718"/>
          <a:lstStyle/>
          <a:p/>
        </p:txBody>
      </p:sp>
      <p:sp>
        <p:nvSpPr>
          <p:cNvPr id="174" name="Text 38"/>
          <p:cNvSpPr txBox="1"/>
          <p:nvPr/>
        </p:nvSpPr>
        <p:spPr>
          <a:xfrm>
            <a:off x="548640" y="6560864"/>
            <a:ext cx="7315201" cy="137071"/>
          </a:xfrm>
          <a:prstGeom prst="rect">
            <a:avLst/>
          </a:prstGeom>
          <a:ln w="12700">
            <a:miter lim="400000"/>
          </a:ln>
        </p:spPr>
        <p:txBody>
          <a:bodyPr lIns="0" tIns="0" rIns="0" bIns="0" anchor="ctr">
            <a:spAutoFit/>
          </a:bodyPr>
          <a:lstStyle>
            <a:lvl1pPr>
              <a:defRPr sz="1000">
                <a:solidFill>
                  <a:srgbClr val="7A7490"/>
                </a:solidFill>
              </a:defRPr>
            </a:lvl1pPr>
          </a:lstStyle>
          <a:p>
            <a:r>
              <a:t>Smart Cat Litter Box Monitor   |   Milestone 1</a:t>
            </a:r>
          </a:p>
        </p:txBody>
      </p:sp>
      <p:sp>
        <p:nvSpPr>
          <p:cNvPr id="175" name="Text 39"/>
          <p:cNvSpPr txBox="1"/>
          <p:nvPr/>
        </p:nvSpPr>
        <p:spPr>
          <a:xfrm>
            <a:off x="10698480" y="6560864"/>
            <a:ext cx="914402" cy="137071"/>
          </a:xfrm>
          <a:prstGeom prst="rect">
            <a:avLst/>
          </a:prstGeom>
          <a:ln w="12700">
            <a:miter lim="400000"/>
          </a:ln>
        </p:spPr>
        <p:txBody>
          <a:bodyPr lIns="0" tIns="0" rIns="0" bIns="0" anchor="ctr">
            <a:spAutoFit/>
          </a:bodyPr>
          <a:lstStyle>
            <a:lvl1pPr algn="r">
              <a:defRPr sz="1000">
                <a:solidFill>
                  <a:srgbClr val="7A7490"/>
                </a:solidFill>
              </a:defRPr>
            </a:lvl1pPr>
          </a:lstStyle>
          <a:p>
            <a:r>
              <a:t>5 / 6</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77" name="Shape 0"/>
          <p:cNvSpPr/>
          <p:nvPr/>
        </p:nvSpPr>
        <p:spPr>
          <a:xfrm>
            <a:off x="548640" y="530351"/>
            <a:ext cx="146306" cy="146306"/>
          </a:xfrm>
          <a:prstGeom prst="rect">
            <a:avLst/>
          </a:prstGeom>
          <a:solidFill>
            <a:srgbClr val="7C6BB5"/>
          </a:solidFill>
          <a:ln w="12700">
            <a:solidFill>
              <a:srgbClr val="7C6BB5"/>
            </a:solidFill>
          </a:ln>
        </p:spPr>
        <p:txBody>
          <a:bodyPr lIns="45718" tIns="45718" rIns="45718" bIns="45718"/>
          <a:lstStyle/>
          <a:p/>
        </p:txBody>
      </p:sp>
      <p:sp>
        <p:nvSpPr>
          <p:cNvPr id="178" name="Text 1"/>
          <p:cNvSpPr txBox="1"/>
          <p:nvPr/>
        </p:nvSpPr>
        <p:spPr>
          <a:xfrm>
            <a:off x="777239" y="534967"/>
            <a:ext cx="5486403" cy="137072"/>
          </a:xfrm>
          <a:prstGeom prst="rect">
            <a:avLst/>
          </a:prstGeom>
          <a:ln w="12700">
            <a:miter lim="400000"/>
          </a:ln>
        </p:spPr>
        <p:txBody>
          <a:bodyPr lIns="0" tIns="0" rIns="0" bIns="0" anchor="ctr">
            <a:spAutoFit/>
          </a:bodyPr>
          <a:lstStyle>
            <a:lvl1pPr>
              <a:defRPr sz="1000" b="1" spc="250">
                <a:solidFill>
                  <a:srgbClr val="7C6BB5"/>
                </a:solidFill>
              </a:defRPr>
            </a:lvl1pPr>
          </a:lstStyle>
          <a:p>
            <a:r>
              <a:t>05  BUDGET</a:t>
            </a:r>
          </a:p>
        </p:txBody>
      </p:sp>
      <p:sp>
        <p:nvSpPr>
          <p:cNvPr id="179" name="Text 2"/>
          <p:cNvSpPr txBox="1"/>
          <p:nvPr/>
        </p:nvSpPr>
        <p:spPr>
          <a:xfrm>
            <a:off x="548638" y="989329"/>
            <a:ext cx="11064244" cy="444501"/>
          </a:xfrm>
          <a:prstGeom prst="rect">
            <a:avLst/>
          </a:prstGeom>
          <a:ln w="12700">
            <a:miter lim="400000"/>
          </a:ln>
        </p:spPr>
        <p:txBody>
          <a:bodyPr lIns="0" tIns="0" rIns="0" bIns="0" anchor="ctr">
            <a:spAutoFit/>
          </a:bodyPr>
          <a:lstStyle>
            <a:lvl1pPr>
              <a:defRPr sz="3000" b="1">
                <a:solidFill>
                  <a:srgbClr val="2A2440"/>
                </a:solidFill>
                <a:latin typeface="Georgia" panose="02040502050405020303"/>
                <a:ea typeface="Georgia" panose="02040502050405020303"/>
                <a:cs typeface="Georgia" panose="02040502050405020303"/>
                <a:sym typeface="Georgia" panose="02040502050405020303"/>
              </a:defRPr>
            </a:lvl1pPr>
          </a:lstStyle>
          <a:p>
            <a:r>
              <a:t>Budget Update</a:t>
            </a:r>
          </a:p>
        </p:txBody>
      </p:sp>
      <p:sp>
        <p:nvSpPr>
          <p:cNvPr id="180" name="Text 3"/>
          <p:cNvSpPr txBox="1"/>
          <p:nvPr/>
        </p:nvSpPr>
        <p:spPr>
          <a:xfrm>
            <a:off x="548639" y="1988864"/>
            <a:ext cx="3657603" cy="137071"/>
          </a:xfrm>
          <a:prstGeom prst="rect">
            <a:avLst/>
          </a:prstGeom>
          <a:ln w="12700">
            <a:miter lim="400000"/>
          </a:ln>
        </p:spPr>
        <p:txBody>
          <a:bodyPr lIns="0" tIns="0" rIns="0" bIns="0" anchor="ctr">
            <a:spAutoFit/>
          </a:bodyPr>
          <a:lstStyle>
            <a:lvl1pPr>
              <a:defRPr sz="1000" b="1" spc="200">
                <a:solidFill>
                  <a:srgbClr val="7C6BB5"/>
                </a:solidFill>
              </a:defRPr>
            </a:lvl1pPr>
          </a:lstStyle>
          <a:p>
            <a:r>
              <a:t>TOTAL BUDGET</a:t>
            </a:r>
          </a:p>
        </p:txBody>
      </p:sp>
      <p:sp>
        <p:nvSpPr>
          <p:cNvPr id="181" name="Text 4"/>
          <p:cNvSpPr txBox="1"/>
          <p:nvPr/>
        </p:nvSpPr>
        <p:spPr>
          <a:xfrm>
            <a:off x="548639" y="2350007"/>
            <a:ext cx="3657603" cy="457201"/>
          </a:xfrm>
          <a:prstGeom prst="rect">
            <a:avLst/>
          </a:prstGeom>
          <a:ln w="12700">
            <a:miter lim="400000"/>
          </a:ln>
        </p:spPr>
        <p:txBody>
          <a:bodyPr lIns="0" tIns="0" rIns="0" bIns="0" anchor="ctr">
            <a:spAutoFit/>
          </a:bodyPr>
          <a:lstStyle>
            <a:lvl1pPr>
              <a:defRPr sz="3200" b="1">
                <a:solidFill>
                  <a:srgbClr val="2A2440"/>
                </a:solidFill>
                <a:latin typeface="Georgia" panose="02040502050405020303"/>
                <a:ea typeface="Georgia" panose="02040502050405020303"/>
                <a:cs typeface="Georgia" panose="02040502050405020303"/>
                <a:sym typeface="Georgia" panose="02040502050405020303"/>
              </a:defRPr>
            </a:lvl1pPr>
          </a:lstStyle>
          <a:p>
            <a:r>
              <a:t>$ 350</a:t>
            </a:r>
          </a:p>
        </p:txBody>
      </p:sp>
      <p:sp>
        <p:nvSpPr>
          <p:cNvPr id="182" name="Shape 5"/>
          <p:cNvSpPr/>
          <p:nvPr/>
        </p:nvSpPr>
        <p:spPr>
          <a:xfrm>
            <a:off x="4023359" y="2011678"/>
            <a:ext cx="2" cy="822962"/>
          </a:xfrm>
          <a:prstGeom prst="line">
            <a:avLst/>
          </a:prstGeom>
          <a:ln>
            <a:solidFill>
              <a:srgbClr val="E4DFF0"/>
            </a:solidFill>
          </a:ln>
        </p:spPr>
        <p:txBody>
          <a:bodyPr lIns="45718" tIns="45718" rIns="45718" bIns="45718"/>
          <a:lstStyle/>
          <a:p/>
        </p:txBody>
      </p:sp>
      <p:sp>
        <p:nvSpPr>
          <p:cNvPr id="183" name="Text 6"/>
          <p:cNvSpPr txBox="1"/>
          <p:nvPr/>
        </p:nvSpPr>
        <p:spPr>
          <a:xfrm>
            <a:off x="4297679" y="1988864"/>
            <a:ext cx="3657602" cy="137071"/>
          </a:xfrm>
          <a:prstGeom prst="rect">
            <a:avLst/>
          </a:prstGeom>
          <a:ln w="12700">
            <a:miter lim="400000"/>
          </a:ln>
        </p:spPr>
        <p:txBody>
          <a:bodyPr lIns="0" tIns="0" rIns="0" bIns="0" anchor="ctr">
            <a:spAutoFit/>
          </a:bodyPr>
          <a:lstStyle>
            <a:lvl1pPr>
              <a:defRPr sz="1000" b="1" spc="200">
                <a:solidFill>
                  <a:srgbClr val="7C6BB5"/>
                </a:solidFill>
              </a:defRPr>
            </a:lvl1pPr>
          </a:lstStyle>
          <a:p>
            <a:r>
              <a:t>SPENT SO FAR</a:t>
            </a:r>
          </a:p>
        </p:txBody>
      </p:sp>
      <p:sp>
        <p:nvSpPr>
          <p:cNvPr id="184" name="Text 7"/>
          <p:cNvSpPr txBox="1"/>
          <p:nvPr/>
        </p:nvSpPr>
        <p:spPr>
          <a:xfrm>
            <a:off x="4297679" y="2332545"/>
            <a:ext cx="3657602" cy="492125"/>
          </a:xfrm>
          <a:prstGeom prst="rect">
            <a:avLst/>
          </a:prstGeom>
          <a:ln w="12700">
            <a:miter lim="400000"/>
          </a:ln>
        </p:spPr>
        <p:txBody>
          <a:bodyPr lIns="0" tIns="0" rIns="0" bIns="0" anchor="ctr">
            <a:spAutoFit/>
          </a:bodyPr>
          <a:lstStyle>
            <a:lvl1pPr>
              <a:defRPr sz="3200" b="1">
                <a:solidFill>
                  <a:srgbClr val="2A2440"/>
                </a:solidFill>
                <a:latin typeface="Georgia" panose="02040502050405020303"/>
                <a:ea typeface="Georgia" panose="02040502050405020303"/>
                <a:cs typeface="Georgia" panose="02040502050405020303"/>
                <a:sym typeface="Georgia" panose="02040502050405020303"/>
              </a:defRPr>
            </a:lvl1pPr>
          </a:lstStyle>
          <a:p>
            <a:r>
              <a:t>$</a:t>
            </a:r>
            <a:r>
              <a:rPr lang="en-US"/>
              <a:t> </a:t>
            </a:r>
            <a:r>
              <a:rPr lang="en-US" altLang="zh-CN"/>
              <a:t>57.38</a:t>
            </a:r>
          </a:p>
        </p:txBody>
      </p:sp>
      <p:sp>
        <p:nvSpPr>
          <p:cNvPr id="185" name="Shape 8"/>
          <p:cNvSpPr/>
          <p:nvPr/>
        </p:nvSpPr>
        <p:spPr>
          <a:xfrm>
            <a:off x="7772398" y="2011678"/>
            <a:ext cx="2" cy="822962"/>
          </a:xfrm>
          <a:prstGeom prst="line">
            <a:avLst/>
          </a:prstGeom>
          <a:ln>
            <a:solidFill>
              <a:srgbClr val="E4DFF0"/>
            </a:solidFill>
          </a:ln>
        </p:spPr>
        <p:txBody>
          <a:bodyPr lIns="45718" tIns="45718" rIns="45718" bIns="45718"/>
          <a:lstStyle/>
          <a:p/>
        </p:txBody>
      </p:sp>
      <p:sp>
        <p:nvSpPr>
          <p:cNvPr id="186" name="Text 9"/>
          <p:cNvSpPr txBox="1"/>
          <p:nvPr/>
        </p:nvSpPr>
        <p:spPr>
          <a:xfrm>
            <a:off x="8046718" y="1988864"/>
            <a:ext cx="3657603" cy="137071"/>
          </a:xfrm>
          <a:prstGeom prst="rect">
            <a:avLst/>
          </a:prstGeom>
          <a:ln w="12700">
            <a:miter lim="400000"/>
          </a:ln>
        </p:spPr>
        <p:txBody>
          <a:bodyPr lIns="0" tIns="0" rIns="0" bIns="0" anchor="ctr">
            <a:spAutoFit/>
          </a:bodyPr>
          <a:lstStyle>
            <a:lvl1pPr>
              <a:defRPr sz="1000" b="1" spc="200">
                <a:solidFill>
                  <a:srgbClr val="7C6BB5"/>
                </a:solidFill>
              </a:defRPr>
            </a:lvl1pPr>
          </a:lstStyle>
          <a:p>
            <a:r>
              <a:t>REMAINING</a:t>
            </a:r>
          </a:p>
        </p:txBody>
      </p:sp>
      <p:sp>
        <p:nvSpPr>
          <p:cNvPr id="187" name="Text 10"/>
          <p:cNvSpPr txBox="1"/>
          <p:nvPr/>
        </p:nvSpPr>
        <p:spPr>
          <a:xfrm>
            <a:off x="8046718" y="2332545"/>
            <a:ext cx="3657603" cy="492125"/>
          </a:xfrm>
          <a:prstGeom prst="rect">
            <a:avLst/>
          </a:prstGeom>
          <a:ln w="12700">
            <a:miter lim="400000"/>
          </a:ln>
        </p:spPr>
        <p:txBody>
          <a:bodyPr lIns="0" tIns="0" rIns="0" bIns="0" anchor="ctr">
            <a:spAutoFit/>
          </a:bodyPr>
          <a:lstStyle>
            <a:lvl1pPr>
              <a:defRPr sz="3200" b="1">
                <a:solidFill>
                  <a:srgbClr val="5B4A94"/>
                </a:solidFill>
                <a:latin typeface="Georgia" panose="02040502050405020303"/>
                <a:ea typeface="Georgia" panose="02040502050405020303"/>
                <a:cs typeface="Georgia" panose="02040502050405020303"/>
                <a:sym typeface="Georgia" panose="02040502050405020303"/>
              </a:defRPr>
            </a:lvl1pPr>
          </a:lstStyle>
          <a:p>
            <a:r>
              <a:t>$ </a:t>
            </a:r>
            <a:r>
              <a:rPr lang="en-US" altLang="zh-CN"/>
              <a:t>292.62</a:t>
            </a:r>
            <a:endParaRPr lang="en-US" altLang="zh-CN"/>
          </a:p>
        </p:txBody>
      </p:sp>
      <p:sp>
        <p:nvSpPr>
          <p:cNvPr id="188" name="Shape 11"/>
          <p:cNvSpPr/>
          <p:nvPr/>
        </p:nvSpPr>
        <p:spPr>
          <a:xfrm>
            <a:off x="548638" y="3063239"/>
            <a:ext cx="11064244" cy="1"/>
          </a:xfrm>
          <a:prstGeom prst="line">
            <a:avLst/>
          </a:prstGeom>
          <a:ln>
            <a:solidFill>
              <a:srgbClr val="E4DFF0"/>
            </a:solidFill>
          </a:ln>
        </p:spPr>
        <p:txBody>
          <a:bodyPr lIns="45718" tIns="45718" rIns="45718" bIns="45718"/>
          <a:lstStyle/>
          <a:p/>
        </p:txBody>
      </p:sp>
      <p:sp>
        <p:nvSpPr>
          <p:cNvPr id="189" name="Text 12"/>
          <p:cNvSpPr txBox="1"/>
          <p:nvPr/>
        </p:nvSpPr>
        <p:spPr>
          <a:xfrm>
            <a:off x="548639" y="3269024"/>
            <a:ext cx="4572003" cy="137071"/>
          </a:xfrm>
          <a:prstGeom prst="rect">
            <a:avLst/>
          </a:prstGeom>
          <a:ln w="12700">
            <a:miter lim="400000"/>
          </a:ln>
        </p:spPr>
        <p:txBody>
          <a:bodyPr lIns="0" tIns="0" rIns="0" bIns="0" anchor="ctr">
            <a:spAutoFit/>
          </a:bodyPr>
          <a:lstStyle>
            <a:lvl1pPr>
              <a:defRPr sz="1000" b="1" spc="200">
                <a:solidFill>
                  <a:srgbClr val="7C6BB5"/>
                </a:solidFill>
              </a:defRPr>
            </a:lvl1pPr>
          </a:lstStyle>
          <a:p>
            <a:r>
              <a:t>PURCHASES TO DATE</a:t>
            </a:r>
          </a:p>
        </p:txBody>
      </p:sp>
      <p:graphicFrame>
        <p:nvGraphicFramePr>
          <p:cNvPr id="190" name="Table 0"/>
          <p:cNvGraphicFramePr/>
          <p:nvPr/>
        </p:nvGraphicFramePr>
        <p:xfrm>
          <a:off x="548640" y="3520440"/>
          <a:ext cx="11064240" cy="2816225"/>
        </p:xfrm>
        <a:graphic>
          <a:graphicData uri="http://schemas.openxmlformats.org/drawingml/2006/table">
            <a:tbl>
              <a:tblPr>
                <a:tableStyleId>{4C3C2611-4C71-4FC5-86AE-919BDF0F9419}</a:tableStyleId>
              </a:tblPr>
              <a:tblGrid>
                <a:gridCol w="6217920"/>
                <a:gridCol w="1188720"/>
                <a:gridCol w="1828800"/>
                <a:gridCol w="1828800"/>
              </a:tblGrid>
              <a:tr h="402336">
                <a:tc>
                  <a:txBody>
                    <a:bodyPr/>
                    <a:lstStyle/>
                    <a:p>
                      <a:pPr algn="l">
                        <a:defRPr sz="1800"/>
                      </a:pPr>
                      <a:r>
                        <a:rPr sz="1400" b="1">
                          <a:solidFill>
                            <a:srgbClr val="5B4A94"/>
                          </a:solidFill>
                        </a:rPr>
                        <a:t>Item</a:t>
                      </a:r>
                      <a:endParaRPr sz="1400" b="1">
                        <a:solidFill>
                          <a:srgbClr val="5B4A94"/>
                        </a:solidFill>
                      </a:endParaRPr>
                    </a:p>
                  </a:txBody>
                  <a:tcPr marL="45720" marR="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EEEAF7"/>
                    </a:solidFill>
                  </a:tcPr>
                </a:tc>
                <a:tc>
                  <a:txBody>
                    <a:bodyPr/>
                    <a:lstStyle/>
                    <a:p>
                      <a:pPr algn="ctr">
                        <a:defRPr sz="1800"/>
                      </a:pPr>
                      <a:r>
                        <a:rPr sz="1400" b="1">
                          <a:solidFill>
                            <a:srgbClr val="5B4A94"/>
                          </a:solidFill>
                        </a:rPr>
                        <a:t>Qty</a:t>
                      </a:r>
                      <a:endParaRPr sz="1400" b="1">
                        <a:solidFill>
                          <a:srgbClr val="5B4A94"/>
                        </a:solidFill>
                      </a:endParaRPr>
                    </a:p>
                  </a:txBody>
                  <a:tcPr marL="45720" marR="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EEEAF7"/>
                    </a:solidFill>
                  </a:tcPr>
                </a:tc>
                <a:tc>
                  <a:txBody>
                    <a:bodyPr/>
                    <a:lstStyle/>
                    <a:p>
                      <a:pPr>
                        <a:defRPr sz="1800"/>
                      </a:pPr>
                      <a:r>
                        <a:rPr sz="1400" b="1">
                          <a:solidFill>
                            <a:srgbClr val="5B4A94"/>
                          </a:solidFill>
                        </a:rPr>
                        <a:t>Unit Cost</a:t>
                      </a:r>
                      <a:endParaRPr sz="1400" b="1">
                        <a:solidFill>
                          <a:srgbClr val="5B4A94"/>
                        </a:solidFill>
                      </a:endParaRPr>
                    </a:p>
                  </a:txBody>
                  <a:tcPr marL="45720" marR="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EEEAF7"/>
                    </a:solidFill>
                  </a:tcPr>
                </a:tc>
                <a:tc>
                  <a:txBody>
                    <a:bodyPr/>
                    <a:lstStyle/>
                    <a:p>
                      <a:pPr>
                        <a:defRPr sz="1800"/>
                      </a:pPr>
                      <a:r>
                        <a:rPr sz="1400" b="1">
                          <a:solidFill>
                            <a:srgbClr val="5B4A94"/>
                          </a:solidFill>
                        </a:rPr>
                        <a:t>Total</a:t>
                      </a:r>
                      <a:endParaRPr sz="1400" b="1">
                        <a:solidFill>
                          <a:srgbClr val="5B4A94"/>
                        </a:solidFill>
                      </a:endParaRPr>
                    </a:p>
                  </a:txBody>
                  <a:tcPr marL="45720" marR="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EEEAF7"/>
                    </a:solidFill>
                  </a:tcPr>
                </a:tc>
              </a:tr>
              <a:tr h="402336">
                <a:tc>
                  <a:txBody>
                    <a:bodyPr/>
                    <a:p>
                      <a:pPr algn="l">
                        <a:defRPr sz="1800"/>
                      </a:pPr>
                      <a:r>
                        <a:rPr sz="1400">
                          <a:solidFill>
                            <a:srgbClr val="2A2440"/>
                          </a:solidFill>
                        </a:rPr>
                        <a:t>[LiPo battery]</a:t>
                      </a:r>
                      <a:endParaRPr sz="1400">
                        <a:solidFill>
                          <a:srgbClr val="2A2440"/>
                        </a:solidFill>
                      </a:endParaRPr>
                    </a:p>
                  </a:txBody>
                  <a:tcPr marL="45720" marR="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p>
                      <a:pPr algn="ctr">
                        <a:defRPr sz="1800"/>
                      </a:pPr>
                      <a:r>
                        <a:rPr sz="1400">
                          <a:solidFill>
                            <a:srgbClr val="2A2440"/>
                          </a:solidFill>
                        </a:rPr>
                        <a:t>[1]</a:t>
                      </a:r>
                      <a:endParaRPr sz="1400">
                        <a:solidFill>
                          <a:srgbClr val="2A2440"/>
                        </a:solidFill>
                      </a:endParaRPr>
                    </a:p>
                  </a:txBody>
                  <a:tcPr marL="45720" marR="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p>
                      <a:pPr>
                        <a:defRPr sz="1800"/>
                      </a:pPr>
                      <a:r>
                        <a:rPr sz="1400">
                          <a:solidFill>
                            <a:srgbClr val="2A2440"/>
                          </a:solidFill>
                        </a:rPr>
                        <a:t>[$ </a:t>
                      </a:r>
                      <a:r>
                        <a:rPr lang="en-US" sz="1400">
                          <a:solidFill>
                            <a:srgbClr val="2A2440"/>
                          </a:solidFill>
                        </a:rPr>
                        <a:t>5.83</a:t>
                      </a:r>
                      <a:r>
                        <a:rPr sz="1400">
                          <a:solidFill>
                            <a:srgbClr val="2A2440"/>
                          </a:solidFill>
                        </a:rPr>
                        <a:t>]</a:t>
                      </a:r>
                      <a:endParaRPr sz="1400">
                        <a:solidFill>
                          <a:srgbClr val="2A2440"/>
                        </a:solidFill>
                      </a:endParaRPr>
                    </a:p>
                  </a:txBody>
                  <a:tcPr marL="45720" marR="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p>
                      <a:pPr>
                        <a:defRPr sz="1800"/>
                      </a:pPr>
                      <a:r>
                        <a:rPr sz="1400">
                          <a:solidFill>
                            <a:srgbClr val="2A2440"/>
                          </a:solidFill>
                        </a:rPr>
                        <a:t>[$ </a:t>
                      </a:r>
                      <a:r>
                        <a:rPr lang="en-US" sz="1400">
                          <a:solidFill>
                            <a:srgbClr val="2A2440"/>
                          </a:solidFill>
                        </a:rPr>
                        <a:t>5.83</a:t>
                      </a:r>
                      <a:r>
                        <a:rPr sz="1400">
                          <a:solidFill>
                            <a:srgbClr val="2A2440"/>
                          </a:solidFill>
                        </a:rPr>
                        <a:t>]</a:t>
                      </a:r>
                      <a:endParaRPr sz="1400">
                        <a:solidFill>
                          <a:srgbClr val="2A2440"/>
                        </a:solidFill>
                      </a:endParaRPr>
                    </a:p>
                  </a:txBody>
                  <a:tcPr marL="45720" marR="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r>
              <a:tr h="402336">
                <a:tc>
                  <a:txBody>
                    <a:bodyPr/>
                    <a:p>
                      <a:pPr algn="l">
                        <a:defRPr sz="1800"/>
                      </a:pPr>
                      <a:r>
                        <a:rPr sz="1400">
                          <a:solidFill>
                            <a:srgbClr val="2A2440"/>
                          </a:solidFill>
                        </a:rPr>
                        <a:t>[</a:t>
                      </a:r>
                      <a:r>
                        <a:rPr lang="en-US" altLang="zh-CN" sz="1400">
                          <a:solidFill>
                            <a:srgbClr val="2A2440"/>
                          </a:solidFill>
                        </a:rPr>
                        <a:t>LiPo charger module (TP4057, 5pcs)</a:t>
                      </a:r>
                      <a:r>
                        <a:rPr sz="1400">
                          <a:solidFill>
                            <a:srgbClr val="2A2440"/>
                          </a:solidFill>
                        </a:rPr>
                        <a:t>]</a:t>
                      </a:r>
                      <a:endParaRPr sz="1400">
                        <a:solidFill>
                          <a:srgbClr val="2A2440"/>
                        </a:solidFill>
                      </a:endParaRPr>
                    </a:p>
                  </a:txBody>
                  <a:tcPr marL="45720" marR="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p>
                      <a:pPr algn="ctr">
                        <a:defRPr sz="1800"/>
                      </a:pPr>
                      <a:r>
                        <a:rPr sz="1400">
                          <a:solidFill>
                            <a:srgbClr val="2A2440"/>
                          </a:solidFill>
                        </a:rPr>
                        <a:t>[1]</a:t>
                      </a:r>
                      <a:endParaRPr sz="1400">
                        <a:solidFill>
                          <a:srgbClr val="2A2440"/>
                        </a:solidFill>
                      </a:endParaRPr>
                    </a:p>
                  </a:txBody>
                  <a:tcPr marL="45720" marR="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p>
                      <a:pPr>
                        <a:defRPr sz="1800"/>
                      </a:pPr>
                      <a:r>
                        <a:rPr sz="1400">
                          <a:solidFill>
                            <a:srgbClr val="2A2440"/>
                          </a:solidFill>
                        </a:rPr>
                        <a:t>[$ </a:t>
                      </a:r>
                      <a:r>
                        <a:rPr lang="en-US" sz="1400">
                          <a:solidFill>
                            <a:srgbClr val="2A2440"/>
                          </a:solidFill>
                        </a:rPr>
                        <a:t>7.56</a:t>
                      </a:r>
                      <a:r>
                        <a:rPr sz="1400">
                          <a:solidFill>
                            <a:srgbClr val="2A2440"/>
                          </a:solidFill>
                        </a:rPr>
                        <a:t>]</a:t>
                      </a:r>
                      <a:endParaRPr sz="1400">
                        <a:solidFill>
                          <a:srgbClr val="2A2440"/>
                        </a:solidFill>
                      </a:endParaRPr>
                    </a:p>
                  </a:txBody>
                  <a:tcPr marL="45720" marR="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p>
                      <a:pPr>
                        <a:defRPr sz="1800"/>
                      </a:pPr>
                      <a:r>
                        <a:rPr sz="1400">
                          <a:solidFill>
                            <a:srgbClr val="2A2440"/>
                          </a:solidFill>
                        </a:rPr>
                        <a:t>[$ </a:t>
                      </a:r>
                      <a:r>
                        <a:rPr lang="en-US" sz="1400">
                          <a:solidFill>
                            <a:srgbClr val="2A2440"/>
                          </a:solidFill>
                        </a:rPr>
                        <a:t>7.56</a:t>
                      </a:r>
                      <a:r>
                        <a:rPr sz="1400">
                          <a:solidFill>
                            <a:srgbClr val="2A2440"/>
                          </a:solidFill>
                        </a:rPr>
                        <a:t>]</a:t>
                      </a:r>
                      <a:endParaRPr sz="1400">
                        <a:solidFill>
                          <a:srgbClr val="2A2440"/>
                        </a:solidFill>
                      </a:endParaRPr>
                    </a:p>
                  </a:txBody>
                  <a:tcPr marL="45720" marR="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r>
              <a:tr h="402336">
                <a:tc>
                  <a:txBody>
                    <a:bodyPr/>
                    <a:p>
                      <a:pPr algn="l">
                        <a:defRPr sz="1800"/>
                      </a:pPr>
                      <a:r>
                        <a:rPr sz="1400">
                          <a:solidFill>
                            <a:srgbClr val="2A2440"/>
                          </a:solidFill>
                        </a:rPr>
                        <a:t>[</a:t>
                      </a:r>
                      <a:r>
                        <a:rPr lang="en-US" altLang="zh-CN" sz="1400">
                          <a:solidFill>
                            <a:srgbClr val="2A2440"/>
                          </a:solidFill>
                        </a:rPr>
                        <a:t>Cat litter box(Smart Paws,enclosed)</a:t>
                      </a:r>
                      <a:r>
                        <a:rPr sz="1400">
                          <a:solidFill>
                            <a:srgbClr val="2A2440"/>
                          </a:solidFill>
                        </a:rPr>
                        <a:t>]</a:t>
                      </a:r>
                      <a:endParaRPr sz="1400">
                        <a:solidFill>
                          <a:srgbClr val="2A2440"/>
                        </a:solidFill>
                      </a:endParaRPr>
                    </a:p>
                  </a:txBody>
                  <a:tcPr marL="45720" marR="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p>
                      <a:pPr algn="ctr">
                        <a:defRPr sz="1800"/>
                      </a:pPr>
                      <a:r>
                        <a:rPr sz="1400">
                          <a:solidFill>
                            <a:srgbClr val="2A2440"/>
                          </a:solidFill>
                        </a:rPr>
                        <a:t>[1]</a:t>
                      </a:r>
                      <a:endParaRPr sz="1400">
                        <a:solidFill>
                          <a:srgbClr val="2A2440"/>
                        </a:solidFill>
                      </a:endParaRPr>
                    </a:p>
                  </a:txBody>
                  <a:tcPr marL="45720" marR="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p>
                      <a:pPr>
                        <a:defRPr sz="1800"/>
                      </a:pPr>
                      <a:r>
                        <a:rPr sz="1400">
                          <a:solidFill>
                            <a:srgbClr val="2A2440"/>
                          </a:solidFill>
                        </a:rPr>
                        <a:t>[$ </a:t>
                      </a:r>
                      <a:r>
                        <a:rPr lang="en-US" sz="1400">
                          <a:solidFill>
                            <a:srgbClr val="2A2440"/>
                          </a:solidFill>
                        </a:rPr>
                        <a:t>43.99</a:t>
                      </a:r>
                      <a:r>
                        <a:rPr sz="1400">
                          <a:solidFill>
                            <a:srgbClr val="2A2440"/>
                          </a:solidFill>
                        </a:rPr>
                        <a:t>]</a:t>
                      </a:r>
                      <a:endParaRPr sz="1400">
                        <a:solidFill>
                          <a:srgbClr val="2A2440"/>
                        </a:solidFill>
                      </a:endParaRPr>
                    </a:p>
                  </a:txBody>
                  <a:tcPr marL="45720" marR="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p>
                      <a:pPr>
                        <a:defRPr sz="1800"/>
                      </a:pPr>
                      <a:r>
                        <a:rPr sz="1400">
                          <a:solidFill>
                            <a:srgbClr val="2A2440"/>
                          </a:solidFill>
                        </a:rPr>
                        <a:t>[$ </a:t>
                      </a:r>
                      <a:r>
                        <a:rPr lang="en-US" sz="1400">
                          <a:solidFill>
                            <a:srgbClr val="2A2440"/>
                          </a:solidFill>
                        </a:rPr>
                        <a:t>43.99</a:t>
                      </a:r>
                      <a:r>
                        <a:rPr sz="1400">
                          <a:solidFill>
                            <a:srgbClr val="2A2440"/>
                          </a:solidFill>
                        </a:rPr>
                        <a:t>]</a:t>
                      </a:r>
                      <a:endParaRPr sz="1400">
                        <a:solidFill>
                          <a:srgbClr val="2A2440"/>
                        </a:solidFill>
                      </a:endParaRPr>
                    </a:p>
                  </a:txBody>
                  <a:tcPr marL="45720" marR="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r>
              <a:tr h="402336">
                <a:tc>
                  <a:txBody>
                    <a:bodyPr/>
                    <a:lstStyle/>
                    <a:p>
                      <a:pPr algn="l">
                        <a:defRPr sz="1800"/>
                      </a:pPr>
                      <a:r>
                        <a:rPr sz="1400">
                          <a:solidFill>
                            <a:srgbClr val="2A2440"/>
                          </a:solidFill>
                        </a:rPr>
                        <a:t>[XIAO ESP32S3]</a:t>
                      </a:r>
                      <a:endParaRPr sz="1400">
                        <a:solidFill>
                          <a:srgbClr val="2A2440"/>
                        </a:solidFill>
                      </a:endParaRPr>
                    </a:p>
                  </a:txBody>
                  <a:tcPr marL="45720" marR="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lstStyle/>
                    <a:p>
                      <a:pPr algn="ctr">
                        <a:defRPr sz="1800"/>
                      </a:pPr>
                      <a:r>
                        <a:rPr sz="1400">
                          <a:solidFill>
                            <a:srgbClr val="2A2440"/>
                          </a:solidFill>
                        </a:rPr>
                        <a:t>[</a:t>
                      </a:r>
                      <a:r>
                        <a:rPr lang="en-US" sz="1400">
                          <a:solidFill>
                            <a:srgbClr val="2A2440"/>
                          </a:solidFill>
                        </a:rPr>
                        <a:t>2</a:t>
                      </a:r>
                      <a:r>
                        <a:rPr sz="1400">
                          <a:solidFill>
                            <a:srgbClr val="2A2440"/>
                          </a:solidFill>
                        </a:rPr>
                        <a:t>]</a:t>
                      </a:r>
                      <a:endParaRPr sz="1400">
                        <a:solidFill>
                          <a:srgbClr val="2A2440"/>
                        </a:solidFill>
                      </a:endParaRPr>
                    </a:p>
                  </a:txBody>
                  <a:tcPr marL="45720" marR="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lstStyle/>
                    <a:p>
                      <a:pPr>
                        <a:defRPr sz="1800"/>
                      </a:pPr>
                      <a:r>
                        <a:rPr sz="1400">
                          <a:solidFill>
                            <a:srgbClr val="2A2440"/>
                          </a:solidFill>
                        </a:rPr>
                        <a:t>[$ </a:t>
                      </a:r>
                      <a:r>
                        <a:rPr lang="en-US" sz="1400">
                          <a:solidFill>
                            <a:srgbClr val="2A2440"/>
                          </a:solidFill>
                        </a:rPr>
                        <a:t>0.00</a:t>
                      </a:r>
                      <a:r>
                        <a:rPr sz="1400">
                          <a:solidFill>
                            <a:srgbClr val="2A2440"/>
                          </a:solidFill>
                        </a:rPr>
                        <a:t>]</a:t>
                      </a:r>
                      <a:endParaRPr sz="1400">
                        <a:solidFill>
                          <a:srgbClr val="2A2440"/>
                        </a:solidFill>
                      </a:endParaRPr>
                    </a:p>
                  </a:txBody>
                  <a:tcPr marL="45720" marR="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lstStyle/>
                    <a:p>
                      <a:pPr>
                        <a:defRPr sz="1800"/>
                      </a:pPr>
                      <a:r>
                        <a:rPr sz="1400">
                          <a:solidFill>
                            <a:srgbClr val="2A2440"/>
                          </a:solidFill>
                        </a:rPr>
                        <a:t>[$ </a:t>
                      </a:r>
                      <a:r>
                        <a:rPr lang="en-US" sz="1400">
                          <a:solidFill>
                            <a:srgbClr val="2A2440"/>
                          </a:solidFill>
                        </a:rPr>
                        <a:t>0.00</a:t>
                      </a:r>
                      <a:r>
                        <a:rPr sz="1400">
                          <a:solidFill>
                            <a:srgbClr val="2A2440"/>
                          </a:solidFill>
                        </a:rPr>
                        <a:t>]</a:t>
                      </a:r>
                      <a:endParaRPr sz="1400">
                        <a:solidFill>
                          <a:srgbClr val="2A2440"/>
                        </a:solidFill>
                      </a:endParaRPr>
                    </a:p>
                  </a:txBody>
                  <a:tcPr marL="45720" marR="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r>
              <a:tr h="402336">
                <a:tc>
                  <a:txBody>
                    <a:bodyPr/>
                    <a:lstStyle/>
                    <a:p>
                      <a:pPr algn="l">
                        <a:defRPr sz="1800"/>
                      </a:pPr>
                      <a:r>
                        <a:rPr sz="1400">
                          <a:solidFill>
                            <a:srgbClr val="2A2440"/>
                          </a:solidFill>
                        </a:rPr>
                        <a:t>[Load cell + HX711]</a:t>
                      </a:r>
                      <a:endParaRPr sz="1400">
                        <a:solidFill>
                          <a:srgbClr val="2A2440"/>
                        </a:solidFill>
                      </a:endParaRPr>
                    </a:p>
                  </a:txBody>
                  <a:tcPr marL="45720" marR="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lstStyle/>
                    <a:p>
                      <a:pPr algn="ctr">
                        <a:defRPr sz="1800"/>
                      </a:pPr>
                      <a:r>
                        <a:rPr sz="1400">
                          <a:solidFill>
                            <a:srgbClr val="2A2440"/>
                          </a:solidFill>
                        </a:rPr>
                        <a:t>[1]</a:t>
                      </a:r>
                      <a:endParaRPr sz="1400">
                        <a:solidFill>
                          <a:srgbClr val="2A2440"/>
                        </a:solidFill>
                      </a:endParaRPr>
                    </a:p>
                  </a:txBody>
                  <a:tcPr marL="45720" marR="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lstStyle/>
                    <a:p>
                      <a:pPr>
                        <a:defRPr sz="1800"/>
                      </a:pPr>
                      <a:r>
                        <a:rPr sz="1400">
                          <a:solidFill>
                            <a:srgbClr val="2A2440"/>
                          </a:solidFill>
                        </a:rPr>
                        <a:t>[$ </a:t>
                      </a:r>
                      <a:r>
                        <a:rPr lang="en-US" sz="1400">
                          <a:solidFill>
                            <a:srgbClr val="2A2440"/>
                          </a:solidFill>
                        </a:rPr>
                        <a:t>0.00</a:t>
                      </a:r>
                      <a:r>
                        <a:rPr sz="1400">
                          <a:solidFill>
                            <a:srgbClr val="2A2440"/>
                          </a:solidFill>
                        </a:rPr>
                        <a:t>]</a:t>
                      </a:r>
                      <a:endParaRPr sz="1400">
                        <a:solidFill>
                          <a:srgbClr val="2A2440"/>
                        </a:solidFill>
                      </a:endParaRPr>
                    </a:p>
                  </a:txBody>
                  <a:tcPr marL="45720" marR="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lstStyle/>
                    <a:p>
                      <a:pPr>
                        <a:defRPr sz="1800"/>
                      </a:pPr>
                      <a:r>
                        <a:rPr sz="1400">
                          <a:solidFill>
                            <a:srgbClr val="2A2440"/>
                          </a:solidFill>
                        </a:rPr>
                        <a:t>[$ </a:t>
                      </a:r>
                      <a:r>
                        <a:rPr lang="en-US" sz="1400">
                          <a:solidFill>
                            <a:srgbClr val="2A2440"/>
                          </a:solidFill>
                        </a:rPr>
                        <a:t>0.00</a:t>
                      </a:r>
                      <a:r>
                        <a:rPr sz="1400">
                          <a:solidFill>
                            <a:srgbClr val="2A2440"/>
                          </a:solidFill>
                        </a:rPr>
                        <a:t>]</a:t>
                      </a:r>
                      <a:endParaRPr sz="1400">
                        <a:solidFill>
                          <a:srgbClr val="2A2440"/>
                        </a:solidFill>
                      </a:endParaRPr>
                    </a:p>
                  </a:txBody>
                  <a:tcPr marL="45720" marR="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r>
              <a:tr h="402336">
                <a:tc>
                  <a:txBody>
                    <a:bodyPr/>
                    <a:lstStyle/>
                    <a:p>
                      <a:pPr algn="l">
                        <a:defRPr sz="1800"/>
                      </a:pPr>
                      <a:r>
                        <a:rPr sz="1400">
                          <a:solidFill>
                            <a:srgbClr val="2A2440"/>
                          </a:solidFill>
                        </a:rPr>
                        <a:t>[PIR motion sensor]</a:t>
                      </a:r>
                      <a:endParaRPr sz="1400">
                        <a:solidFill>
                          <a:srgbClr val="2A2440"/>
                        </a:solidFill>
                      </a:endParaRPr>
                    </a:p>
                  </a:txBody>
                  <a:tcPr marL="45720" marR="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lstStyle/>
                    <a:p>
                      <a:pPr algn="ctr">
                        <a:defRPr sz="1800"/>
                      </a:pPr>
                      <a:r>
                        <a:rPr sz="1400">
                          <a:solidFill>
                            <a:srgbClr val="2A2440"/>
                          </a:solidFill>
                        </a:rPr>
                        <a:t>[1]</a:t>
                      </a:r>
                      <a:endParaRPr sz="1400">
                        <a:solidFill>
                          <a:srgbClr val="2A2440"/>
                        </a:solidFill>
                      </a:endParaRPr>
                    </a:p>
                  </a:txBody>
                  <a:tcPr marL="45720" marR="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lstStyle/>
                    <a:p>
                      <a:pPr>
                        <a:defRPr sz="1800"/>
                      </a:pPr>
                      <a:r>
                        <a:rPr sz="1400">
                          <a:solidFill>
                            <a:srgbClr val="2A2440"/>
                          </a:solidFill>
                        </a:rPr>
                        <a:t>[$ </a:t>
                      </a:r>
                      <a:r>
                        <a:rPr lang="en-US" sz="1400">
                          <a:solidFill>
                            <a:srgbClr val="2A2440"/>
                          </a:solidFill>
                        </a:rPr>
                        <a:t>0.00</a:t>
                      </a:r>
                      <a:r>
                        <a:rPr sz="1400">
                          <a:solidFill>
                            <a:srgbClr val="2A2440"/>
                          </a:solidFill>
                        </a:rPr>
                        <a:t>]</a:t>
                      </a:r>
                      <a:endParaRPr sz="1400">
                        <a:solidFill>
                          <a:srgbClr val="2A2440"/>
                        </a:solidFill>
                      </a:endParaRPr>
                    </a:p>
                  </a:txBody>
                  <a:tcPr marL="45720" marR="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c>
                  <a:txBody>
                    <a:bodyPr/>
                    <a:lstStyle/>
                    <a:p>
                      <a:pPr>
                        <a:defRPr sz="1800"/>
                      </a:pPr>
                      <a:r>
                        <a:rPr sz="1400">
                          <a:solidFill>
                            <a:srgbClr val="2A2440"/>
                          </a:solidFill>
                        </a:rPr>
                        <a:t>[$ </a:t>
                      </a:r>
                      <a:r>
                        <a:rPr lang="en-US" sz="1400">
                          <a:solidFill>
                            <a:srgbClr val="2A2440"/>
                          </a:solidFill>
                        </a:rPr>
                        <a:t>0.00</a:t>
                      </a:r>
                      <a:r>
                        <a:rPr sz="1400">
                          <a:solidFill>
                            <a:srgbClr val="2A2440"/>
                          </a:solidFill>
                        </a:rPr>
                        <a:t>]</a:t>
                      </a:r>
                      <a:endParaRPr sz="1400">
                        <a:solidFill>
                          <a:srgbClr val="2A2440"/>
                        </a:solidFill>
                      </a:endParaRPr>
                    </a:p>
                  </a:txBody>
                  <a:tcPr marL="45720" marR="45720" anchor="ctr" anchorCtr="0" horzOverflow="overflow">
                    <a:lnL w="6350">
                      <a:solidFill>
                        <a:srgbClr val="E4DFF0"/>
                      </a:solidFill>
                    </a:lnL>
                    <a:lnR w="6350">
                      <a:solidFill>
                        <a:srgbClr val="E4DFF0"/>
                      </a:solidFill>
                    </a:lnR>
                    <a:lnT w="6350">
                      <a:solidFill>
                        <a:srgbClr val="E4DFF0"/>
                      </a:solidFill>
                    </a:lnT>
                    <a:lnB w="6350">
                      <a:solidFill>
                        <a:srgbClr val="E4DFF0"/>
                      </a:solidFill>
                    </a:lnB>
                    <a:solidFill>
                      <a:srgbClr val="FFFFFF"/>
                    </a:solidFill>
                  </a:tcPr>
                </a:tc>
              </a:tr>
            </a:tbl>
          </a:graphicData>
        </a:graphic>
      </p:graphicFrame>
      <p:sp>
        <p:nvSpPr>
          <p:cNvPr id="191" name="Shape 13"/>
          <p:cNvSpPr/>
          <p:nvPr/>
        </p:nvSpPr>
        <p:spPr>
          <a:xfrm>
            <a:off x="548638" y="6446520"/>
            <a:ext cx="11064244" cy="1"/>
          </a:xfrm>
          <a:prstGeom prst="line">
            <a:avLst/>
          </a:prstGeom>
          <a:ln>
            <a:solidFill>
              <a:srgbClr val="E4DFF0"/>
            </a:solidFill>
          </a:ln>
        </p:spPr>
        <p:txBody>
          <a:bodyPr lIns="45718" tIns="45718" rIns="45718" bIns="45718"/>
          <a:lstStyle/>
          <a:p/>
        </p:txBody>
      </p:sp>
      <p:sp>
        <p:nvSpPr>
          <p:cNvPr id="192" name="Text 14"/>
          <p:cNvSpPr txBox="1"/>
          <p:nvPr/>
        </p:nvSpPr>
        <p:spPr>
          <a:xfrm>
            <a:off x="548640" y="6560864"/>
            <a:ext cx="7315201" cy="137071"/>
          </a:xfrm>
          <a:prstGeom prst="rect">
            <a:avLst/>
          </a:prstGeom>
          <a:ln w="12700">
            <a:miter lim="400000"/>
          </a:ln>
        </p:spPr>
        <p:txBody>
          <a:bodyPr lIns="0" tIns="0" rIns="0" bIns="0" anchor="ctr">
            <a:spAutoFit/>
          </a:bodyPr>
          <a:lstStyle>
            <a:lvl1pPr>
              <a:defRPr sz="1000">
                <a:solidFill>
                  <a:srgbClr val="7A7490"/>
                </a:solidFill>
              </a:defRPr>
            </a:lvl1pPr>
          </a:lstStyle>
          <a:p>
            <a:r>
              <a:t>Smart Cat Litter Box Monitor   |   Milestone 1</a:t>
            </a:r>
          </a:p>
        </p:txBody>
      </p:sp>
      <p:sp>
        <p:nvSpPr>
          <p:cNvPr id="193" name="Text 15"/>
          <p:cNvSpPr txBox="1"/>
          <p:nvPr/>
        </p:nvSpPr>
        <p:spPr>
          <a:xfrm>
            <a:off x="10698480" y="6560864"/>
            <a:ext cx="914402" cy="137071"/>
          </a:xfrm>
          <a:prstGeom prst="rect">
            <a:avLst/>
          </a:prstGeom>
          <a:ln w="12700">
            <a:miter lim="400000"/>
          </a:ln>
        </p:spPr>
        <p:txBody>
          <a:bodyPr lIns="0" tIns="0" rIns="0" bIns="0" anchor="ctr">
            <a:spAutoFit/>
          </a:bodyPr>
          <a:lstStyle>
            <a:lvl1pPr algn="r">
              <a:defRPr sz="1000">
                <a:solidFill>
                  <a:srgbClr val="7A7490"/>
                </a:solidFill>
              </a:defRPr>
            </a:lvl1pPr>
          </a:lstStyle>
          <a:p>
            <a:r>
              <a:t>6 / 6</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chemeClr val="accent1"/>
          </a:solidFill>
          <a:prstDash val="solid"/>
          <a:round/>
        </a:ln>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chemeClr val="accent1"/>
          </a:solidFill>
          <a:prstDash val="solid"/>
          <a:round/>
        </a:ln>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4152</Words>
  <Application>WPS 演示</Application>
  <PresentationFormat/>
  <Paragraphs>270</Paragraphs>
  <Slides>7</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vt:i4>
      </vt:variant>
    </vt:vector>
  </HeadingPairs>
  <TitlesOfParts>
    <vt:vector size="19" baseType="lpstr">
      <vt:lpstr>Arial</vt:lpstr>
      <vt:lpstr>宋体</vt:lpstr>
      <vt:lpstr>Wingdings</vt:lpstr>
      <vt:lpstr>Calibri</vt:lpstr>
      <vt:lpstr>Calibri Light</vt:lpstr>
      <vt:lpstr>Arial</vt:lpstr>
      <vt:lpstr>Georgia</vt:lpstr>
      <vt:lpstr>微软雅黑</vt:lpstr>
      <vt:lpstr>Arial Unicode MS</vt:lpstr>
      <vt:lpstr>Helvetica</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殳禾</cp:lastModifiedBy>
  <cp:revision>2</cp:revision>
  <dcterms:created xsi:type="dcterms:W3CDTF">2026-04-20T04:31:47Z</dcterms:created>
  <dcterms:modified xsi:type="dcterms:W3CDTF">2026-04-20T04:34:54Z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E3B2E2314B44464681D4A6E23E00AC1A_13</vt:lpwstr>
  </property>
</Properties>
</file>