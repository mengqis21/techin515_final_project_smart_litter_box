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media/image1.jpeg" ContentType="image/jpeg"/>
  <Override PartName="/ppt/media/image2.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标题文本"/>
          <p:cNvSpPr txBox="1"/>
          <p:nvPr>
            <p:ph type="title"/>
          </p:nvPr>
        </p:nvSpPr>
        <p:spPr>
          <a:xfrm>
            <a:off x="1826683" y="769937"/>
            <a:ext cx="9753601" cy="16684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lstStyle/>
          <a:p>
            <a:pPr/>
            <a:r>
              <a:t>标题文本</a:t>
            </a:r>
          </a:p>
        </p:txBody>
      </p:sp>
      <p:sp>
        <p:nvSpPr>
          <p:cNvPr id="3" name="正文级别 1…"/>
          <p:cNvSpPr txBox="1"/>
          <p:nvPr>
            <p:ph type="body" idx="1"/>
          </p:nvPr>
        </p:nvSpPr>
        <p:spPr>
          <a:xfrm>
            <a:off x="6805083" y="2438400"/>
            <a:ext cx="4775201" cy="44196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lstStyle/>
          <a:p>
            <a:pPr/>
            <a:r>
              <a:t>正文级别 1</a:t>
            </a:r>
          </a:p>
          <a:p>
            <a:pPr lvl="1"/>
            <a:r>
              <a:t>正文级别 2</a:t>
            </a:r>
          </a:p>
          <a:p>
            <a:pPr lvl="2"/>
            <a:r>
              <a:t>正文级别 3</a:t>
            </a:r>
          </a:p>
          <a:p>
            <a:pPr lvl="3"/>
            <a:r>
              <a:t>正文级别 4</a:t>
            </a:r>
          </a:p>
          <a:p>
            <a:pPr lvl="4"/>
            <a:r>
              <a:t>正文级别 5</a:t>
            </a:r>
          </a:p>
        </p:txBody>
      </p:sp>
      <p:sp>
        <p:nvSpPr>
          <p:cNvPr id="4" name="幻灯片编号"/>
          <p:cNvSpPr txBox="1"/>
          <p:nvPr>
            <p:ph type="sldNum" sz="quarter" idx="2"/>
          </p:nvPr>
        </p:nvSpPr>
        <p:spPr>
          <a:xfrm>
            <a:off x="8478981" y="6232199"/>
            <a:ext cx="258620" cy="248302"/>
          </a:xfrm>
          <a:prstGeom prst="rect">
            <a:avLst/>
          </a:prstGeom>
          <a:ln w="12700">
            <a:miter lim="400000"/>
          </a:ln>
        </p:spPr>
        <p:txBody>
          <a:bodyPr wrap="none" lIns="45718" tIns="45718" rIns="45718" bIns="45718" anchor="ctr">
            <a:spAutoFit/>
          </a:bodyPr>
          <a:lstStyle>
            <a:lvl1pPr algn="r">
              <a:defRPr sz="1200">
                <a:latin typeface="+mn-lt"/>
                <a:ea typeface="+mn-ea"/>
                <a:cs typeface="+mn-cs"/>
                <a:sym typeface="Calibri"/>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590" marR="0" indent="-32639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jpeg"/><Relationship Id="rId4" Type="http://schemas.openxmlformats.org/officeDocument/2006/relationships/image" Target="../media/image2.jpeg"/></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BFAF6"/>
        </a:solidFill>
      </p:bgPr>
    </p:bg>
    <p:spTree>
      <p:nvGrpSpPr>
        <p:cNvPr id="1" name=""/>
        <p:cNvGrpSpPr/>
        <p:nvPr/>
      </p:nvGrpSpPr>
      <p:grpSpPr>
        <a:xfrm>
          <a:off x="0" y="0"/>
          <a:ext cx="0" cy="0"/>
          <a:chOff x="0" y="0"/>
          <a:chExt cx="0" cy="0"/>
        </a:xfrm>
      </p:grpSpPr>
      <p:pic>
        <p:nvPicPr>
          <p:cNvPr id="20" name="图片 1" descr="图片 1"/>
          <p:cNvPicPr>
            <a:picLocks noChangeAspect="1"/>
          </p:cNvPicPr>
          <p:nvPr/>
        </p:nvPicPr>
        <p:blipFill>
          <a:blip r:embed="rId2">
            <a:extLst/>
          </a:blip>
          <a:stretch>
            <a:fillRect/>
          </a:stretch>
        </p:blipFill>
        <p:spPr>
          <a:xfrm>
            <a:off x="7752080" y="1557019"/>
            <a:ext cx="2798446" cy="2670812"/>
          </a:xfrm>
          <a:prstGeom prst="rect">
            <a:avLst/>
          </a:prstGeom>
          <a:ln w="12700">
            <a:miter lim="400000"/>
          </a:ln>
        </p:spPr>
      </p:pic>
      <p:sp>
        <p:nvSpPr>
          <p:cNvPr id="21" name="Shape 0"/>
          <p:cNvSpPr/>
          <p:nvPr/>
        </p:nvSpPr>
        <p:spPr>
          <a:xfrm>
            <a:off x="548638" y="548640"/>
            <a:ext cx="11064245" cy="1"/>
          </a:xfrm>
          <a:prstGeom prst="line">
            <a:avLst/>
          </a:prstGeom>
          <a:ln w="15875">
            <a:solidFill>
              <a:srgbClr val="7C6BB5"/>
            </a:solidFill>
          </a:ln>
        </p:spPr>
        <p:txBody>
          <a:bodyPr lIns="45718" tIns="45718" rIns="45718" bIns="45718"/>
          <a:lstStyle/>
          <a:p>
            <a:pPr/>
          </a:p>
        </p:txBody>
      </p:sp>
      <p:sp>
        <p:nvSpPr>
          <p:cNvPr id="22" name="Text 1"/>
          <p:cNvSpPr txBox="1"/>
          <p:nvPr/>
        </p:nvSpPr>
        <p:spPr>
          <a:xfrm>
            <a:off x="548638" y="749852"/>
            <a:ext cx="5486405"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50" sz="1000">
                <a:solidFill>
                  <a:srgbClr val="7C6BB5"/>
                </a:solidFill>
                <a:latin typeface="+mn-lt"/>
                <a:ea typeface="+mn-ea"/>
                <a:cs typeface="+mn-cs"/>
                <a:sym typeface="Calibri"/>
              </a:defRPr>
            </a:lvl1pPr>
          </a:lstStyle>
          <a:p>
            <a:pPr/>
            <a:r>
              <a:t>MILESTONE 1</a:t>
            </a:r>
          </a:p>
        </p:txBody>
      </p:sp>
      <p:sp>
        <p:nvSpPr>
          <p:cNvPr id="23" name="Text 2"/>
          <p:cNvSpPr txBox="1"/>
          <p:nvPr/>
        </p:nvSpPr>
        <p:spPr>
          <a:xfrm>
            <a:off x="10058400" y="749852"/>
            <a:ext cx="155448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50" sz="1000">
                <a:solidFill>
                  <a:srgbClr val="7A7490"/>
                </a:solidFill>
                <a:latin typeface="+mn-lt"/>
                <a:ea typeface="+mn-ea"/>
                <a:cs typeface="+mn-cs"/>
                <a:sym typeface="Calibri"/>
              </a:defRPr>
            </a:lvl1pPr>
          </a:lstStyle>
          <a:p>
            <a:pPr/>
            <a:r>
              <a:t>TEAM PROJECT</a:t>
            </a:r>
          </a:p>
        </p:txBody>
      </p:sp>
      <p:sp>
        <p:nvSpPr>
          <p:cNvPr id="24" name="Text 3"/>
          <p:cNvSpPr txBox="1"/>
          <p:nvPr/>
        </p:nvSpPr>
        <p:spPr>
          <a:xfrm>
            <a:off x="1188719" y="1938654"/>
            <a:ext cx="6637020" cy="787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5400">
                <a:solidFill>
                  <a:srgbClr val="2A2440"/>
                </a:solidFill>
                <a:latin typeface="Georgia"/>
                <a:ea typeface="Georgia"/>
                <a:cs typeface="Georgia"/>
                <a:sym typeface="Georgia"/>
              </a:defRPr>
            </a:lvl1pPr>
          </a:lstStyle>
          <a:p>
            <a:pPr/>
            <a:r>
              <a:t>Smart Cat Litter</a:t>
            </a:r>
          </a:p>
        </p:txBody>
      </p:sp>
      <p:sp>
        <p:nvSpPr>
          <p:cNvPr id="25" name="Text 4"/>
          <p:cNvSpPr txBox="1"/>
          <p:nvPr/>
        </p:nvSpPr>
        <p:spPr>
          <a:xfrm>
            <a:off x="1188719" y="2944495"/>
            <a:ext cx="6637020" cy="787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i="1" sz="5400">
                <a:solidFill>
                  <a:srgbClr val="7C6BB5"/>
                </a:solidFill>
                <a:latin typeface="Georgia"/>
                <a:ea typeface="Georgia"/>
                <a:cs typeface="Georgia"/>
                <a:sym typeface="Georgia"/>
              </a:defRPr>
            </a:lvl1pPr>
          </a:lstStyle>
          <a:p>
            <a:pPr/>
            <a:r>
              <a:t>Box Monitor</a:t>
            </a:r>
          </a:p>
        </p:txBody>
      </p:sp>
      <p:sp>
        <p:nvSpPr>
          <p:cNvPr id="26" name="Shape 5"/>
          <p:cNvSpPr/>
          <p:nvPr/>
        </p:nvSpPr>
        <p:spPr>
          <a:xfrm>
            <a:off x="5532120" y="4343400"/>
            <a:ext cx="1097283" cy="0"/>
          </a:xfrm>
          <a:prstGeom prst="line">
            <a:avLst/>
          </a:prstGeom>
          <a:ln w="12700">
            <a:solidFill>
              <a:srgbClr val="B5ADCF"/>
            </a:solidFill>
          </a:ln>
        </p:spPr>
        <p:txBody>
          <a:bodyPr lIns="45718" tIns="45718" rIns="45718" bIns="45718"/>
          <a:lstStyle/>
          <a:p>
            <a:pPr/>
          </a:p>
        </p:txBody>
      </p:sp>
      <p:sp>
        <p:nvSpPr>
          <p:cNvPr id="27" name="Text 6"/>
          <p:cNvSpPr txBox="1"/>
          <p:nvPr/>
        </p:nvSpPr>
        <p:spPr>
          <a:xfrm>
            <a:off x="548638" y="4627441"/>
            <a:ext cx="1106424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i="1" sz="1600">
                <a:solidFill>
                  <a:srgbClr val="7A7490"/>
                </a:solidFill>
                <a:latin typeface="+mn-lt"/>
                <a:ea typeface="+mn-ea"/>
                <a:cs typeface="+mn-cs"/>
                <a:sym typeface="Calibri"/>
              </a:defRPr>
            </a:lvl1pPr>
          </a:lstStyle>
          <a:p>
            <a:pPr/>
            <a:r>
              <a:t>Passive health tracking for cats through visit, weight, and pattern monitoring.</a:t>
            </a:r>
          </a:p>
        </p:txBody>
      </p:sp>
      <p:sp>
        <p:nvSpPr>
          <p:cNvPr id="28" name="Shape 7"/>
          <p:cNvSpPr/>
          <p:nvPr/>
        </p:nvSpPr>
        <p:spPr>
          <a:xfrm>
            <a:off x="1188719" y="5212079"/>
            <a:ext cx="9784082" cy="1"/>
          </a:xfrm>
          <a:prstGeom prst="line">
            <a:avLst/>
          </a:prstGeom>
          <a:ln>
            <a:solidFill>
              <a:srgbClr val="E4DFF0"/>
            </a:solidFill>
          </a:ln>
        </p:spPr>
        <p:txBody>
          <a:bodyPr lIns="45718" tIns="45718" rIns="45718" bIns="45718"/>
          <a:lstStyle/>
          <a:p>
            <a:pPr/>
          </a:p>
        </p:txBody>
      </p:sp>
      <p:sp>
        <p:nvSpPr>
          <p:cNvPr id="29" name="Text 8"/>
          <p:cNvSpPr txBox="1"/>
          <p:nvPr/>
        </p:nvSpPr>
        <p:spPr>
          <a:xfrm>
            <a:off x="1188717" y="5468618"/>
            <a:ext cx="3657605"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900">
                <a:solidFill>
                  <a:srgbClr val="7C6BB5"/>
                </a:solidFill>
                <a:latin typeface="+mn-lt"/>
                <a:ea typeface="+mn-ea"/>
                <a:cs typeface="+mn-cs"/>
                <a:sym typeface="Calibri"/>
              </a:defRPr>
            </a:lvl1pPr>
          </a:lstStyle>
          <a:p>
            <a:pPr/>
            <a:r>
              <a:t>TEAM</a:t>
            </a:r>
          </a:p>
        </p:txBody>
      </p:sp>
      <p:sp>
        <p:nvSpPr>
          <p:cNvPr id="30" name="Text 9"/>
          <p:cNvSpPr txBox="1"/>
          <p:nvPr/>
        </p:nvSpPr>
        <p:spPr>
          <a:xfrm>
            <a:off x="1188718" y="5758880"/>
            <a:ext cx="4389125"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2A2440"/>
                </a:solidFill>
                <a:latin typeface="+mn-lt"/>
                <a:ea typeface="+mn-ea"/>
                <a:cs typeface="+mn-cs"/>
                <a:sym typeface="Calibri"/>
              </a:defRPr>
            </a:lvl1pPr>
          </a:lstStyle>
          <a:p>
            <a:pPr/>
            <a:r>
              <a:t>Mengqi Shi    Yuna Xiong    Xin Luo</a:t>
            </a:r>
          </a:p>
        </p:txBody>
      </p:sp>
      <p:sp>
        <p:nvSpPr>
          <p:cNvPr id="31" name="Text 10"/>
          <p:cNvSpPr txBox="1"/>
          <p:nvPr/>
        </p:nvSpPr>
        <p:spPr>
          <a:xfrm>
            <a:off x="5943600" y="5468618"/>
            <a:ext cx="36576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900">
                <a:solidFill>
                  <a:srgbClr val="7C6BB5"/>
                </a:solidFill>
                <a:latin typeface="+mn-lt"/>
                <a:ea typeface="+mn-ea"/>
                <a:cs typeface="+mn-cs"/>
                <a:sym typeface="Calibri"/>
              </a:defRPr>
            </a:lvl1pPr>
          </a:lstStyle>
          <a:p>
            <a:pPr/>
            <a:r>
              <a:t>TEAM</a:t>
            </a:r>
          </a:p>
        </p:txBody>
      </p:sp>
      <p:sp>
        <p:nvSpPr>
          <p:cNvPr id="32" name="Text 11"/>
          <p:cNvSpPr txBox="1"/>
          <p:nvPr/>
        </p:nvSpPr>
        <p:spPr>
          <a:xfrm>
            <a:off x="5943600" y="5758880"/>
            <a:ext cx="438912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2A2440"/>
                </a:solidFill>
                <a:latin typeface="+mn-lt"/>
                <a:ea typeface="+mn-ea"/>
                <a:cs typeface="+mn-cs"/>
                <a:sym typeface="Calibri"/>
              </a:defRPr>
            </a:lvl1pPr>
          </a:lstStyle>
          <a:p>
            <a:pPr/>
            <a:r>
              <a:t>Team SmartLitterBox</a:t>
            </a:r>
          </a:p>
        </p:txBody>
      </p:sp>
      <p:sp>
        <p:nvSpPr>
          <p:cNvPr id="33" name="Text 12"/>
          <p:cNvSpPr txBox="1"/>
          <p:nvPr/>
        </p:nvSpPr>
        <p:spPr>
          <a:xfrm>
            <a:off x="8503918" y="5468618"/>
            <a:ext cx="3657604"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900">
                <a:solidFill>
                  <a:srgbClr val="7C6BB5"/>
                </a:solidFill>
                <a:latin typeface="+mn-lt"/>
                <a:ea typeface="+mn-ea"/>
                <a:cs typeface="+mn-cs"/>
                <a:sym typeface="Calibri"/>
              </a:defRPr>
            </a:lvl1pPr>
          </a:lstStyle>
          <a:p>
            <a:pPr/>
            <a:r>
              <a:t>GITHUB</a:t>
            </a:r>
          </a:p>
        </p:txBody>
      </p:sp>
      <p:sp>
        <p:nvSpPr>
          <p:cNvPr id="34" name="Text 13"/>
          <p:cNvSpPr txBox="1"/>
          <p:nvPr/>
        </p:nvSpPr>
        <p:spPr>
          <a:xfrm>
            <a:off x="8503918" y="5644581"/>
            <a:ext cx="4389123" cy="4151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2A2440"/>
                </a:solidFill>
                <a:latin typeface="+mn-lt"/>
                <a:ea typeface="+mn-ea"/>
                <a:cs typeface="+mn-cs"/>
                <a:sym typeface="Calibri"/>
              </a:defRPr>
            </a:lvl1pPr>
          </a:lstStyle>
          <a:p>
            <a:pPr/>
            <a:r>
              <a:t>https://github.com/MengqiS21/TECHIN515_final_project_smart_litter_box</a:t>
            </a:r>
          </a:p>
        </p:txBody>
      </p:sp>
      <p:sp>
        <p:nvSpPr>
          <p:cNvPr id="35" name="Shape 14"/>
          <p:cNvSpPr/>
          <p:nvPr/>
        </p:nvSpPr>
        <p:spPr>
          <a:xfrm>
            <a:off x="548638" y="6446520"/>
            <a:ext cx="11064245" cy="1"/>
          </a:xfrm>
          <a:prstGeom prst="line">
            <a:avLst/>
          </a:prstGeom>
          <a:ln>
            <a:solidFill>
              <a:srgbClr val="E4DFF0"/>
            </a:solidFill>
          </a:ln>
        </p:spPr>
        <p:txBody>
          <a:bodyPr lIns="45718" tIns="45718" rIns="45718" bIns="45718"/>
          <a:lstStyle/>
          <a:p>
            <a:pPr/>
          </a:p>
        </p:txBody>
      </p:sp>
      <p:sp>
        <p:nvSpPr>
          <p:cNvPr id="36" name="Text 15"/>
          <p:cNvSpPr txBox="1"/>
          <p:nvPr/>
        </p:nvSpPr>
        <p:spPr>
          <a:xfrm>
            <a:off x="548640" y="6560863"/>
            <a:ext cx="7315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7A7490"/>
                </a:solidFill>
                <a:latin typeface="+mn-lt"/>
                <a:ea typeface="+mn-ea"/>
                <a:cs typeface="+mn-cs"/>
                <a:sym typeface="Calibri"/>
              </a:defRPr>
            </a:lvl1pPr>
          </a:lstStyle>
          <a:p>
            <a:pPr/>
            <a:r>
              <a:t>Smart Cat Litter Box Monitor   |   Milestone 1</a:t>
            </a:r>
          </a:p>
        </p:txBody>
      </p:sp>
      <p:sp>
        <p:nvSpPr>
          <p:cNvPr id="37" name="Text 16"/>
          <p:cNvSpPr txBox="1"/>
          <p:nvPr/>
        </p:nvSpPr>
        <p:spPr>
          <a:xfrm>
            <a:off x="10698480" y="6560863"/>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solidFill>
                  <a:srgbClr val="7A7490"/>
                </a:solidFill>
                <a:latin typeface="+mn-lt"/>
                <a:ea typeface="+mn-ea"/>
                <a:cs typeface="+mn-cs"/>
                <a:sym typeface="Calibri"/>
              </a:defRPr>
            </a:lvl1pPr>
          </a:lstStyle>
          <a:p>
            <a:pPr/>
            <a:r>
              <a:t>1 / 6</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BFAF6"/>
        </a:solidFill>
      </p:bgPr>
    </p:bg>
    <p:spTree>
      <p:nvGrpSpPr>
        <p:cNvPr id="1" name=""/>
        <p:cNvGrpSpPr/>
        <p:nvPr/>
      </p:nvGrpSpPr>
      <p:grpSpPr>
        <a:xfrm>
          <a:off x="0" y="0"/>
          <a:ext cx="0" cy="0"/>
          <a:chOff x="0" y="0"/>
          <a:chExt cx="0" cy="0"/>
        </a:xfrm>
      </p:grpSpPr>
      <p:sp>
        <p:nvSpPr>
          <p:cNvPr id="39" name="Shape 0"/>
          <p:cNvSpPr/>
          <p:nvPr/>
        </p:nvSpPr>
        <p:spPr>
          <a:xfrm>
            <a:off x="548640" y="530351"/>
            <a:ext cx="146307" cy="146307"/>
          </a:xfrm>
          <a:prstGeom prst="rect">
            <a:avLst/>
          </a:prstGeom>
          <a:solidFill>
            <a:srgbClr val="7C6BB5"/>
          </a:solidFill>
          <a:ln w="12700">
            <a:solidFill>
              <a:srgbClr val="7C6BB5"/>
            </a:solidFill>
          </a:ln>
        </p:spPr>
        <p:txBody>
          <a:bodyPr lIns="45718" tIns="45718" rIns="45718" bIns="45718"/>
          <a:lstStyle/>
          <a:p>
            <a:pPr>
              <a:defRPr>
                <a:latin typeface="+mn-lt"/>
                <a:ea typeface="+mn-ea"/>
                <a:cs typeface="+mn-cs"/>
                <a:sym typeface="Calibri"/>
              </a:defRPr>
            </a:pPr>
          </a:p>
        </p:txBody>
      </p:sp>
      <p:sp>
        <p:nvSpPr>
          <p:cNvPr id="40" name="Text 1"/>
          <p:cNvSpPr txBox="1"/>
          <p:nvPr/>
        </p:nvSpPr>
        <p:spPr>
          <a:xfrm>
            <a:off x="777238" y="534966"/>
            <a:ext cx="548640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50" sz="1000">
                <a:solidFill>
                  <a:srgbClr val="7C6BB5"/>
                </a:solidFill>
                <a:latin typeface="+mn-lt"/>
                <a:ea typeface="+mn-ea"/>
                <a:cs typeface="+mn-cs"/>
                <a:sym typeface="Calibri"/>
              </a:defRPr>
            </a:lvl1pPr>
          </a:lstStyle>
          <a:p>
            <a:pPr/>
            <a:r>
              <a:t>01  PROBLEM</a:t>
            </a:r>
          </a:p>
        </p:txBody>
      </p:sp>
      <p:sp>
        <p:nvSpPr>
          <p:cNvPr id="41" name="Text 2"/>
          <p:cNvSpPr txBox="1"/>
          <p:nvPr/>
        </p:nvSpPr>
        <p:spPr>
          <a:xfrm>
            <a:off x="548638" y="989328"/>
            <a:ext cx="11064245"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2A2440"/>
                </a:solidFill>
                <a:latin typeface="Georgia"/>
                <a:ea typeface="Georgia"/>
                <a:cs typeface="Georgia"/>
                <a:sym typeface="Georgia"/>
              </a:defRPr>
            </a:lvl1pPr>
          </a:lstStyle>
          <a:p>
            <a:pPr/>
            <a:r>
              <a:t>The Problem &amp; Who It Affects</a:t>
            </a:r>
          </a:p>
        </p:txBody>
      </p:sp>
      <p:sp>
        <p:nvSpPr>
          <p:cNvPr id="42" name="Shape 3"/>
          <p:cNvSpPr/>
          <p:nvPr/>
        </p:nvSpPr>
        <p:spPr>
          <a:xfrm flipH="1">
            <a:off x="6035040" y="2103120"/>
            <a:ext cx="1" cy="4023360"/>
          </a:xfrm>
          <a:prstGeom prst="line">
            <a:avLst/>
          </a:prstGeom>
          <a:ln>
            <a:solidFill>
              <a:srgbClr val="E4DFF0"/>
            </a:solidFill>
          </a:ln>
        </p:spPr>
        <p:txBody>
          <a:bodyPr lIns="45718" tIns="45718" rIns="45718" bIns="45718"/>
          <a:lstStyle/>
          <a:p>
            <a:pPr/>
          </a:p>
        </p:txBody>
      </p:sp>
      <p:sp>
        <p:nvSpPr>
          <p:cNvPr id="43" name="Text 4"/>
          <p:cNvSpPr txBox="1"/>
          <p:nvPr/>
        </p:nvSpPr>
        <p:spPr>
          <a:xfrm>
            <a:off x="548638" y="2103164"/>
            <a:ext cx="4572005"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THE PROBLEM</a:t>
            </a:r>
          </a:p>
        </p:txBody>
      </p:sp>
      <p:sp>
        <p:nvSpPr>
          <p:cNvPr id="44" name="Text 5"/>
          <p:cNvSpPr txBox="1"/>
          <p:nvPr/>
        </p:nvSpPr>
        <p:spPr>
          <a:xfrm>
            <a:off x="548638" y="2404110"/>
            <a:ext cx="5303524" cy="952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2200">
                <a:solidFill>
                  <a:srgbClr val="2A2440"/>
                </a:solidFill>
                <a:latin typeface="Georgia"/>
                <a:ea typeface="Georgia"/>
                <a:cs typeface="Georgia"/>
                <a:sym typeface="Georgia"/>
              </a:defRPr>
            </a:lvl1pPr>
          </a:lstStyle>
          <a:p>
            <a:pPr/>
            <a:r>
              <a:t>Cat owners have no easy way to detect early signs of health issues from litter box behavior.</a:t>
            </a:r>
          </a:p>
        </p:txBody>
      </p:sp>
      <p:sp>
        <p:nvSpPr>
          <p:cNvPr id="45" name="Text 6"/>
          <p:cNvSpPr txBox="1"/>
          <p:nvPr/>
        </p:nvSpPr>
        <p:spPr>
          <a:xfrm>
            <a:off x="548638" y="4387280"/>
            <a:ext cx="5303524" cy="11009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7A7490"/>
                </a:solidFill>
                <a:latin typeface="+mn-lt"/>
                <a:ea typeface="+mn-ea"/>
                <a:cs typeface="+mn-cs"/>
                <a:sym typeface="Calibri"/>
              </a:defRPr>
            </a:lvl1pPr>
          </a:lstStyle>
          <a:p>
            <a:pPr/>
            <a:r>
              <a:t>Cats often hide symptoms of illness such as urinary blockages or weight loss. Subtle changes in litter box visit frequency, duration, and body weight are hard to notice without consistent tracking. By the time owners spot a problem, the condition may already be serious.</a:t>
            </a:r>
          </a:p>
        </p:txBody>
      </p:sp>
      <p:sp>
        <p:nvSpPr>
          <p:cNvPr id="46" name="Text 7"/>
          <p:cNvSpPr txBox="1"/>
          <p:nvPr/>
        </p:nvSpPr>
        <p:spPr>
          <a:xfrm>
            <a:off x="6309359" y="2103164"/>
            <a:ext cx="457200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BY THE NUMBERS</a:t>
            </a:r>
          </a:p>
        </p:txBody>
      </p:sp>
      <p:sp>
        <p:nvSpPr>
          <p:cNvPr id="47" name="Text 8"/>
          <p:cNvSpPr txBox="1"/>
          <p:nvPr/>
        </p:nvSpPr>
        <p:spPr>
          <a:xfrm>
            <a:off x="6309359" y="2484120"/>
            <a:ext cx="5303523" cy="609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4200">
                <a:solidFill>
                  <a:srgbClr val="5B4A94"/>
                </a:solidFill>
                <a:latin typeface="Georgia"/>
                <a:ea typeface="Georgia"/>
                <a:cs typeface="Georgia"/>
                <a:sym typeface="Georgia"/>
              </a:defRPr>
            </a:lvl1pPr>
          </a:lstStyle>
          <a:p>
            <a:pPr/>
            <a:r>
              <a:t>64.5%</a:t>
            </a:r>
          </a:p>
        </p:txBody>
      </p:sp>
      <p:sp>
        <p:nvSpPr>
          <p:cNvPr id="48" name="Text 9"/>
          <p:cNvSpPr txBox="1"/>
          <p:nvPr/>
        </p:nvSpPr>
        <p:spPr>
          <a:xfrm>
            <a:off x="6309359" y="3472617"/>
            <a:ext cx="5303523" cy="3699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300">
                <a:solidFill>
                  <a:srgbClr val="7A7490"/>
                </a:solidFill>
                <a:latin typeface="+mn-lt"/>
                <a:ea typeface="+mn-ea"/>
                <a:cs typeface="+mn-cs"/>
                <a:sym typeface="Calibri"/>
              </a:defRPr>
            </a:lvl1pPr>
          </a:lstStyle>
          <a:p>
            <a:pPr/>
            <a:r>
              <a:t>of cats with urinary tract issues show no obvious symptoms until the condition becomes serious</a:t>
            </a:r>
          </a:p>
        </p:txBody>
      </p:sp>
      <p:sp>
        <p:nvSpPr>
          <p:cNvPr id="49" name="Shape 10"/>
          <p:cNvSpPr/>
          <p:nvPr/>
        </p:nvSpPr>
        <p:spPr>
          <a:xfrm>
            <a:off x="6309359" y="4160520"/>
            <a:ext cx="5303523" cy="1"/>
          </a:xfrm>
          <a:prstGeom prst="line">
            <a:avLst/>
          </a:prstGeom>
          <a:ln>
            <a:solidFill>
              <a:srgbClr val="E4DFF0"/>
            </a:solidFill>
          </a:ln>
        </p:spPr>
        <p:txBody>
          <a:bodyPr lIns="45718" tIns="45718" rIns="45718" bIns="45718"/>
          <a:lstStyle/>
          <a:p>
            <a:pPr/>
          </a:p>
        </p:txBody>
      </p:sp>
      <p:sp>
        <p:nvSpPr>
          <p:cNvPr id="50" name="Text 11"/>
          <p:cNvSpPr txBox="1"/>
          <p:nvPr/>
        </p:nvSpPr>
        <p:spPr>
          <a:xfrm>
            <a:off x="6309359" y="4389163"/>
            <a:ext cx="45720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INTENDED USER GROUP</a:t>
            </a:r>
          </a:p>
        </p:txBody>
      </p:sp>
      <p:sp>
        <p:nvSpPr>
          <p:cNvPr id="51" name="Text 12"/>
          <p:cNvSpPr txBox="1"/>
          <p:nvPr/>
        </p:nvSpPr>
        <p:spPr>
          <a:xfrm>
            <a:off x="6309359" y="5164520"/>
            <a:ext cx="5303523" cy="6437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2A2440"/>
                </a:solidFill>
                <a:latin typeface="+mn-lt"/>
                <a:ea typeface="+mn-ea"/>
                <a:cs typeface="+mn-cs"/>
                <a:sym typeface="Calibri"/>
              </a:defRPr>
            </a:lvl1pPr>
          </a:lstStyle>
          <a:p>
            <a:pPr/>
            <a:r>
              <a:t>Cat owners who want passive, automatic monitoring of their cat's health through litter box usage patterns, without relying on manual observation or frequent vet visits.</a:t>
            </a:r>
          </a:p>
        </p:txBody>
      </p:sp>
      <p:sp>
        <p:nvSpPr>
          <p:cNvPr id="52" name="Shape 13"/>
          <p:cNvSpPr/>
          <p:nvPr/>
        </p:nvSpPr>
        <p:spPr>
          <a:xfrm>
            <a:off x="548638" y="6446520"/>
            <a:ext cx="11064245" cy="1"/>
          </a:xfrm>
          <a:prstGeom prst="line">
            <a:avLst/>
          </a:prstGeom>
          <a:ln>
            <a:solidFill>
              <a:srgbClr val="E4DFF0"/>
            </a:solidFill>
          </a:ln>
        </p:spPr>
        <p:txBody>
          <a:bodyPr lIns="45718" tIns="45718" rIns="45718" bIns="45718"/>
          <a:lstStyle/>
          <a:p>
            <a:pPr/>
          </a:p>
        </p:txBody>
      </p:sp>
      <p:sp>
        <p:nvSpPr>
          <p:cNvPr id="53" name="Text 14"/>
          <p:cNvSpPr txBox="1"/>
          <p:nvPr/>
        </p:nvSpPr>
        <p:spPr>
          <a:xfrm>
            <a:off x="548640" y="6560863"/>
            <a:ext cx="7315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7A7490"/>
                </a:solidFill>
                <a:latin typeface="+mn-lt"/>
                <a:ea typeface="+mn-ea"/>
                <a:cs typeface="+mn-cs"/>
                <a:sym typeface="Calibri"/>
              </a:defRPr>
            </a:lvl1pPr>
          </a:lstStyle>
          <a:p>
            <a:pPr/>
            <a:r>
              <a:t>Smart Cat Litter Box Monitor   |   Milestone 1</a:t>
            </a:r>
          </a:p>
        </p:txBody>
      </p:sp>
      <p:sp>
        <p:nvSpPr>
          <p:cNvPr id="54" name="Text 15"/>
          <p:cNvSpPr txBox="1"/>
          <p:nvPr/>
        </p:nvSpPr>
        <p:spPr>
          <a:xfrm>
            <a:off x="10698480" y="6560863"/>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solidFill>
                  <a:srgbClr val="7A7490"/>
                </a:solidFill>
                <a:latin typeface="+mn-lt"/>
                <a:ea typeface="+mn-ea"/>
                <a:cs typeface="+mn-cs"/>
                <a:sym typeface="Calibri"/>
              </a:defRPr>
            </a:lvl1pPr>
          </a:lstStyle>
          <a:p>
            <a:pPr/>
            <a:r>
              <a:t>2 / 6</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BFAF6"/>
        </a:solidFill>
      </p:bgPr>
    </p:bg>
    <p:spTree>
      <p:nvGrpSpPr>
        <p:cNvPr id="1" name=""/>
        <p:cNvGrpSpPr/>
        <p:nvPr/>
      </p:nvGrpSpPr>
      <p:grpSpPr>
        <a:xfrm>
          <a:off x="0" y="0"/>
          <a:ext cx="0" cy="0"/>
          <a:chOff x="0" y="0"/>
          <a:chExt cx="0" cy="0"/>
        </a:xfrm>
      </p:grpSpPr>
      <p:sp>
        <p:nvSpPr>
          <p:cNvPr id="56" name="Shape 0"/>
          <p:cNvSpPr/>
          <p:nvPr/>
        </p:nvSpPr>
        <p:spPr>
          <a:xfrm>
            <a:off x="548640" y="530351"/>
            <a:ext cx="146307" cy="146307"/>
          </a:xfrm>
          <a:prstGeom prst="rect">
            <a:avLst/>
          </a:prstGeom>
          <a:solidFill>
            <a:srgbClr val="7C6BB5"/>
          </a:solidFill>
          <a:ln w="12700">
            <a:solidFill>
              <a:srgbClr val="7C6BB5"/>
            </a:solidFill>
          </a:ln>
        </p:spPr>
        <p:txBody>
          <a:bodyPr lIns="45718" tIns="45718" rIns="45718" bIns="45718"/>
          <a:lstStyle/>
          <a:p>
            <a:pPr>
              <a:defRPr>
                <a:latin typeface="+mn-lt"/>
                <a:ea typeface="+mn-ea"/>
                <a:cs typeface="+mn-cs"/>
                <a:sym typeface="Calibri"/>
              </a:defRPr>
            </a:pPr>
          </a:p>
        </p:txBody>
      </p:sp>
      <p:sp>
        <p:nvSpPr>
          <p:cNvPr id="57" name="Text 1"/>
          <p:cNvSpPr txBox="1"/>
          <p:nvPr/>
        </p:nvSpPr>
        <p:spPr>
          <a:xfrm>
            <a:off x="777238" y="534966"/>
            <a:ext cx="548640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50" sz="1000">
                <a:solidFill>
                  <a:srgbClr val="7C6BB5"/>
                </a:solidFill>
                <a:latin typeface="+mn-lt"/>
                <a:ea typeface="+mn-ea"/>
                <a:cs typeface="+mn-cs"/>
                <a:sym typeface="Calibri"/>
              </a:defRPr>
            </a:lvl1pPr>
          </a:lstStyle>
          <a:p>
            <a:pPr/>
            <a:r>
              <a:t>02  SOLUTION</a:t>
            </a:r>
          </a:p>
        </p:txBody>
      </p:sp>
      <p:sp>
        <p:nvSpPr>
          <p:cNvPr id="58" name="Text 2"/>
          <p:cNvSpPr txBox="1"/>
          <p:nvPr/>
        </p:nvSpPr>
        <p:spPr>
          <a:xfrm>
            <a:off x="548638" y="989328"/>
            <a:ext cx="11064245"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2A2440"/>
                </a:solidFill>
                <a:latin typeface="Georgia"/>
                <a:ea typeface="Georgia"/>
                <a:cs typeface="Georgia"/>
                <a:sym typeface="Georgia"/>
              </a:defRPr>
            </a:lvl1pPr>
          </a:lstStyle>
          <a:p>
            <a:pPr/>
            <a:r>
              <a:t>Our Solution &amp; Key Features</a:t>
            </a:r>
          </a:p>
        </p:txBody>
      </p:sp>
      <p:sp>
        <p:nvSpPr>
          <p:cNvPr id="59" name="Text 3"/>
          <p:cNvSpPr txBox="1"/>
          <p:nvPr/>
        </p:nvSpPr>
        <p:spPr>
          <a:xfrm>
            <a:off x="548638" y="2011722"/>
            <a:ext cx="457200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IN ONE SENTENCE</a:t>
            </a:r>
          </a:p>
        </p:txBody>
      </p:sp>
      <p:sp>
        <p:nvSpPr>
          <p:cNvPr id="60" name="Text 4"/>
          <p:cNvSpPr txBox="1"/>
          <p:nvPr/>
        </p:nvSpPr>
        <p:spPr>
          <a:xfrm>
            <a:off x="548640" y="2725418"/>
            <a:ext cx="4480560" cy="1955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2000">
                <a:solidFill>
                  <a:srgbClr val="2A2440"/>
                </a:solidFill>
                <a:latin typeface="Georgia"/>
                <a:ea typeface="Georgia"/>
                <a:cs typeface="Georgia"/>
                <a:sym typeface="Georgia"/>
              </a:defRPr>
            </a:lvl1pPr>
          </a:lstStyle>
          <a:p>
            <a:pPr/>
            <a:r>
              <a:t>A litter box mounted edge device that uses a PIR sensor and load cell to track each visit's duration and weight, runs anomaly detection against a personalized baseline on the ESP32S3, and syncs logs to a cloud dashboard for long term trend viewing.</a:t>
            </a:r>
          </a:p>
        </p:txBody>
      </p:sp>
      <p:sp>
        <p:nvSpPr>
          <p:cNvPr id="61" name="Shape 5"/>
          <p:cNvSpPr/>
          <p:nvPr/>
        </p:nvSpPr>
        <p:spPr>
          <a:xfrm>
            <a:off x="548640" y="5212079"/>
            <a:ext cx="4480560" cy="1"/>
          </a:xfrm>
          <a:prstGeom prst="line">
            <a:avLst/>
          </a:prstGeom>
          <a:ln>
            <a:solidFill>
              <a:srgbClr val="E4DFF0"/>
            </a:solidFill>
          </a:ln>
        </p:spPr>
        <p:txBody>
          <a:bodyPr lIns="45718" tIns="45718" rIns="45718" bIns="45718"/>
          <a:lstStyle/>
          <a:p>
            <a:pPr/>
          </a:p>
        </p:txBody>
      </p:sp>
      <p:sp>
        <p:nvSpPr>
          <p:cNvPr id="62" name="Text 6"/>
          <p:cNvSpPr txBox="1"/>
          <p:nvPr/>
        </p:nvSpPr>
        <p:spPr>
          <a:xfrm>
            <a:off x="548638" y="5377179"/>
            <a:ext cx="4572005"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900">
                <a:solidFill>
                  <a:srgbClr val="7A7490"/>
                </a:solidFill>
                <a:latin typeface="+mn-lt"/>
                <a:ea typeface="+mn-ea"/>
                <a:cs typeface="+mn-cs"/>
                <a:sym typeface="Calibri"/>
              </a:defRPr>
            </a:lvl1pPr>
          </a:lstStyle>
          <a:p>
            <a:pPr/>
            <a:r>
              <a:t>HARDWARE STACK</a:t>
            </a:r>
          </a:p>
        </p:txBody>
      </p:sp>
      <p:sp>
        <p:nvSpPr>
          <p:cNvPr id="63" name="Text 7"/>
          <p:cNvSpPr txBox="1"/>
          <p:nvPr/>
        </p:nvSpPr>
        <p:spPr>
          <a:xfrm>
            <a:off x="548638" y="5695625"/>
            <a:ext cx="5029205"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2A2440"/>
                </a:solidFill>
                <a:latin typeface="+mn-lt"/>
                <a:ea typeface="+mn-ea"/>
                <a:cs typeface="+mn-cs"/>
                <a:sym typeface="Calibri"/>
              </a:defRPr>
            </a:lvl1pPr>
          </a:lstStyle>
          <a:p>
            <a:pPr/>
            <a:r>
              <a:t>XIAO ESP32S3    |    Load cell + HX711    |    PIR sensor</a:t>
            </a:r>
          </a:p>
        </p:txBody>
      </p:sp>
      <p:sp>
        <p:nvSpPr>
          <p:cNvPr id="64" name="Shape 8"/>
          <p:cNvSpPr/>
          <p:nvPr/>
        </p:nvSpPr>
        <p:spPr>
          <a:xfrm flipH="1">
            <a:off x="5303520" y="1920238"/>
            <a:ext cx="1" cy="4297684"/>
          </a:xfrm>
          <a:prstGeom prst="line">
            <a:avLst/>
          </a:prstGeom>
          <a:ln>
            <a:solidFill>
              <a:srgbClr val="E4DFF0"/>
            </a:solidFill>
          </a:ln>
        </p:spPr>
        <p:txBody>
          <a:bodyPr lIns="45718" tIns="45718" rIns="45718" bIns="45718"/>
          <a:lstStyle/>
          <a:p>
            <a:pPr/>
          </a:p>
        </p:txBody>
      </p:sp>
      <p:sp>
        <p:nvSpPr>
          <p:cNvPr id="65" name="Text 9"/>
          <p:cNvSpPr txBox="1"/>
          <p:nvPr/>
        </p:nvSpPr>
        <p:spPr>
          <a:xfrm>
            <a:off x="5577840" y="2011722"/>
            <a:ext cx="45720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KEY FEATURES</a:t>
            </a:r>
          </a:p>
        </p:txBody>
      </p:sp>
      <p:sp>
        <p:nvSpPr>
          <p:cNvPr id="66" name="Shape 10"/>
          <p:cNvSpPr/>
          <p:nvPr/>
        </p:nvSpPr>
        <p:spPr>
          <a:xfrm>
            <a:off x="5577840" y="2331720"/>
            <a:ext cx="457205" cy="457205"/>
          </a:xfrm>
          <a:prstGeom prst="ellipse">
            <a:avLst/>
          </a:prstGeom>
          <a:solidFill>
            <a:srgbClr val="EEEAF7"/>
          </a:solidFill>
          <a:ln>
            <a:solidFill>
              <a:srgbClr val="7C6BB5"/>
            </a:solidFill>
          </a:ln>
        </p:spPr>
        <p:txBody>
          <a:bodyPr lIns="45718" tIns="45718" rIns="45718" bIns="45718"/>
          <a:lstStyle/>
          <a:p>
            <a:pPr>
              <a:defRPr>
                <a:latin typeface="+mn-lt"/>
                <a:ea typeface="+mn-ea"/>
                <a:cs typeface="+mn-cs"/>
                <a:sym typeface="Calibri"/>
              </a:defRPr>
            </a:pPr>
          </a:p>
        </p:txBody>
      </p:sp>
      <p:sp>
        <p:nvSpPr>
          <p:cNvPr id="67" name="Text 11"/>
          <p:cNvSpPr txBox="1"/>
          <p:nvPr/>
        </p:nvSpPr>
        <p:spPr>
          <a:xfrm>
            <a:off x="5577840" y="2493186"/>
            <a:ext cx="45720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5B4A94"/>
                </a:solidFill>
                <a:latin typeface="+mn-lt"/>
                <a:ea typeface="+mn-ea"/>
                <a:cs typeface="+mn-cs"/>
                <a:sym typeface="Calibri"/>
              </a:defRPr>
            </a:lvl1pPr>
          </a:lstStyle>
          <a:p>
            <a:pPr/>
            <a:r>
              <a:t>01</a:t>
            </a:r>
          </a:p>
        </p:txBody>
      </p:sp>
      <p:sp>
        <p:nvSpPr>
          <p:cNvPr id="68" name="Text 12"/>
          <p:cNvSpPr txBox="1"/>
          <p:nvPr/>
        </p:nvSpPr>
        <p:spPr>
          <a:xfrm>
            <a:off x="6217920" y="2351023"/>
            <a:ext cx="5303523"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700">
                <a:solidFill>
                  <a:srgbClr val="2A2440"/>
                </a:solidFill>
                <a:latin typeface="Georgia"/>
                <a:ea typeface="Georgia"/>
                <a:cs typeface="Georgia"/>
                <a:sym typeface="Georgia"/>
              </a:defRPr>
            </a:lvl1pPr>
          </a:lstStyle>
          <a:p>
            <a:pPr/>
            <a:r>
              <a:t>Visit Detection</a:t>
            </a:r>
          </a:p>
        </p:txBody>
      </p:sp>
      <p:sp>
        <p:nvSpPr>
          <p:cNvPr id="69" name="Text 13"/>
          <p:cNvSpPr txBox="1"/>
          <p:nvPr/>
        </p:nvSpPr>
        <p:spPr>
          <a:xfrm>
            <a:off x="6217920" y="2883846"/>
            <a:ext cx="5394963"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7A7490"/>
                </a:solidFill>
                <a:latin typeface="+mn-lt"/>
                <a:ea typeface="+mn-ea"/>
                <a:cs typeface="+mn-cs"/>
                <a:sym typeface="Calibri"/>
              </a:defRPr>
            </a:lvl1pPr>
          </a:lstStyle>
          <a:p>
            <a:pPr/>
            <a:r>
              <a:t>PIR sensor captures entry and exit automatically for every visit.</a:t>
            </a:r>
          </a:p>
        </p:txBody>
      </p:sp>
      <p:sp>
        <p:nvSpPr>
          <p:cNvPr id="70" name="Shape 14"/>
          <p:cNvSpPr/>
          <p:nvPr/>
        </p:nvSpPr>
        <p:spPr>
          <a:xfrm>
            <a:off x="5577840" y="3337559"/>
            <a:ext cx="457205" cy="457205"/>
          </a:xfrm>
          <a:prstGeom prst="ellipse">
            <a:avLst/>
          </a:prstGeom>
          <a:solidFill>
            <a:srgbClr val="EEEAF7"/>
          </a:solidFill>
          <a:ln>
            <a:solidFill>
              <a:srgbClr val="7C6BB5"/>
            </a:solidFill>
          </a:ln>
        </p:spPr>
        <p:txBody>
          <a:bodyPr lIns="45718" tIns="45718" rIns="45718" bIns="45718"/>
          <a:lstStyle/>
          <a:p>
            <a:pPr>
              <a:defRPr>
                <a:latin typeface="+mn-lt"/>
                <a:ea typeface="+mn-ea"/>
                <a:cs typeface="+mn-cs"/>
                <a:sym typeface="Calibri"/>
              </a:defRPr>
            </a:pPr>
          </a:p>
        </p:txBody>
      </p:sp>
      <p:sp>
        <p:nvSpPr>
          <p:cNvPr id="71" name="Text 15"/>
          <p:cNvSpPr txBox="1"/>
          <p:nvPr/>
        </p:nvSpPr>
        <p:spPr>
          <a:xfrm>
            <a:off x="5577840" y="3499025"/>
            <a:ext cx="457203"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5B4A94"/>
                </a:solidFill>
                <a:latin typeface="+mn-lt"/>
                <a:ea typeface="+mn-ea"/>
                <a:cs typeface="+mn-cs"/>
                <a:sym typeface="Calibri"/>
              </a:defRPr>
            </a:lvl1pPr>
          </a:lstStyle>
          <a:p>
            <a:pPr/>
            <a:r>
              <a:t>02</a:t>
            </a:r>
          </a:p>
        </p:txBody>
      </p:sp>
      <p:sp>
        <p:nvSpPr>
          <p:cNvPr id="72" name="Text 16"/>
          <p:cNvSpPr txBox="1"/>
          <p:nvPr/>
        </p:nvSpPr>
        <p:spPr>
          <a:xfrm>
            <a:off x="6217920" y="3356862"/>
            <a:ext cx="5303523"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700">
                <a:solidFill>
                  <a:srgbClr val="2A2440"/>
                </a:solidFill>
                <a:latin typeface="Georgia"/>
                <a:ea typeface="Georgia"/>
                <a:cs typeface="Georgia"/>
                <a:sym typeface="Georgia"/>
              </a:defRPr>
            </a:lvl1pPr>
          </a:lstStyle>
          <a:p>
            <a:pPr/>
            <a:r>
              <a:t>Weight Tracking</a:t>
            </a:r>
          </a:p>
        </p:txBody>
      </p:sp>
      <p:sp>
        <p:nvSpPr>
          <p:cNvPr id="73" name="Text 17"/>
          <p:cNvSpPr txBox="1"/>
          <p:nvPr/>
        </p:nvSpPr>
        <p:spPr>
          <a:xfrm>
            <a:off x="6217920" y="3889684"/>
            <a:ext cx="5394963"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7A7490"/>
                </a:solidFill>
                <a:latin typeface="+mn-lt"/>
                <a:ea typeface="+mn-ea"/>
                <a:cs typeface="+mn-cs"/>
                <a:sym typeface="Calibri"/>
              </a:defRPr>
            </a:lvl1pPr>
          </a:lstStyle>
          <a:p>
            <a:pPr/>
            <a:r>
              <a:t>Load cell measures cat weight per visit and tracks long term trends.</a:t>
            </a:r>
          </a:p>
        </p:txBody>
      </p:sp>
      <p:sp>
        <p:nvSpPr>
          <p:cNvPr id="74" name="Shape 18"/>
          <p:cNvSpPr/>
          <p:nvPr/>
        </p:nvSpPr>
        <p:spPr>
          <a:xfrm>
            <a:off x="5577840" y="4343400"/>
            <a:ext cx="457205" cy="457200"/>
          </a:xfrm>
          <a:prstGeom prst="ellipse">
            <a:avLst/>
          </a:prstGeom>
          <a:solidFill>
            <a:srgbClr val="EEEAF7"/>
          </a:solidFill>
          <a:ln>
            <a:solidFill>
              <a:srgbClr val="7C6BB5"/>
            </a:solidFill>
          </a:ln>
        </p:spPr>
        <p:txBody>
          <a:bodyPr lIns="45718" tIns="45718" rIns="45718" bIns="45718"/>
          <a:lstStyle/>
          <a:p>
            <a:pPr>
              <a:defRPr>
                <a:latin typeface="+mn-lt"/>
                <a:ea typeface="+mn-ea"/>
                <a:cs typeface="+mn-cs"/>
                <a:sym typeface="Calibri"/>
              </a:defRPr>
            </a:pPr>
          </a:p>
        </p:txBody>
      </p:sp>
      <p:sp>
        <p:nvSpPr>
          <p:cNvPr id="75" name="Text 19"/>
          <p:cNvSpPr txBox="1"/>
          <p:nvPr/>
        </p:nvSpPr>
        <p:spPr>
          <a:xfrm>
            <a:off x="5577840" y="4504865"/>
            <a:ext cx="45720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5B4A94"/>
                </a:solidFill>
                <a:latin typeface="+mn-lt"/>
                <a:ea typeface="+mn-ea"/>
                <a:cs typeface="+mn-cs"/>
                <a:sym typeface="Calibri"/>
              </a:defRPr>
            </a:lvl1pPr>
          </a:lstStyle>
          <a:p>
            <a:pPr/>
            <a:r>
              <a:t>03</a:t>
            </a:r>
          </a:p>
        </p:txBody>
      </p:sp>
      <p:sp>
        <p:nvSpPr>
          <p:cNvPr id="76" name="Text 20"/>
          <p:cNvSpPr txBox="1"/>
          <p:nvPr/>
        </p:nvSpPr>
        <p:spPr>
          <a:xfrm>
            <a:off x="6217920" y="4362701"/>
            <a:ext cx="5303523"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700">
                <a:solidFill>
                  <a:srgbClr val="2A2440"/>
                </a:solidFill>
                <a:latin typeface="Georgia"/>
                <a:ea typeface="Georgia"/>
                <a:cs typeface="Georgia"/>
                <a:sym typeface="Georgia"/>
              </a:defRPr>
            </a:lvl1pPr>
          </a:lstStyle>
          <a:p>
            <a:pPr/>
            <a:r>
              <a:t>On Device Anomaly</a:t>
            </a:r>
          </a:p>
        </p:txBody>
      </p:sp>
      <p:sp>
        <p:nvSpPr>
          <p:cNvPr id="77" name="Text 21"/>
          <p:cNvSpPr txBox="1"/>
          <p:nvPr/>
        </p:nvSpPr>
        <p:spPr>
          <a:xfrm>
            <a:off x="6217920" y="4895525"/>
            <a:ext cx="5394963"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7A7490"/>
                </a:solidFill>
                <a:latin typeface="+mn-lt"/>
                <a:ea typeface="+mn-ea"/>
                <a:cs typeface="+mn-cs"/>
                <a:sym typeface="Calibri"/>
              </a:defRPr>
            </a:lvl1pPr>
          </a:lstStyle>
          <a:p>
            <a:pPr/>
            <a:r>
              <a:t>Rule based detector compares each visit to a personalized 7 day baseline.</a:t>
            </a:r>
          </a:p>
        </p:txBody>
      </p:sp>
      <p:sp>
        <p:nvSpPr>
          <p:cNvPr id="78" name="Shape 22"/>
          <p:cNvSpPr/>
          <p:nvPr/>
        </p:nvSpPr>
        <p:spPr>
          <a:xfrm>
            <a:off x="5577840" y="5349240"/>
            <a:ext cx="457205" cy="457205"/>
          </a:xfrm>
          <a:prstGeom prst="ellipse">
            <a:avLst/>
          </a:prstGeom>
          <a:solidFill>
            <a:srgbClr val="EEEAF7"/>
          </a:solidFill>
          <a:ln>
            <a:solidFill>
              <a:srgbClr val="7C6BB5"/>
            </a:solidFill>
          </a:ln>
        </p:spPr>
        <p:txBody>
          <a:bodyPr lIns="45718" tIns="45718" rIns="45718" bIns="45718"/>
          <a:lstStyle/>
          <a:p>
            <a:pPr>
              <a:defRPr>
                <a:latin typeface="+mn-lt"/>
                <a:ea typeface="+mn-ea"/>
                <a:cs typeface="+mn-cs"/>
                <a:sym typeface="Calibri"/>
              </a:defRPr>
            </a:pPr>
          </a:p>
        </p:txBody>
      </p:sp>
      <p:sp>
        <p:nvSpPr>
          <p:cNvPr id="79" name="Text 23"/>
          <p:cNvSpPr txBox="1"/>
          <p:nvPr/>
        </p:nvSpPr>
        <p:spPr>
          <a:xfrm>
            <a:off x="5577840" y="5510705"/>
            <a:ext cx="457203"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5B4A94"/>
                </a:solidFill>
                <a:latin typeface="+mn-lt"/>
                <a:ea typeface="+mn-ea"/>
                <a:cs typeface="+mn-cs"/>
                <a:sym typeface="Calibri"/>
              </a:defRPr>
            </a:lvl1pPr>
          </a:lstStyle>
          <a:p>
            <a:pPr/>
            <a:r>
              <a:t>04</a:t>
            </a:r>
          </a:p>
        </p:txBody>
      </p:sp>
      <p:sp>
        <p:nvSpPr>
          <p:cNvPr id="80" name="Text 24"/>
          <p:cNvSpPr txBox="1"/>
          <p:nvPr/>
        </p:nvSpPr>
        <p:spPr>
          <a:xfrm>
            <a:off x="6217920" y="5368542"/>
            <a:ext cx="5303523"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700">
                <a:solidFill>
                  <a:srgbClr val="2A2440"/>
                </a:solidFill>
                <a:latin typeface="Georgia"/>
                <a:ea typeface="Georgia"/>
                <a:cs typeface="Georgia"/>
                <a:sym typeface="Georgia"/>
              </a:defRPr>
            </a:lvl1pPr>
          </a:lstStyle>
          <a:p>
            <a:pPr/>
            <a:r>
              <a:t>Cloud Trends</a:t>
            </a:r>
          </a:p>
        </p:txBody>
      </p:sp>
      <p:sp>
        <p:nvSpPr>
          <p:cNvPr id="81" name="Text 25"/>
          <p:cNvSpPr txBox="1"/>
          <p:nvPr/>
        </p:nvSpPr>
        <p:spPr>
          <a:xfrm>
            <a:off x="6217920" y="5901364"/>
            <a:ext cx="5394963"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7A7490"/>
                </a:solidFill>
                <a:latin typeface="+mn-lt"/>
                <a:ea typeface="+mn-ea"/>
                <a:cs typeface="+mn-cs"/>
                <a:sym typeface="Calibri"/>
              </a:defRPr>
            </a:lvl1pPr>
          </a:lstStyle>
          <a:p>
            <a:pPr/>
            <a:r>
              <a:t>MQTT upload to a dashboard so owners can view history and alerts.</a:t>
            </a:r>
          </a:p>
        </p:txBody>
      </p:sp>
      <p:sp>
        <p:nvSpPr>
          <p:cNvPr id="82" name="Shape 26"/>
          <p:cNvSpPr/>
          <p:nvPr/>
        </p:nvSpPr>
        <p:spPr>
          <a:xfrm>
            <a:off x="548638" y="6446520"/>
            <a:ext cx="11064245" cy="1"/>
          </a:xfrm>
          <a:prstGeom prst="line">
            <a:avLst/>
          </a:prstGeom>
          <a:ln>
            <a:solidFill>
              <a:srgbClr val="E4DFF0"/>
            </a:solidFill>
          </a:ln>
        </p:spPr>
        <p:txBody>
          <a:bodyPr lIns="45718" tIns="45718" rIns="45718" bIns="45718"/>
          <a:lstStyle/>
          <a:p>
            <a:pPr/>
          </a:p>
        </p:txBody>
      </p:sp>
      <p:sp>
        <p:nvSpPr>
          <p:cNvPr id="83" name="Text 27"/>
          <p:cNvSpPr txBox="1"/>
          <p:nvPr/>
        </p:nvSpPr>
        <p:spPr>
          <a:xfrm>
            <a:off x="548640" y="6560863"/>
            <a:ext cx="7315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7A7490"/>
                </a:solidFill>
                <a:latin typeface="+mn-lt"/>
                <a:ea typeface="+mn-ea"/>
                <a:cs typeface="+mn-cs"/>
                <a:sym typeface="Calibri"/>
              </a:defRPr>
            </a:lvl1pPr>
          </a:lstStyle>
          <a:p>
            <a:pPr/>
            <a:r>
              <a:t>Smart Cat Litter Box Monitor   |   Milestone 1</a:t>
            </a:r>
          </a:p>
        </p:txBody>
      </p:sp>
      <p:sp>
        <p:nvSpPr>
          <p:cNvPr id="84" name="Text 28"/>
          <p:cNvSpPr txBox="1"/>
          <p:nvPr/>
        </p:nvSpPr>
        <p:spPr>
          <a:xfrm>
            <a:off x="10698480" y="6560863"/>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solidFill>
                  <a:srgbClr val="7A7490"/>
                </a:solidFill>
                <a:latin typeface="+mn-lt"/>
                <a:ea typeface="+mn-ea"/>
                <a:cs typeface="+mn-cs"/>
                <a:sym typeface="Calibri"/>
              </a:defRPr>
            </a:lvl1pPr>
          </a:lstStyle>
          <a:p>
            <a:pPr/>
            <a:r>
              <a:t>3 / 6</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bg>
      <p:bgPr>
        <a:solidFill>
          <a:srgbClr val="FBFAF6"/>
        </a:solidFill>
      </p:bgPr>
    </p:bg>
    <p:spTree>
      <p:nvGrpSpPr>
        <p:cNvPr id="1" name=""/>
        <p:cNvGrpSpPr/>
        <p:nvPr/>
      </p:nvGrpSpPr>
      <p:grpSpPr>
        <a:xfrm>
          <a:off x="0" y="0"/>
          <a:ext cx="0" cy="0"/>
          <a:chOff x="0" y="0"/>
          <a:chExt cx="0" cy="0"/>
        </a:xfrm>
      </p:grpSpPr>
      <p:sp>
        <p:nvSpPr>
          <p:cNvPr id="86" name="Shape 0"/>
          <p:cNvSpPr/>
          <p:nvPr/>
        </p:nvSpPr>
        <p:spPr>
          <a:xfrm>
            <a:off x="548640" y="530351"/>
            <a:ext cx="146307" cy="146307"/>
          </a:xfrm>
          <a:prstGeom prst="rect">
            <a:avLst/>
          </a:prstGeom>
          <a:solidFill>
            <a:srgbClr val="7C6BB5"/>
          </a:solidFill>
          <a:ln w="12700">
            <a:solidFill>
              <a:srgbClr val="7C6BB5"/>
            </a:solidFill>
          </a:ln>
        </p:spPr>
        <p:txBody>
          <a:bodyPr lIns="45718" tIns="45718" rIns="45718" bIns="45718"/>
          <a:lstStyle/>
          <a:p>
            <a:pPr>
              <a:defRPr>
                <a:latin typeface="+mn-lt"/>
                <a:ea typeface="+mn-ea"/>
                <a:cs typeface="+mn-cs"/>
                <a:sym typeface="Calibri"/>
              </a:defRPr>
            </a:pPr>
          </a:p>
        </p:txBody>
      </p:sp>
      <p:sp>
        <p:nvSpPr>
          <p:cNvPr id="87" name="Text 1"/>
          <p:cNvSpPr txBox="1"/>
          <p:nvPr/>
        </p:nvSpPr>
        <p:spPr>
          <a:xfrm>
            <a:off x="777238" y="534966"/>
            <a:ext cx="548640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50" sz="1000">
                <a:solidFill>
                  <a:srgbClr val="7C6BB5"/>
                </a:solidFill>
                <a:latin typeface="+mn-lt"/>
                <a:ea typeface="+mn-ea"/>
                <a:cs typeface="+mn-cs"/>
                <a:sym typeface="Calibri"/>
              </a:defRPr>
            </a:lvl1pPr>
          </a:lstStyle>
          <a:p>
            <a:pPr/>
            <a:r>
              <a:t>03  ARCHITECTURE</a:t>
            </a:r>
          </a:p>
        </p:txBody>
      </p:sp>
      <p:sp>
        <p:nvSpPr>
          <p:cNvPr id="88" name="Text 2"/>
          <p:cNvSpPr txBox="1"/>
          <p:nvPr/>
        </p:nvSpPr>
        <p:spPr>
          <a:xfrm>
            <a:off x="548638" y="989328"/>
            <a:ext cx="11064245"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2A2440"/>
                </a:solidFill>
                <a:latin typeface="Georgia"/>
                <a:ea typeface="Georgia"/>
                <a:cs typeface="Georgia"/>
                <a:sym typeface="Georgia"/>
              </a:defRPr>
            </a:lvl1pPr>
          </a:lstStyle>
          <a:p>
            <a:pPr/>
            <a:r>
              <a:t>Updated System Architecture</a:t>
            </a:r>
          </a:p>
        </p:txBody>
      </p:sp>
      <p:sp>
        <p:nvSpPr>
          <p:cNvPr id="89" name="Shape 3"/>
          <p:cNvSpPr/>
          <p:nvPr/>
        </p:nvSpPr>
        <p:spPr>
          <a:xfrm>
            <a:off x="7772400" y="1170432"/>
            <a:ext cx="182885" cy="182885"/>
          </a:xfrm>
          <a:prstGeom prst="ellipse">
            <a:avLst/>
          </a:prstGeom>
          <a:solidFill>
            <a:srgbClr val="6FB58A"/>
          </a:solidFill>
          <a:ln w="12700">
            <a:solidFill>
              <a:srgbClr val="6FB58A"/>
            </a:solidFill>
          </a:ln>
        </p:spPr>
        <p:txBody>
          <a:bodyPr lIns="45718" tIns="45718" rIns="45718" bIns="45718"/>
          <a:lstStyle/>
          <a:p>
            <a:pPr>
              <a:defRPr>
                <a:latin typeface="+mn-lt"/>
                <a:ea typeface="+mn-ea"/>
                <a:cs typeface="+mn-cs"/>
                <a:sym typeface="Calibri"/>
              </a:defRPr>
            </a:pPr>
          </a:p>
        </p:txBody>
      </p:sp>
      <p:sp>
        <p:nvSpPr>
          <p:cNvPr id="90" name="Text 4"/>
          <p:cNvSpPr txBox="1"/>
          <p:nvPr/>
        </p:nvSpPr>
        <p:spPr>
          <a:xfrm>
            <a:off x="8028430" y="1183439"/>
            <a:ext cx="1371603"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7A7490"/>
                </a:solidFill>
                <a:latin typeface="+mn-lt"/>
                <a:ea typeface="+mn-ea"/>
                <a:cs typeface="+mn-cs"/>
                <a:sym typeface="Calibri"/>
              </a:defRPr>
            </a:lvl1pPr>
          </a:lstStyle>
          <a:p>
            <a:pPr/>
            <a:r>
              <a:t>Proven</a:t>
            </a:r>
          </a:p>
        </p:txBody>
      </p:sp>
      <p:sp>
        <p:nvSpPr>
          <p:cNvPr id="91" name="Shape 5"/>
          <p:cNvSpPr/>
          <p:nvPr/>
        </p:nvSpPr>
        <p:spPr>
          <a:xfrm>
            <a:off x="9235440" y="1170432"/>
            <a:ext cx="182885" cy="182885"/>
          </a:xfrm>
          <a:prstGeom prst="ellipse">
            <a:avLst/>
          </a:prstGeom>
          <a:solidFill>
            <a:srgbClr val="D9B65A"/>
          </a:solidFill>
          <a:ln w="12700">
            <a:solidFill>
              <a:srgbClr val="D9B65A"/>
            </a:solidFill>
          </a:ln>
        </p:spPr>
        <p:txBody>
          <a:bodyPr lIns="45718" tIns="45718" rIns="45718" bIns="45718"/>
          <a:lstStyle/>
          <a:p>
            <a:pPr>
              <a:defRPr>
                <a:latin typeface="+mn-lt"/>
                <a:ea typeface="+mn-ea"/>
                <a:cs typeface="+mn-cs"/>
                <a:sym typeface="Calibri"/>
              </a:defRPr>
            </a:pPr>
          </a:p>
        </p:txBody>
      </p:sp>
      <p:sp>
        <p:nvSpPr>
          <p:cNvPr id="92" name="Text 6"/>
          <p:cNvSpPr txBox="1"/>
          <p:nvPr/>
        </p:nvSpPr>
        <p:spPr>
          <a:xfrm>
            <a:off x="9491471" y="1183439"/>
            <a:ext cx="1371603"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7A7490"/>
                </a:solidFill>
                <a:latin typeface="+mn-lt"/>
                <a:ea typeface="+mn-ea"/>
                <a:cs typeface="+mn-cs"/>
                <a:sym typeface="Calibri"/>
              </a:defRPr>
            </a:lvl1pPr>
          </a:lstStyle>
          <a:p>
            <a:pPr/>
            <a:r>
              <a:t>In progress</a:t>
            </a:r>
          </a:p>
        </p:txBody>
      </p:sp>
      <p:sp>
        <p:nvSpPr>
          <p:cNvPr id="93" name="Shape 7"/>
          <p:cNvSpPr/>
          <p:nvPr/>
        </p:nvSpPr>
        <p:spPr>
          <a:xfrm>
            <a:off x="10698480" y="1170432"/>
            <a:ext cx="182885" cy="182885"/>
          </a:xfrm>
          <a:prstGeom prst="ellipse">
            <a:avLst/>
          </a:prstGeom>
          <a:solidFill>
            <a:srgbClr val="C47A7A"/>
          </a:solidFill>
          <a:ln w="12700">
            <a:solidFill>
              <a:srgbClr val="C47A7A"/>
            </a:solidFill>
          </a:ln>
        </p:spPr>
        <p:txBody>
          <a:bodyPr lIns="45718" tIns="45718" rIns="45718" bIns="45718"/>
          <a:lstStyle/>
          <a:p>
            <a:pPr>
              <a:defRPr>
                <a:latin typeface="+mn-lt"/>
                <a:ea typeface="+mn-ea"/>
                <a:cs typeface="+mn-cs"/>
                <a:sym typeface="Calibri"/>
              </a:defRPr>
            </a:pPr>
          </a:p>
        </p:txBody>
      </p:sp>
      <p:sp>
        <p:nvSpPr>
          <p:cNvPr id="94" name="Text 8"/>
          <p:cNvSpPr txBox="1"/>
          <p:nvPr/>
        </p:nvSpPr>
        <p:spPr>
          <a:xfrm>
            <a:off x="10954511" y="1183439"/>
            <a:ext cx="1371603"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7A7490"/>
                </a:solidFill>
                <a:latin typeface="+mn-lt"/>
                <a:ea typeface="+mn-ea"/>
                <a:cs typeface="+mn-cs"/>
                <a:sym typeface="Calibri"/>
              </a:defRPr>
            </a:lvl1pPr>
          </a:lstStyle>
          <a:p>
            <a:pPr/>
            <a:r>
              <a:t>Blocked</a:t>
            </a:r>
          </a:p>
        </p:txBody>
      </p:sp>
      <p:sp>
        <p:nvSpPr>
          <p:cNvPr id="95" name="Shape 9"/>
          <p:cNvSpPr/>
          <p:nvPr/>
        </p:nvSpPr>
        <p:spPr>
          <a:xfrm>
            <a:off x="1143000" y="2139694"/>
            <a:ext cx="2011679" cy="822962"/>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96" name="Shape 10"/>
          <p:cNvSpPr/>
          <p:nvPr/>
        </p:nvSpPr>
        <p:spPr>
          <a:xfrm>
            <a:off x="1280160" y="2276855"/>
            <a:ext cx="164597" cy="164597"/>
          </a:xfrm>
          <a:prstGeom prst="ellipse">
            <a:avLst/>
          </a:prstGeom>
          <a:solidFill>
            <a:srgbClr val="D9B65A"/>
          </a:solidFill>
          <a:ln w="12700">
            <a:solidFill>
              <a:srgbClr val="D9B65A"/>
            </a:solidFill>
          </a:ln>
        </p:spPr>
        <p:txBody>
          <a:bodyPr lIns="45718" tIns="45718" rIns="45718" bIns="45718"/>
          <a:lstStyle/>
          <a:p>
            <a:pPr>
              <a:defRPr>
                <a:latin typeface="+mn-lt"/>
                <a:ea typeface="+mn-ea"/>
                <a:cs typeface="+mn-cs"/>
                <a:sym typeface="Calibri"/>
              </a:defRPr>
            </a:pPr>
          </a:p>
        </p:txBody>
      </p:sp>
      <p:sp>
        <p:nvSpPr>
          <p:cNvPr id="97" name="Text 11"/>
          <p:cNvSpPr txBox="1"/>
          <p:nvPr/>
        </p:nvSpPr>
        <p:spPr>
          <a:xfrm>
            <a:off x="1234438" y="2377492"/>
            <a:ext cx="1828803"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200">
                <a:solidFill>
                  <a:srgbClr val="2A2440"/>
                </a:solidFill>
                <a:latin typeface="+mn-lt"/>
                <a:ea typeface="+mn-ea"/>
                <a:cs typeface="+mn-cs"/>
                <a:sym typeface="Calibri"/>
              </a:defRPr>
            </a:pPr>
            <a:r>
              <a:t>PIR Motion</a:t>
            </a:r>
          </a:p>
          <a:p>
            <a:pPr algn="ctr">
              <a:defRPr b="1" sz="1200">
                <a:solidFill>
                  <a:srgbClr val="2A2440"/>
                </a:solidFill>
                <a:latin typeface="+mn-lt"/>
                <a:ea typeface="+mn-ea"/>
                <a:cs typeface="+mn-cs"/>
                <a:sym typeface="Calibri"/>
              </a:defRPr>
            </a:pPr>
            <a:r>
              <a:t>Sensor</a:t>
            </a:r>
          </a:p>
        </p:txBody>
      </p:sp>
      <p:sp>
        <p:nvSpPr>
          <p:cNvPr id="98" name="Shape 12"/>
          <p:cNvSpPr/>
          <p:nvPr/>
        </p:nvSpPr>
        <p:spPr>
          <a:xfrm>
            <a:off x="3520440" y="2139694"/>
            <a:ext cx="2011680" cy="822962"/>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99" name="Shape 13"/>
          <p:cNvSpPr/>
          <p:nvPr/>
        </p:nvSpPr>
        <p:spPr>
          <a:xfrm>
            <a:off x="3657600" y="2276855"/>
            <a:ext cx="164594" cy="164597"/>
          </a:xfrm>
          <a:prstGeom prst="ellipse">
            <a:avLst/>
          </a:prstGeom>
          <a:solidFill>
            <a:srgbClr val="D9B65A"/>
          </a:solidFill>
          <a:ln w="12700">
            <a:solidFill>
              <a:srgbClr val="D9B65A"/>
            </a:solidFill>
          </a:ln>
        </p:spPr>
        <p:txBody>
          <a:bodyPr lIns="45718" tIns="45718" rIns="45718" bIns="45718"/>
          <a:lstStyle/>
          <a:p>
            <a:pPr>
              <a:defRPr>
                <a:latin typeface="+mn-lt"/>
                <a:ea typeface="+mn-ea"/>
                <a:cs typeface="+mn-cs"/>
                <a:sym typeface="Calibri"/>
              </a:defRPr>
            </a:pPr>
          </a:p>
        </p:txBody>
      </p:sp>
      <p:sp>
        <p:nvSpPr>
          <p:cNvPr id="100" name="Text 14"/>
          <p:cNvSpPr txBox="1"/>
          <p:nvPr/>
        </p:nvSpPr>
        <p:spPr>
          <a:xfrm>
            <a:off x="3611879" y="2377492"/>
            <a:ext cx="1828803"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200">
                <a:solidFill>
                  <a:srgbClr val="2A2440"/>
                </a:solidFill>
                <a:latin typeface="+mn-lt"/>
                <a:ea typeface="+mn-ea"/>
                <a:cs typeface="+mn-cs"/>
                <a:sym typeface="Calibri"/>
              </a:defRPr>
            </a:pPr>
            <a:r>
              <a:t>Load Cell</a:t>
            </a:r>
          </a:p>
          <a:p>
            <a:pPr algn="ctr">
              <a:defRPr b="1" sz="1200">
                <a:solidFill>
                  <a:srgbClr val="2A2440"/>
                </a:solidFill>
                <a:latin typeface="+mn-lt"/>
                <a:ea typeface="+mn-ea"/>
                <a:cs typeface="+mn-cs"/>
                <a:sym typeface="Calibri"/>
              </a:defRPr>
            </a:pPr>
            <a:r>
              <a:t>+ HX711</a:t>
            </a:r>
          </a:p>
        </p:txBody>
      </p:sp>
      <p:sp>
        <p:nvSpPr>
          <p:cNvPr id="101" name="Shape 15"/>
          <p:cNvSpPr/>
          <p:nvPr/>
        </p:nvSpPr>
        <p:spPr>
          <a:xfrm>
            <a:off x="2103120" y="3611879"/>
            <a:ext cx="2468883" cy="822963"/>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102" name="Shape 16"/>
          <p:cNvSpPr/>
          <p:nvPr/>
        </p:nvSpPr>
        <p:spPr>
          <a:xfrm>
            <a:off x="2240277" y="3749040"/>
            <a:ext cx="164597" cy="164597"/>
          </a:xfrm>
          <a:prstGeom prst="ellipse">
            <a:avLst/>
          </a:prstGeom>
          <a:solidFill>
            <a:srgbClr val="D9B65A"/>
          </a:solidFill>
          <a:ln w="12700">
            <a:solidFill>
              <a:srgbClr val="D9B65A"/>
            </a:solidFill>
          </a:ln>
        </p:spPr>
        <p:txBody>
          <a:bodyPr lIns="45718" tIns="45718" rIns="45718" bIns="45718"/>
          <a:lstStyle/>
          <a:p>
            <a:pPr>
              <a:defRPr>
                <a:latin typeface="+mn-lt"/>
                <a:ea typeface="+mn-ea"/>
                <a:cs typeface="+mn-cs"/>
                <a:sym typeface="Calibri"/>
              </a:defRPr>
            </a:pPr>
          </a:p>
        </p:txBody>
      </p:sp>
      <p:sp>
        <p:nvSpPr>
          <p:cNvPr id="103" name="Text 17"/>
          <p:cNvSpPr txBox="1"/>
          <p:nvPr/>
        </p:nvSpPr>
        <p:spPr>
          <a:xfrm>
            <a:off x="2194560" y="3849675"/>
            <a:ext cx="2286002"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200">
                <a:solidFill>
                  <a:srgbClr val="2A2440"/>
                </a:solidFill>
                <a:latin typeface="+mn-lt"/>
                <a:ea typeface="+mn-ea"/>
                <a:cs typeface="+mn-cs"/>
                <a:sym typeface="Calibri"/>
              </a:defRPr>
            </a:pPr>
            <a:r>
              <a:t>Signal</a:t>
            </a:r>
          </a:p>
          <a:p>
            <a:pPr algn="ctr">
              <a:defRPr b="1" sz="1200">
                <a:solidFill>
                  <a:srgbClr val="2A2440"/>
                </a:solidFill>
                <a:latin typeface="+mn-lt"/>
                <a:ea typeface="+mn-ea"/>
                <a:cs typeface="+mn-cs"/>
                <a:sym typeface="Calibri"/>
              </a:defRPr>
            </a:pPr>
            <a:r>
              <a:t>Processing</a:t>
            </a:r>
          </a:p>
        </p:txBody>
      </p:sp>
      <p:sp>
        <p:nvSpPr>
          <p:cNvPr id="104" name="Shape 18"/>
          <p:cNvSpPr/>
          <p:nvPr/>
        </p:nvSpPr>
        <p:spPr>
          <a:xfrm>
            <a:off x="2103120" y="4892040"/>
            <a:ext cx="2468883" cy="822963"/>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105" name="Shape 19"/>
          <p:cNvSpPr/>
          <p:nvPr/>
        </p:nvSpPr>
        <p:spPr>
          <a:xfrm>
            <a:off x="2240277" y="5029200"/>
            <a:ext cx="164597" cy="164594"/>
          </a:xfrm>
          <a:prstGeom prst="ellipse">
            <a:avLst/>
          </a:prstGeom>
          <a:solidFill>
            <a:srgbClr val="C47A7A"/>
          </a:solidFill>
          <a:ln w="12700">
            <a:solidFill>
              <a:srgbClr val="C47A7A"/>
            </a:solidFill>
          </a:ln>
        </p:spPr>
        <p:txBody>
          <a:bodyPr lIns="45718" tIns="45718" rIns="45718" bIns="45718"/>
          <a:lstStyle/>
          <a:p>
            <a:pPr>
              <a:defRPr>
                <a:latin typeface="+mn-lt"/>
                <a:ea typeface="+mn-ea"/>
                <a:cs typeface="+mn-cs"/>
                <a:sym typeface="Calibri"/>
              </a:defRPr>
            </a:pPr>
          </a:p>
        </p:txBody>
      </p:sp>
      <p:sp>
        <p:nvSpPr>
          <p:cNvPr id="106" name="Text 20"/>
          <p:cNvSpPr txBox="1"/>
          <p:nvPr/>
        </p:nvSpPr>
        <p:spPr>
          <a:xfrm>
            <a:off x="2194560" y="5129835"/>
            <a:ext cx="2286002"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200">
                <a:solidFill>
                  <a:srgbClr val="2A2440"/>
                </a:solidFill>
                <a:latin typeface="+mn-lt"/>
                <a:ea typeface="+mn-ea"/>
                <a:cs typeface="+mn-cs"/>
                <a:sym typeface="Calibri"/>
              </a:defRPr>
            </a:pPr>
            <a:r>
              <a:t>Anomaly</a:t>
            </a:r>
          </a:p>
          <a:p>
            <a:pPr algn="ctr">
              <a:defRPr b="1" sz="1200">
                <a:solidFill>
                  <a:srgbClr val="2A2440"/>
                </a:solidFill>
                <a:latin typeface="+mn-lt"/>
                <a:ea typeface="+mn-ea"/>
                <a:cs typeface="+mn-cs"/>
                <a:sym typeface="Calibri"/>
              </a:defRPr>
            </a:pPr>
            <a:r>
              <a:t>Detection</a:t>
            </a:r>
          </a:p>
        </p:txBody>
      </p:sp>
      <p:sp>
        <p:nvSpPr>
          <p:cNvPr id="107" name="Shape 21"/>
          <p:cNvSpPr/>
          <p:nvPr/>
        </p:nvSpPr>
        <p:spPr>
          <a:xfrm>
            <a:off x="5486400" y="4892040"/>
            <a:ext cx="2468883" cy="822963"/>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108" name="Shape 22"/>
          <p:cNvSpPr/>
          <p:nvPr/>
        </p:nvSpPr>
        <p:spPr>
          <a:xfrm>
            <a:off x="5623559" y="5029200"/>
            <a:ext cx="164597" cy="164594"/>
          </a:xfrm>
          <a:prstGeom prst="ellipse">
            <a:avLst/>
          </a:prstGeom>
          <a:solidFill>
            <a:srgbClr val="C47A7A"/>
          </a:solidFill>
          <a:ln w="12700">
            <a:solidFill>
              <a:srgbClr val="C47A7A"/>
            </a:solidFill>
          </a:ln>
        </p:spPr>
        <p:txBody>
          <a:bodyPr lIns="45718" tIns="45718" rIns="45718" bIns="45718"/>
          <a:lstStyle/>
          <a:p>
            <a:pPr>
              <a:defRPr>
                <a:latin typeface="+mn-lt"/>
                <a:ea typeface="+mn-ea"/>
                <a:cs typeface="+mn-cs"/>
                <a:sym typeface="Calibri"/>
              </a:defRPr>
            </a:pPr>
          </a:p>
        </p:txBody>
      </p:sp>
      <p:sp>
        <p:nvSpPr>
          <p:cNvPr id="109" name="Text 23"/>
          <p:cNvSpPr txBox="1"/>
          <p:nvPr/>
        </p:nvSpPr>
        <p:spPr>
          <a:xfrm>
            <a:off x="5577840" y="5129835"/>
            <a:ext cx="2286003"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200">
                <a:solidFill>
                  <a:srgbClr val="2A2440"/>
                </a:solidFill>
                <a:latin typeface="+mn-lt"/>
                <a:ea typeface="+mn-ea"/>
                <a:cs typeface="+mn-cs"/>
                <a:sym typeface="Calibri"/>
              </a:defRPr>
            </a:pPr>
            <a:r>
              <a:t>Cloud</a:t>
            </a:r>
          </a:p>
          <a:p>
            <a:pPr algn="ctr">
              <a:defRPr b="1" sz="1200">
                <a:solidFill>
                  <a:srgbClr val="2A2440"/>
                </a:solidFill>
                <a:latin typeface="+mn-lt"/>
                <a:ea typeface="+mn-ea"/>
                <a:cs typeface="+mn-cs"/>
                <a:sym typeface="Calibri"/>
              </a:defRPr>
            </a:pPr>
            <a:r>
              <a:t>Upload (MQTT)</a:t>
            </a:r>
          </a:p>
        </p:txBody>
      </p:sp>
      <p:sp>
        <p:nvSpPr>
          <p:cNvPr id="110" name="Shape 24"/>
          <p:cNvSpPr/>
          <p:nvPr/>
        </p:nvSpPr>
        <p:spPr>
          <a:xfrm>
            <a:off x="8869680" y="4892040"/>
            <a:ext cx="2468883" cy="822963"/>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111" name="Shape 25"/>
          <p:cNvSpPr/>
          <p:nvPr/>
        </p:nvSpPr>
        <p:spPr>
          <a:xfrm>
            <a:off x="9006840" y="5029200"/>
            <a:ext cx="164597" cy="164594"/>
          </a:xfrm>
          <a:prstGeom prst="ellipse">
            <a:avLst/>
          </a:prstGeom>
          <a:solidFill>
            <a:srgbClr val="C47A7A"/>
          </a:solidFill>
          <a:ln w="12700">
            <a:solidFill>
              <a:srgbClr val="C47A7A"/>
            </a:solidFill>
          </a:ln>
        </p:spPr>
        <p:txBody>
          <a:bodyPr lIns="45718" tIns="45718" rIns="45718" bIns="45718"/>
          <a:lstStyle/>
          <a:p>
            <a:pPr>
              <a:defRPr>
                <a:latin typeface="+mn-lt"/>
                <a:ea typeface="+mn-ea"/>
                <a:cs typeface="+mn-cs"/>
                <a:sym typeface="Calibri"/>
              </a:defRPr>
            </a:pPr>
          </a:p>
        </p:txBody>
      </p:sp>
      <p:sp>
        <p:nvSpPr>
          <p:cNvPr id="112" name="Text 26"/>
          <p:cNvSpPr txBox="1"/>
          <p:nvPr/>
        </p:nvSpPr>
        <p:spPr>
          <a:xfrm>
            <a:off x="8961118" y="5129835"/>
            <a:ext cx="2286003"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200">
                <a:solidFill>
                  <a:srgbClr val="2A2440"/>
                </a:solidFill>
                <a:latin typeface="+mn-lt"/>
                <a:ea typeface="+mn-ea"/>
                <a:cs typeface="+mn-cs"/>
                <a:sym typeface="Calibri"/>
              </a:defRPr>
            </a:pPr>
            <a:r>
              <a:t>Cloud</a:t>
            </a:r>
          </a:p>
          <a:p>
            <a:pPr algn="ctr">
              <a:defRPr b="1" sz="1200">
                <a:solidFill>
                  <a:srgbClr val="2A2440"/>
                </a:solidFill>
                <a:latin typeface="+mn-lt"/>
                <a:ea typeface="+mn-ea"/>
                <a:cs typeface="+mn-cs"/>
                <a:sym typeface="Calibri"/>
              </a:defRPr>
            </a:pPr>
            <a:r>
              <a:t>Dashboard</a:t>
            </a:r>
          </a:p>
        </p:txBody>
      </p:sp>
      <p:sp>
        <p:nvSpPr>
          <p:cNvPr id="113" name="Shape 27"/>
          <p:cNvSpPr/>
          <p:nvPr/>
        </p:nvSpPr>
        <p:spPr>
          <a:xfrm>
            <a:off x="8869680" y="2331720"/>
            <a:ext cx="2468883" cy="822963"/>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114" name="Shape 28"/>
          <p:cNvSpPr/>
          <p:nvPr/>
        </p:nvSpPr>
        <p:spPr>
          <a:xfrm>
            <a:off x="9006840" y="2468877"/>
            <a:ext cx="164597" cy="164597"/>
          </a:xfrm>
          <a:prstGeom prst="ellipse">
            <a:avLst/>
          </a:prstGeom>
          <a:solidFill>
            <a:srgbClr val="6FB58A"/>
          </a:solidFill>
          <a:ln w="12700">
            <a:solidFill>
              <a:srgbClr val="6FB58A"/>
            </a:solidFill>
          </a:ln>
        </p:spPr>
        <p:txBody>
          <a:bodyPr lIns="45718" tIns="45718" rIns="45718" bIns="45718"/>
          <a:lstStyle/>
          <a:p>
            <a:pPr>
              <a:defRPr>
                <a:latin typeface="+mn-lt"/>
                <a:ea typeface="+mn-ea"/>
                <a:cs typeface="+mn-cs"/>
                <a:sym typeface="Calibri"/>
              </a:defRPr>
            </a:pPr>
          </a:p>
        </p:txBody>
      </p:sp>
      <p:sp>
        <p:nvSpPr>
          <p:cNvPr id="115" name="Text 29"/>
          <p:cNvSpPr txBox="1"/>
          <p:nvPr/>
        </p:nvSpPr>
        <p:spPr>
          <a:xfrm>
            <a:off x="8961118" y="2664766"/>
            <a:ext cx="2286003"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2A2440"/>
                </a:solidFill>
                <a:latin typeface="+mn-lt"/>
                <a:ea typeface="+mn-ea"/>
                <a:cs typeface="+mn-cs"/>
                <a:sym typeface="Calibri"/>
              </a:defRPr>
            </a:lvl1pPr>
          </a:lstStyle>
          <a:p>
            <a:pPr/>
            <a:r>
              <a:t>ESP32S3 MCU</a:t>
            </a:r>
          </a:p>
        </p:txBody>
      </p:sp>
      <p:sp>
        <p:nvSpPr>
          <p:cNvPr id="116" name="Shape 30"/>
          <p:cNvSpPr/>
          <p:nvPr/>
        </p:nvSpPr>
        <p:spPr>
          <a:xfrm>
            <a:off x="2148838" y="3058666"/>
            <a:ext cx="2" cy="457203"/>
          </a:xfrm>
          <a:prstGeom prst="line">
            <a:avLst/>
          </a:prstGeom>
          <a:ln w="15875">
            <a:solidFill>
              <a:srgbClr val="7A7490"/>
            </a:solidFill>
          </a:ln>
        </p:spPr>
        <p:txBody>
          <a:bodyPr lIns="45718" tIns="45718" rIns="45718" bIns="45718"/>
          <a:lstStyle/>
          <a:p>
            <a:pPr/>
          </a:p>
        </p:txBody>
      </p:sp>
      <p:sp>
        <p:nvSpPr>
          <p:cNvPr id="117" name="Shape 31"/>
          <p:cNvSpPr/>
          <p:nvPr/>
        </p:nvSpPr>
        <p:spPr>
          <a:xfrm>
            <a:off x="2159590" y="3507928"/>
            <a:ext cx="1151649" cy="4"/>
          </a:xfrm>
          <a:prstGeom prst="line">
            <a:avLst/>
          </a:prstGeom>
          <a:ln w="15875">
            <a:solidFill>
              <a:srgbClr val="7A7490"/>
            </a:solidFill>
          </a:ln>
        </p:spPr>
        <p:txBody>
          <a:bodyPr lIns="45718" tIns="45718" rIns="45718" bIns="45718"/>
          <a:lstStyle/>
          <a:p>
            <a:pPr/>
          </a:p>
        </p:txBody>
      </p:sp>
      <p:sp>
        <p:nvSpPr>
          <p:cNvPr id="118" name="Shape 32"/>
          <p:cNvSpPr/>
          <p:nvPr/>
        </p:nvSpPr>
        <p:spPr>
          <a:xfrm>
            <a:off x="4526279" y="3058666"/>
            <a:ext cx="3" cy="457203"/>
          </a:xfrm>
          <a:prstGeom prst="line">
            <a:avLst/>
          </a:prstGeom>
          <a:ln w="15875">
            <a:solidFill>
              <a:srgbClr val="7A7490"/>
            </a:solidFill>
          </a:ln>
        </p:spPr>
        <p:txBody>
          <a:bodyPr lIns="45718" tIns="45718" rIns="45718" bIns="45718"/>
          <a:lstStyle/>
          <a:p>
            <a:pPr/>
          </a:p>
        </p:txBody>
      </p:sp>
      <p:sp>
        <p:nvSpPr>
          <p:cNvPr id="119" name="Shape 33"/>
          <p:cNvSpPr/>
          <p:nvPr/>
        </p:nvSpPr>
        <p:spPr>
          <a:xfrm>
            <a:off x="3311235" y="3507928"/>
            <a:ext cx="1198815" cy="5"/>
          </a:xfrm>
          <a:prstGeom prst="line">
            <a:avLst/>
          </a:prstGeom>
          <a:ln w="15875">
            <a:solidFill>
              <a:srgbClr val="7A7490"/>
            </a:solidFill>
          </a:ln>
        </p:spPr>
        <p:txBody>
          <a:bodyPr lIns="45718" tIns="45718" rIns="45718" bIns="45718"/>
          <a:lstStyle/>
          <a:p>
            <a:pPr/>
          </a:p>
        </p:txBody>
      </p:sp>
      <p:sp>
        <p:nvSpPr>
          <p:cNvPr id="120" name="Shape 34"/>
          <p:cNvSpPr/>
          <p:nvPr/>
        </p:nvSpPr>
        <p:spPr>
          <a:xfrm>
            <a:off x="3337559" y="4434840"/>
            <a:ext cx="3" cy="457203"/>
          </a:xfrm>
          <a:prstGeom prst="line">
            <a:avLst/>
          </a:prstGeom>
          <a:ln w="15875">
            <a:solidFill>
              <a:srgbClr val="7A7490"/>
            </a:solidFill>
            <a:prstDash val="dash"/>
          </a:ln>
        </p:spPr>
        <p:txBody>
          <a:bodyPr lIns="45718" tIns="45718" rIns="45718" bIns="45718"/>
          <a:lstStyle/>
          <a:p>
            <a:pPr/>
          </a:p>
        </p:txBody>
      </p:sp>
      <p:sp>
        <p:nvSpPr>
          <p:cNvPr id="121" name="Shape 35"/>
          <p:cNvSpPr/>
          <p:nvPr/>
        </p:nvSpPr>
        <p:spPr>
          <a:xfrm>
            <a:off x="4572000" y="5303519"/>
            <a:ext cx="914400" cy="3"/>
          </a:xfrm>
          <a:prstGeom prst="line">
            <a:avLst/>
          </a:prstGeom>
          <a:ln w="15875">
            <a:solidFill>
              <a:srgbClr val="7A7490"/>
            </a:solidFill>
            <a:prstDash val="dash"/>
          </a:ln>
        </p:spPr>
        <p:txBody>
          <a:bodyPr lIns="45718" tIns="45718" rIns="45718" bIns="45718"/>
          <a:lstStyle/>
          <a:p>
            <a:pPr/>
          </a:p>
        </p:txBody>
      </p:sp>
      <p:sp>
        <p:nvSpPr>
          <p:cNvPr id="122" name="Shape 36"/>
          <p:cNvSpPr/>
          <p:nvPr/>
        </p:nvSpPr>
        <p:spPr>
          <a:xfrm>
            <a:off x="7955280" y="5303519"/>
            <a:ext cx="914403" cy="3"/>
          </a:xfrm>
          <a:prstGeom prst="line">
            <a:avLst/>
          </a:prstGeom>
          <a:ln w="15875">
            <a:solidFill>
              <a:srgbClr val="7A7490"/>
            </a:solidFill>
            <a:prstDash val="dash"/>
          </a:ln>
        </p:spPr>
        <p:txBody>
          <a:bodyPr lIns="45718" tIns="45718" rIns="45718" bIns="45718"/>
          <a:lstStyle/>
          <a:p>
            <a:pPr/>
          </a:p>
        </p:txBody>
      </p:sp>
      <p:sp>
        <p:nvSpPr>
          <p:cNvPr id="123" name="Shape 37"/>
          <p:cNvSpPr/>
          <p:nvPr/>
        </p:nvSpPr>
        <p:spPr>
          <a:xfrm>
            <a:off x="10104117" y="4160518"/>
            <a:ext cx="4" cy="731523"/>
          </a:xfrm>
          <a:prstGeom prst="line">
            <a:avLst/>
          </a:prstGeom>
          <a:ln w="15875">
            <a:solidFill>
              <a:srgbClr val="7C6BB5"/>
            </a:solidFill>
            <a:prstDash val="dash"/>
          </a:ln>
        </p:spPr>
        <p:txBody>
          <a:bodyPr lIns="45718" tIns="45718" rIns="45718" bIns="45718"/>
          <a:lstStyle/>
          <a:p>
            <a:pPr/>
          </a:p>
        </p:txBody>
      </p:sp>
      <p:sp>
        <p:nvSpPr>
          <p:cNvPr id="124" name="Shape 38"/>
          <p:cNvSpPr/>
          <p:nvPr/>
        </p:nvSpPr>
        <p:spPr>
          <a:xfrm>
            <a:off x="4570412" y="4160520"/>
            <a:ext cx="5533710" cy="1"/>
          </a:xfrm>
          <a:prstGeom prst="line">
            <a:avLst/>
          </a:prstGeom>
          <a:ln w="15875">
            <a:solidFill>
              <a:srgbClr val="7C6BB5"/>
            </a:solidFill>
            <a:prstDash val="dash"/>
          </a:ln>
        </p:spPr>
        <p:txBody>
          <a:bodyPr lIns="45718" tIns="45718" rIns="45718" bIns="45718"/>
          <a:lstStyle/>
          <a:p>
            <a:pPr/>
          </a:p>
        </p:txBody>
      </p:sp>
      <p:sp>
        <p:nvSpPr>
          <p:cNvPr id="125" name="Text 39"/>
          <p:cNvSpPr txBox="1"/>
          <p:nvPr/>
        </p:nvSpPr>
        <p:spPr>
          <a:xfrm>
            <a:off x="5943600" y="3927391"/>
            <a:ext cx="365760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i="1" sz="1000">
                <a:solidFill>
                  <a:srgbClr val="7C6BB5"/>
                </a:solidFill>
                <a:latin typeface="+mn-lt"/>
                <a:ea typeface="+mn-ea"/>
                <a:cs typeface="+mn-cs"/>
                <a:sym typeface="Calibri"/>
              </a:defRPr>
            </a:lvl1pPr>
          </a:lstStyle>
          <a:p>
            <a:pPr/>
            <a:r>
              <a:t>feedback: updated baseline</a:t>
            </a:r>
          </a:p>
        </p:txBody>
      </p:sp>
      <p:sp>
        <p:nvSpPr>
          <p:cNvPr id="126" name="Text 40"/>
          <p:cNvSpPr txBox="1"/>
          <p:nvPr/>
        </p:nvSpPr>
        <p:spPr>
          <a:xfrm>
            <a:off x="548638" y="6240823"/>
            <a:ext cx="1106424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000">
                <a:solidFill>
                  <a:srgbClr val="7A7490"/>
                </a:solidFill>
                <a:latin typeface="+mn-lt"/>
                <a:ea typeface="+mn-ea"/>
                <a:cs typeface="+mn-cs"/>
                <a:sym typeface="Calibri"/>
              </a:defRPr>
            </a:lvl1pPr>
          </a:lstStyle>
          <a:p>
            <a:pPr/>
            <a:r>
              <a:t>Solid lines mark tested interfaces. Dashed lines mark interfaces not yet verified. Update block status as components move from in progress to proven.</a:t>
            </a:r>
          </a:p>
        </p:txBody>
      </p:sp>
      <p:sp>
        <p:nvSpPr>
          <p:cNvPr id="127" name="Shape 41"/>
          <p:cNvSpPr/>
          <p:nvPr/>
        </p:nvSpPr>
        <p:spPr>
          <a:xfrm>
            <a:off x="548638" y="6446520"/>
            <a:ext cx="11064245" cy="1"/>
          </a:xfrm>
          <a:prstGeom prst="line">
            <a:avLst/>
          </a:prstGeom>
          <a:ln>
            <a:solidFill>
              <a:srgbClr val="E4DFF0"/>
            </a:solidFill>
          </a:ln>
        </p:spPr>
        <p:txBody>
          <a:bodyPr lIns="45718" tIns="45718" rIns="45718" bIns="45718"/>
          <a:lstStyle/>
          <a:p>
            <a:pPr/>
          </a:p>
        </p:txBody>
      </p:sp>
      <p:sp>
        <p:nvSpPr>
          <p:cNvPr id="128" name="Text 42"/>
          <p:cNvSpPr txBox="1"/>
          <p:nvPr/>
        </p:nvSpPr>
        <p:spPr>
          <a:xfrm>
            <a:off x="548640" y="6560863"/>
            <a:ext cx="7315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7A7490"/>
                </a:solidFill>
                <a:latin typeface="+mn-lt"/>
                <a:ea typeface="+mn-ea"/>
                <a:cs typeface="+mn-cs"/>
                <a:sym typeface="Calibri"/>
              </a:defRPr>
            </a:lvl1pPr>
          </a:lstStyle>
          <a:p>
            <a:pPr/>
            <a:r>
              <a:t>Smart Cat Litter Box Monitor   |   Milestone 1</a:t>
            </a:r>
          </a:p>
        </p:txBody>
      </p:sp>
      <p:sp>
        <p:nvSpPr>
          <p:cNvPr id="129" name="Text 43"/>
          <p:cNvSpPr txBox="1"/>
          <p:nvPr/>
        </p:nvSpPr>
        <p:spPr>
          <a:xfrm>
            <a:off x="10698480" y="6560863"/>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solidFill>
                  <a:srgbClr val="7A7490"/>
                </a:solidFill>
                <a:latin typeface="+mn-lt"/>
                <a:ea typeface="+mn-ea"/>
                <a:cs typeface="+mn-cs"/>
                <a:sym typeface="Calibri"/>
              </a:defRPr>
            </a:lvl1pPr>
          </a:lstStyle>
          <a:p>
            <a:pPr/>
            <a:r>
              <a:t>4 / 6</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BFAF6"/>
        </a:solidFill>
      </p:bgPr>
    </p:bg>
    <p:spTree>
      <p:nvGrpSpPr>
        <p:cNvPr id="1" name=""/>
        <p:cNvGrpSpPr/>
        <p:nvPr/>
      </p:nvGrpSpPr>
      <p:grpSpPr>
        <a:xfrm>
          <a:off x="0" y="0"/>
          <a:ext cx="0" cy="0"/>
          <a:chOff x="0" y="0"/>
          <a:chExt cx="0" cy="0"/>
        </a:xfrm>
      </p:grpSpPr>
      <p:sp>
        <p:nvSpPr>
          <p:cNvPr id="131" name="Shape 0"/>
          <p:cNvSpPr/>
          <p:nvPr/>
        </p:nvSpPr>
        <p:spPr>
          <a:xfrm>
            <a:off x="548640" y="530351"/>
            <a:ext cx="146307" cy="146307"/>
          </a:xfrm>
          <a:prstGeom prst="rect">
            <a:avLst/>
          </a:prstGeom>
          <a:solidFill>
            <a:srgbClr val="7C6BB5"/>
          </a:solidFill>
          <a:ln w="12700">
            <a:solidFill>
              <a:srgbClr val="7C6BB5"/>
            </a:solidFill>
          </a:ln>
        </p:spPr>
        <p:txBody>
          <a:bodyPr lIns="45718" tIns="45718" rIns="45718" bIns="45718"/>
          <a:lstStyle/>
          <a:p>
            <a:pPr>
              <a:defRPr>
                <a:latin typeface="+mn-lt"/>
                <a:ea typeface="+mn-ea"/>
                <a:cs typeface="+mn-cs"/>
                <a:sym typeface="Calibri"/>
              </a:defRPr>
            </a:pPr>
          </a:p>
        </p:txBody>
      </p:sp>
      <p:sp>
        <p:nvSpPr>
          <p:cNvPr id="132" name="Text 1"/>
          <p:cNvSpPr txBox="1"/>
          <p:nvPr/>
        </p:nvSpPr>
        <p:spPr>
          <a:xfrm>
            <a:off x="777238" y="534966"/>
            <a:ext cx="548640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50" sz="1000">
                <a:solidFill>
                  <a:srgbClr val="7C6BB5"/>
                </a:solidFill>
                <a:latin typeface="+mn-lt"/>
                <a:ea typeface="+mn-ea"/>
                <a:cs typeface="+mn-cs"/>
                <a:sym typeface="Calibri"/>
              </a:defRPr>
            </a:lvl1pPr>
          </a:lstStyle>
          <a:p>
            <a:pPr/>
            <a:r>
              <a:t>03  ARCHITECTURE</a:t>
            </a:r>
          </a:p>
        </p:txBody>
      </p:sp>
      <p:sp>
        <p:nvSpPr>
          <p:cNvPr id="133" name="Text 2"/>
          <p:cNvSpPr txBox="1"/>
          <p:nvPr/>
        </p:nvSpPr>
        <p:spPr>
          <a:xfrm>
            <a:off x="548639" y="989328"/>
            <a:ext cx="6461096"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2A2440"/>
                </a:solidFill>
                <a:latin typeface="Georgia"/>
                <a:ea typeface="Georgia"/>
                <a:cs typeface="Georgia"/>
                <a:sym typeface="Georgia"/>
              </a:defRPr>
            </a:lvl1pPr>
          </a:lstStyle>
          <a:p>
            <a:pPr/>
            <a:r>
              <a:t>Updated System Architecture</a:t>
            </a:r>
          </a:p>
        </p:txBody>
      </p:sp>
      <p:sp>
        <p:nvSpPr>
          <p:cNvPr id="134" name="Text 40"/>
          <p:cNvSpPr txBox="1"/>
          <p:nvPr/>
        </p:nvSpPr>
        <p:spPr>
          <a:xfrm>
            <a:off x="548638" y="6240823"/>
            <a:ext cx="1106424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000">
                <a:solidFill>
                  <a:srgbClr val="7A7490"/>
                </a:solidFill>
                <a:latin typeface="+mn-lt"/>
                <a:ea typeface="+mn-ea"/>
                <a:cs typeface="+mn-cs"/>
                <a:sym typeface="Calibri"/>
              </a:defRPr>
            </a:lvl1pPr>
          </a:lstStyle>
          <a:p>
            <a:pPr/>
            <a:r>
              <a:t>Solid lines mark tested interfaces. Dashed lines mark interfaces not yet verified. Update block status as components move from in progress to proven.</a:t>
            </a:r>
          </a:p>
        </p:txBody>
      </p:sp>
      <p:sp>
        <p:nvSpPr>
          <p:cNvPr id="135" name="Shape 41"/>
          <p:cNvSpPr/>
          <p:nvPr/>
        </p:nvSpPr>
        <p:spPr>
          <a:xfrm>
            <a:off x="548638" y="6446520"/>
            <a:ext cx="11064245" cy="1"/>
          </a:xfrm>
          <a:prstGeom prst="line">
            <a:avLst/>
          </a:prstGeom>
          <a:ln>
            <a:solidFill>
              <a:srgbClr val="E4DFF0"/>
            </a:solidFill>
          </a:ln>
        </p:spPr>
        <p:txBody>
          <a:bodyPr lIns="45718" tIns="45718" rIns="45718" bIns="45718"/>
          <a:lstStyle/>
          <a:p>
            <a:pPr/>
          </a:p>
        </p:txBody>
      </p:sp>
      <p:sp>
        <p:nvSpPr>
          <p:cNvPr id="136" name="Text 42"/>
          <p:cNvSpPr txBox="1"/>
          <p:nvPr/>
        </p:nvSpPr>
        <p:spPr>
          <a:xfrm>
            <a:off x="548640" y="6560863"/>
            <a:ext cx="7315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7A7490"/>
                </a:solidFill>
                <a:latin typeface="+mn-lt"/>
                <a:ea typeface="+mn-ea"/>
                <a:cs typeface="+mn-cs"/>
                <a:sym typeface="Calibri"/>
              </a:defRPr>
            </a:lvl1pPr>
          </a:lstStyle>
          <a:p>
            <a:pPr/>
            <a:r>
              <a:t>Smart Cat Litter Box Monitor   |   Milestone 1</a:t>
            </a:r>
          </a:p>
        </p:txBody>
      </p:sp>
      <p:sp>
        <p:nvSpPr>
          <p:cNvPr id="137" name="Text 43"/>
          <p:cNvSpPr txBox="1"/>
          <p:nvPr/>
        </p:nvSpPr>
        <p:spPr>
          <a:xfrm>
            <a:off x="10698480" y="6560863"/>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solidFill>
                  <a:srgbClr val="7A7490"/>
                </a:solidFill>
                <a:latin typeface="+mn-lt"/>
                <a:ea typeface="+mn-ea"/>
                <a:cs typeface="+mn-cs"/>
                <a:sym typeface="Calibri"/>
              </a:defRPr>
            </a:lvl1pPr>
          </a:lstStyle>
          <a:p>
            <a:pPr/>
            <a:r>
              <a:t>4 / 6</a:t>
            </a:r>
          </a:p>
        </p:txBody>
      </p:sp>
      <p:pic>
        <p:nvPicPr>
          <p:cNvPr id="138" name="截屏2026-04-18 下午8.39.01.png" descr="截屏2026-04-18 下午8.39.01.png"/>
          <p:cNvPicPr>
            <a:picLocks noChangeAspect="1"/>
          </p:cNvPicPr>
          <p:nvPr/>
        </p:nvPicPr>
        <p:blipFill>
          <a:blip r:embed="rId2">
            <a:extLst/>
          </a:blip>
          <a:stretch>
            <a:fillRect/>
          </a:stretch>
        </p:blipFill>
        <p:spPr>
          <a:xfrm>
            <a:off x="761365" y="1562735"/>
            <a:ext cx="5502276" cy="4549141"/>
          </a:xfrm>
          <a:prstGeom prst="rect">
            <a:avLst/>
          </a:prstGeom>
          <a:ln w="12700">
            <a:miter lim="400000"/>
          </a:ln>
        </p:spPr>
      </p:pic>
      <p:pic>
        <p:nvPicPr>
          <p:cNvPr id="139" name="图片 1" descr="图片 1"/>
          <p:cNvPicPr>
            <a:picLocks noChangeAspect="1"/>
          </p:cNvPicPr>
          <p:nvPr/>
        </p:nvPicPr>
        <p:blipFill>
          <a:blip r:embed="rId3">
            <a:extLst/>
          </a:blip>
          <a:stretch>
            <a:fillRect/>
          </a:stretch>
        </p:blipFill>
        <p:spPr>
          <a:xfrm>
            <a:off x="7463790" y="1124585"/>
            <a:ext cx="3222626" cy="2417446"/>
          </a:xfrm>
          <a:prstGeom prst="rect">
            <a:avLst/>
          </a:prstGeom>
          <a:ln w="12700">
            <a:miter lim="400000"/>
          </a:ln>
        </p:spPr>
      </p:pic>
      <p:pic>
        <p:nvPicPr>
          <p:cNvPr id="140" name="图片 2" descr="图片 2"/>
          <p:cNvPicPr>
            <a:picLocks noChangeAspect="1"/>
          </p:cNvPicPr>
          <p:nvPr/>
        </p:nvPicPr>
        <p:blipFill>
          <a:blip r:embed="rId4">
            <a:extLst/>
          </a:blip>
          <a:stretch>
            <a:fillRect/>
          </a:stretch>
        </p:blipFill>
        <p:spPr>
          <a:xfrm>
            <a:off x="7463790" y="3644900"/>
            <a:ext cx="3208021" cy="2406015"/>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BFAF6"/>
        </a:solidFill>
      </p:bgPr>
    </p:bg>
    <p:spTree>
      <p:nvGrpSpPr>
        <p:cNvPr id="1" name=""/>
        <p:cNvGrpSpPr/>
        <p:nvPr/>
      </p:nvGrpSpPr>
      <p:grpSpPr>
        <a:xfrm>
          <a:off x="0" y="0"/>
          <a:ext cx="0" cy="0"/>
          <a:chOff x="0" y="0"/>
          <a:chExt cx="0" cy="0"/>
        </a:xfrm>
      </p:grpSpPr>
      <p:sp>
        <p:nvSpPr>
          <p:cNvPr id="142" name="Shape 0"/>
          <p:cNvSpPr/>
          <p:nvPr/>
        </p:nvSpPr>
        <p:spPr>
          <a:xfrm>
            <a:off x="548640" y="530351"/>
            <a:ext cx="146307" cy="146307"/>
          </a:xfrm>
          <a:prstGeom prst="rect">
            <a:avLst/>
          </a:prstGeom>
          <a:solidFill>
            <a:srgbClr val="7C6BB5"/>
          </a:solidFill>
          <a:ln w="12700">
            <a:solidFill>
              <a:srgbClr val="7C6BB5"/>
            </a:solidFill>
          </a:ln>
        </p:spPr>
        <p:txBody>
          <a:bodyPr lIns="45718" tIns="45718" rIns="45718" bIns="45718"/>
          <a:lstStyle/>
          <a:p>
            <a:pPr>
              <a:defRPr>
                <a:latin typeface="+mn-lt"/>
                <a:ea typeface="+mn-ea"/>
                <a:cs typeface="+mn-cs"/>
                <a:sym typeface="Calibri"/>
              </a:defRPr>
            </a:pPr>
          </a:p>
        </p:txBody>
      </p:sp>
      <p:sp>
        <p:nvSpPr>
          <p:cNvPr id="143" name="Text 1"/>
          <p:cNvSpPr txBox="1"/>
          <p:nvPr/>
        </p:nvSpPr>
        <p:spPr>
          <a:xfrm>
            <a:off x="777238" y="534966"/>
            <a:ext cx="548640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50" sz="1000">
                <a:solidFill>
                  <a:srgbClr val="7C6BB5"/>
                </a:solidFill>
                <a:latin typeface="+mn-lt"/>
                <a:ea typeface="+mn-ea"/>
                <a:cs typeface="+mn-cs"/>
                <a:sym typeface="Calibri"/>
              </a:defRPr>
            </a:lvl1pPr>
          </a:lstStyle>
          <a:p>
            <a:pPr/>
            <a:r>
              <a:t>04  VALIDATION</a:t>
            </a:r>
          </a:p>
        </p:txBody>
      </p:sp>
      <p:sp>
        <p:nvSpPr>
          <p:cNvPr id="144" name="Text 2"/>
          <p:cNvSpPr txBox="1"/>
          <p:nvPr/>
        </p:nvSpPr>
        <p:spPr>
          <a:xfrm>
            <a:off x="548638" y="989328"/>
            <a:ext cx="11064245"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2A2440"/>
                </a:solidFill>
                <a:latin typeface="Georgia"/>
                <a:ea typeface="Georgia"/>
                <a:cs typeface="Georgia"/>
                <a:sym typeface="Georgia"/>
              </a:defRPr>
            </a:lvl1pPr>
          </a:lstStyle>
          <a:p>
            <a:pPr/>
            <a:r>
              <a:t>Component Validation &amp; Results</a:t>
            </a:r>
          </a:p>
        </p:txBody>
      </p:sp>
      <p:sp>
        <p:nvSpPr>
          <p:cNvPr id="145" name="Text 3"/>
          <p:cNvSpPr txBox="1"/>
          <p:nvPr/>
        </p:nvSpPr>
        <p:spPr>
          <a:xfrm>
            <a:off x="548638" y="1781239"/>
            <a:ext cx="11064245"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500">
                <a:solidFill>
                  <a:srgbClr val="7A7490"/>
                </a:solidFill>
                <a:latin typeface="+mn-lt"/>
                <a:ea typeface="+mn-ea"/>
                <a:cs typeface="+mn-cs"/>
                <a:sym typeface="Calibri"/>
              </a:defRPr>
            </a:lvl1pPr>
          </a:lstStyle>
          <a:p>
            <a:pPr/>
            <a:r>
              <a:t>Each component validated with a quantitative test. Evidence: photos, plots, and commits.</a:t>
            </a:r>
          </a:p>
        </p:txBody>
      </p:sp>
      <p:sp>
        <p:nvSpPr>
          <p:cNvPr id="146" name="Shape 4"/>
          <p:cNvSpPr/>
          <p:nvPr/>
        </p:nvSpPr>
        <p:spPr>
          <a:xfrm>
            <a:off x="548638" y="2194560"/>
            <a:ext cx="3657605" cy="4160521"/>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147" name="Text 5"/>
          <p:cNvSpPr txBox="1"/>
          <p:nvPr/>
        </p:nvSpPr>
        <p:spPr>
          <a:xfrm>
            <a:off x="822960" y="2400342"/>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01</a:t>
            </a:r>
          </a:p>
        </p:txBody>
      </p:sp>
      <p:sp>
        <p:nvSpPr>
          <p:cNvPr id="148" name="Text 6"/>
          <p:cNvSpPr txBox="1"/>
          <p:nvPr/>
        </p:nvSpPr>
        <p:spPr>
          <a:xfrm>
            <a:off x="822958" y="2674664"/>
            <a:ext cx="3291845"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7A7490"/>
                </a:solidFill>
                <a:latin typeface="+mn-lt"/>
                <a:ea typeface="+mn-ea"/>
                <a:cs typeface="+mn-cs"/>
                <a:sym typeface="Calibri"/>
              </a:defRPr>
            </a:lvl1pPr>
          </a:lstStyle>
          <a:p>
            <a:pPr/>
            <a:r>
              <a:t>YUNA XIONG</a:t>
            </a:r>
          </a:p>
        </p:txBody>
      </p:sp>
      <p:sp>
        <p:nvSpPr>
          <p:cNvPr id="149" name="Text 7"/>
          <p:cNvSpPr txBox="1"/>
          <p:nvPr/>
        </p:nvSpPr>
        <p:spPr>
          <a:xfrm>
            <a:off x="822958" y="2939033"/>
            <a:ext cx="3291845"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2A2440"/>
                </a:solidFill>
                <a:latin typeface="Georgia"/>
                <a:ea typeface="Georgia"/>
                <a:cs typeface="Georgia"/>
                <a:sym typeface="Georgia"/>
              </a:defRPr>
            </a:lvl1pPr>
          </a:lstStyle>
          <a:p>
            <a:pPr/>
            <a:r>
              <a:t>Sensor Hardware</a:t>
            </a:r>
          </a:p>
        </p:txBody>
      </p:sp>
      <p:sp>
        <p:nvSpPr>
          <p:cNvPr id="150" name="Shape 8"/>
          <p:cNvSpPr/>
          <p:nvPr/>
        </p:nvSpPr>
        <p:spPr>
          <a:xfrm>
            <a:off x="822960" y="3383277"/>
            <a:ext cx="3108963" cy="5"/>
          </a:xfrm>
          <a:prstGeom prst="line">
            <a:avLst/>
          </a:prstGeom>
          <a:ln>
            <a:solidFill>
              <a:srgbClr val="E4DFF0"/>
            </a:solidFill>
          </a:ln>
        </p:spPr>
        <p:txBody>
          <a:bodyPr lIns="45718" tIns="45718" rIns="45718" bIns="45718"/>
          <a:lstStyle/>
          <a:p>
            <a:pPr/>
          </a:p>
        </p:txBody>
      </p:sp>
      <p:sp>
        <p:nvSpPr>
          <p:cNvPr id="151" name="Text 9"/>
          <p:cNvSpPr txBox="1"/>
          <p:nvPr/>
        </p:nvSpPr>
        <p:spPr>
          <a:xfrm>
            <a:off x="822959" y="3589063"/>
            <a:ext cx="2743204"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7C6BB5"/>
                </a:solidFill>
                <a:latin typeface="+mn-lt"/>
                <a:ea typeface="+mn-ea"/>
                <a:cs typeface="+mn-cs"/>
                <a:sym typeface="Calibri"/>
              </a:defRPr>
            </a:lvl1pPr>
          </a:lstStyle>
          <a:p>
            <a:pPr/>
            <a:r>
              <a:t>METHOD</a:t>
            </a:r>
          </a:p>
        </p:txBody>
      </p:sp>
      <p:sp>
        <p:nvSpPr>
          <p:cNvPr id="152" name="Text 10"/>
          <p:cNvSpPr txBox="1"/>
          <p:nvPr/>
        </p:nvSpPr>
        <p:spPr>
          <a:xfrm>
            <a:off x="822960" y="3945057"/>
            <a:ext cx="3108963" cy="9795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2A2440"/>
                </a:solidFill>
                <a:latin typeface="+mn-lt"/>
                <a:ea typeface="+mn-ea"/>
                <a:cs typeface="+mn-cs"/>
                <a:sym typeface="Calibri"/>
              </a:defRPr>
            </a:lvl1pPr>
          </a:lstStyle>
          <a:p>
            <a:pPr/>
            <a:r>
              <a:t>Connected the HX711 load cell to the XIAO ESP32S3 and placed a 201.56 g reference weight 20 times. Each reading was recorded after a 5000 ms stabilization window at 1000 ms intervals.</a:t>
            </a:r>
          </a:p>
        </p:txBody>
      </p:sp>
      <p:sp>
        <p:nvSpPr>
          <p:cNvPr id="153" name="Shape 11"/>
          <p:cNvSpPr/>
          <p:nvPr/>
        </p:nvSpPr>
        <p:spPr>
          <a:xfrm>
            <a:off x="822960" y="5166359"/>
            <a:ext cx="3108963" cy="966863"/>
          </a:xfrm>
          <a:prstGeom prst="rect">
            <a:avLst/>
          </a:prstGeom>
          <a:solidFill>
            <a:srgbClr val="EEEAF7"/>
          </a:solidFill>
          <a:ln w="12700">
            <a:solidFill>
              <a:srgbClr val="EEEAF7"/>
            </a:solidFill>
          </a:ln>
        </p:spPr>
        <p:txBody>
          <a:bodyPr lIns="45718" tIns="45718" rIns="45718" bIns="45718"/>
          <a:lstStyle/>
          <a:p>
            <a:pPr>
              <a:defRPr>
                <a:latin typeface="+mn-lt"/>
                <a:ea typeface="+mn-ea"/>
                <a:cs typeface="+mn-cs"/>
                <a:sym typeface="Calibri"/>
              </a:defRPr>
            </a:pPr>
          </a:p>
        </p:txBody>
      </p:sp>
      <p:sp>
        <p:nvSpPr>
          <p:cNvPr id="154" name="Text 12"/>
          <p:cNvSpPr txBox="1"/>
          <p:nvPr/>
        </p:nvSpPr>
        <p:spPr>
          <a:xfrm>
            <a:off x="960119" y="5298991"/>
            <a:ext cx="2743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5B4A94"/>
                </a:solidFill>
                <a:latin typeface="+mn-lt"/>
                <a:ea typeface="+mn-ea"/>
                <a:cs typeface="+mn-cs"/>
                <a:sym typeface="Calibri"/>
              </a:defRPr>
            </a:lvl1pPr>
          </a:lstStyle>
          <a:p>
            <a:pPr/>
            <a:r>
              <a:t>RESULT</a:t>
            </a:r>
          </a:p>
        </p:txBody>
      </p:sp>
      <p:sp>
        <p:nvSpPr>
          <p:cNvPr id="155" name="Text 13"/>
          <p:cNvSpPr txBox="1"/>
          <p:nvPr/>
        </p:nvSpPr>
        <p:spPr>
          <a:xfrm>
            <a:off x="960119" y="5481635"/>
            <a:ext cx="2926083" cy="5731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solidFill>
                  <a:srgbClr val="2A2440"/>
                </a:solidFill>
                <a:latin typeface="+mn-lt"/>
                <a:ea typeface="+mn-ea"/>
                <a:cs typeface="+mn-cs"/>
                <a:sym typeface="Calibri"/>
              </a:defRPr>
            </a:lvl1pPr>
          </a:lstStyle>
          <a:p>
            <a:pPr/>
            <a:r>
              <a:t>Mean error 0.11 g, standard deviation 0.23 g. GO verdict, well within the 10 g accuracy threshold.</a:t>
            </a:r>
          </a:p>
        </p:txBody>
      </p:sp>
      <p:sp>
        <p:nvSpPr>
          <p:cNvPr id="156" name="Shape 15"/>
          <p:cNvSpPr/>
          <p:nvPr/>
        </p:nvSpPr>
        <p:spPr>
          <a:xfrm>
            <a:off x="4343400" y="2194560"/>
            <a:ext cx="3657600" cy="4160521"/>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157" name="Text 16"/>
          <p:cNvSpPr txBox="1"/>
          <p:nvPr/>
        </p:nvSpPr>
        <p:spPr>
          <a:xfrm>
            <a:off x="4617720" y="2400342"/>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02</a:t>
            </a:r>
          </a:p>
        </p:txBody>
      </p:sp>
      <p:sp>
        <p:nvSpPr>
          <p:cNvPr id="158" name="Text 17"/>
          <p:cNvSpPr txBox="1"/>
          <p:nvPr/>
        </p:nvSpPr>
        <p:spPr>
          <a:xfrm>
            <a:off x="4617720" y="2674664"/>
            <a:ext cx="329184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7A7490"/>
                </a:solidFill>
                <a:latin typeface="+mn-lt"/>
                <a:ea typeface="+mn-ea"/>
                <a:cs typeface="+mn-cs"/>
                <a:sym typeface="Calibri"/>
              </a:defRPr>
            </a:lvl1pPr>
          </a:lstStyle>
          <a:p>
            <a:pPr/>
            <a:r>
              <a:t>MENGQI SHI</a:t>
            </a:r>
          </a:p>
        </p:txBody>
      </p:sp>
      <p:sp>
        <p:nvSpPr>
          <p:cNvPr id="159" name="Text 18"/>
          <p:cNvSpPr txBox="1"/>
          <p:nvPr/>
        </p:nvSpPr>
        <p:spPr>
          <a:xfrm>
            <a:off x="4617720" y="2939033"/>
            <a:ext cx="3291843"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2A2440"/>
                </a:solidFill>
                <a:latin typeface="Georgia"/>
                <a:ea typeface="Georgia"/>
                <a:cs typeface="Georgia"/>
                <a:sym typeface="Georgia"/>
              </a:defRPr>
            </a:lvl1pPr>
          </a:lstStyle>
          <a:p>
            <a:pPr/>
            <a:r>
              <a:t>Signal Stability</a:t>
            </a:r>
          </a:p>
        </p:txBody>
      </p:sp>
      <p:sp>
        <p:nvSpPr>
          <p:cNvPr id="160" name="Shape 19"/>
          <p:cNvSpPr/>
          <p:nvPr/>
        </p:nvSpPr>
        <p:spPr>
          <a:xfrm>
            <a:off x="4617720" y="3383277"/>
            <a:ext cx="3108963" cy="5"/>
          </a:xfrm>
          <a:prstGeom prst="line">
            <a:avLst/>
          </a:prstGeom>
          <a:ln>
            <a:solidFill>
              <a:srgbClr val="E4DFF0"/>
            </a:solidFill>
          </a:ln>
        </p:spPr>
        <p:txBody>
          <a:bodyPr lIns="45718" tIns="45718" rIns="45718" bIns="45718"/>
          <a:lstStyle/>
          <a:p>
            <a:pPr/>
          </a:p>
        </p:txBody>
      </p:sp>
      <p:sp>
        <p:nvSpPr>
          <p:cNvPr id="161" name="Text 20"/>
          <p:cNvSpPr txBox="1"/>
          <p:nvPr/>
        </p:nvSpPr>
        <p:spPr>
          <a:xfrm>
            <a:off x="4617720" y="3589063"/>
            <a:ext cx="27432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7C6BB5"/>
                </a:solidFill>
                <a:latin typeface="+mn-lt"/>
                <a:ea typeface="+mn-ea"/>
                <a:cs typeface="+mn-cs"/>
                <a:sym typeface="Calibri"/>
              </a:defRPr>
            </a:lvl1pPr>
          </a:lstStyle>
          <a:p>
            <a:pPr/>
            <a:r>
              <a:t>METHOD</a:t>
            </a:r>
          </a:p>
        </p:txBody>
      </p:sp>
      <p:sp>
        <p:nvSpPr>
          <p:cNvPr id="162" name="Text 21"/>
          <p:cNvSpPr txBox="1"/>
          <p:nvPr/>
        </p:nvSpPr>
        <p:spPr>
          <a:xfrm>
            <a:off x="4617720" y="3945057"/>
            <a:ext cx="3108963" cy="9795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2A2440"/>
                </a:solidFill>
                <a:latin typeface="+mn-lt"/>
                <a:ea typeface="+mn-ea"/>
                <a:cs typeface="+mn-cs"/>
                <a:sym typeface="Calibri"/>
              </a:defRPr>
            </a:lvl1pPr>
          </a:lstStyle>
          <a:p>
            <a:pPr/>
            <a:r>
              <a:t>Analyzed the 20 trial weight readings from the HX711 sensor to evaluate signal noise and reading consistency. Computed error distribution, peak to peak range, and standard deviation across all trials.</a:t>
            </a:r>
          </a:p>
        </p:txBody>
      </p:sp>
      <p:sp>
        <p:nvSpPr>
          <p:cNvPr id="163" name="Shape 22"/>
          <p:cNvSpPr/>
          <p:nvPr/>
        </p:nvSpPr>
        <p:spPr>
          <a:xfrm>
            <a:off x="4611370" y="5073405"/>
            <a:ext cx="3108963" cy="1152769"/>
          </a:xfrm>
          <a:prstGeom prst="rect">
            <a:avLst/>
          </a:prstGeom>
          <a:solidFill>
            <a:srgbClr val="EEEAF7"/>
          </a:solidFill>
          <a:ln w="12700">
            <a:solidFill>
              <a:srgbClr val="EEEAF7"/>
            </a:solidFill>
          </a:ln>
        </p:spPr>
        <p:txBody>
          <a:bodyPr lIns="45718" tIns="45718" rIns="45718" bIns="45718"/>
          <a:lstStyle/>
          <a:p>
            <a:pPr>
              <a:defRPr>
                <a:latin typeface="+mn-lt"/>
                <a:ea typeface="+mn-ea"/>
                <a:cs typeface="+mn-cs"/>
                <a:sym typeface="Calibri"/>
              </a:defRPr>
            </a:pPr>
          </a:p>
        </p:txBody>
      </p:sp>
      <p:sp>
        <p:nvSpPr>
          <p:cNvPr id="164" name="Text 23"/>
          <p:cNvSpPr txBox="1"/>
          <p:nvPr/>
        </p:nvSpPr>
        <p:spPr>
          <a:xfrm>
            <a:off x="4748529" y="5206038"/>
            <a:ext cx="27432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5B4A94"/>
                </a:solidFill>
                <a:latin typeface="+mn-lt"/>
                <a:ea typeface="+mn-ea"/>
                <a:cs typeface="+mn-cs"/>
                <a:sym typeface="Calibri"/>
              </a:defRPr>
            </a:lvl1pPr>
          </a:lstStyle>
          <a:p>
            <a:pPr/>
            <a:r>
              <a:t>RESULT</a:t>
            </a:r>
          </a:p>
        </p:txBody>
      </p:sp>
      <p:sp>
        <p:nvSpPr>
          <p:cNvPr id="165" name="Text 24"/>
          <p:cNvSpPr txBox="1"/>
          <p:nvPr/>
        </p:nvSpPr>
        <p:spPr>
          <a:xfrm>
            <a:off x="4748529" y="5388683"/>
            <a:ext cx="2926084" cy="7763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solidFill>
                  <a:srgbClr val="2A2440"/>
                </a:solidFill>
                <a:latin typeface="+mn-lt"/>
                <a:ea typeface="+mn-ea"/>
                <a:cs typeface="+mn-cs"/>
                <a:sym typeface="Calibri"/>
              </a:defRPr>
            </a:lvl1pPr>
          </a:lstStyle>
          <a:p>
            <a:pPr/>
            <a:r>
              <a:t>Peak to peak error range 0.72 g, max error 0.43 g, min error 0.29 g. Signal stable enough to serve as input for the anomaly detection pipeline.</a:t>
            </a:r>
          </a:p>
        </p:txBody>
      </p:sp>
      <p:sp>
        <p:nvSpPr>
          <p:cNvPr id="166" name="Shape 26"/>
          <p:cNvSpPr/>
          <p:nvPr/>
        </p:nvSpPr>
        <p:spPr>
          <a:xfrm>
            <a:off x="8138159" y="2194560"/>
            <a:ext cx="3657603" cy="4160521"/>
          </a:xfrm>
          <a:prstGeom prst="rect">
            <a:avLst/>
          </a:prstGeom>
          <a:solidFill>
            <a:srgbClr val="FFFFFF"/>
          </a:solidFill>
          <a:ln w="12700">
            <a:solidFill>
              <a:srgbClr val="E4DFF0"/>
            </a:solidFill>
          </a:ln>
        </p:spPr>
        <p:txBody>
          <a:bodyPr lIns="45718" tIns="45718" rIns="45718" bIns="45718"/>
          <a:lstStyle/>
          <a:p>
            <a:pPr>
              <a:defRPr>
                <a:latin typeface="+mn-lt"/>
                <a:ea typeface="+mn-ea"/>
                <a:cs typeface="+mn-cs"/>
                <a:sym typeface="Calibri"/>
              </a:defRPr>
            </a:pPr>
          </a:p>
        </p:txBody>
      </p:sp>
      <p:sp>
        <p:nvSpPr>
          <p:cNvPr id="167" name="Text 27"/>
          <p:cNvSpPr txBox="1"/>
          <p:nvPr/>
        </p:nvSpPr>
        <p:spPr>
          <a:xfrm>
            <a:off x="8412480" y="2400342"/>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03</a:t>
            </a:r>
          </a:p>
        </p:txBody>
      </p:sp>
      <p:sp>
        <p:nvSpPr>
          <p:cNvPr id="168" name="Text 28"/>
          <p:cNvSpPr txBox="1"/>
          <p:nvPr/>
        </p:nvSpPr>
        <p:spPr>
          <a:xfrm>
            <a:off x="8412480" y="2674664"/>
            <a:ext cx="329184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7A7490"/>
                </a:solidFill>
                <a:latin typeface="+mn-lt"/>
                <a:ea typeface="+mn-ea"/>
                <a:cs typeface="+mn-cs"/>
                <a:sym typeface="Calibri"/>
              </a:defRPr>
            </a:lvl1pPr>
          </a:lstStyle>
          <a:p>
            <a:pPr/>
            <a:r>
              <a:t>XIN LUO</a:t>
            </a:r>
          </a:p>
        </p:txBody>
      </p:sp>
      <p:sp>
        <p:nvSpPr>
          <p:cNvPr id="169" name="Text 29"/>
          <p:cNvSpPr txBox="1"/>
          <p:nvPr/>
        </p:nvSpPr>
        <p:spPr>
          <a:xfrm>
            <a:off x="8412480" y="2805683"/>
            <a:ext cx="3291843"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2A2440"/>
                </a:solidFill>
                <a:latin typeface="Georgia"/>
                <a:ea typeface="Georgia"/>
                <a:cs typeface="Georgia"/>
                <a:sym typeface="Georgia"/>
              </a:defRPr>
            </a:lvl1pPr>
          </a:lstStyle>
          <a:p>
            <a:pPr/>
            <a:r>
              <a:t>Data Logging and Transmission</a:t>
            </a:r>
          </a:p>
        </p:txBody>
      </p:sp>
      <p:sp>
        <p:nvSpPr>
          <p:cNvPr id="170" name="Shape 30"/>
          <p:cNvSpPr/>
          <p:nvPr/>
        </p:nvSpPr>
        <p:spPr>
          <a:xfrm>
            <a:off x="8412480" y="3383277"/>
            <a:ext cx="3108963" cy="5"/>
          </a:xfrm>
          <a:prstGeom prst="line">
            <a:avLst/>
          </a:prstGeom>
          <a:ln>
            <a:solidFill>
              <a:srgbClr val="E4DFF0"/>
            </a:solidFill>
          </a:ln>
        </p:spPr>
        <p:txBody>
          <a:bodyPr lIns="45718" tIns="45718" rIns="45718" bIns="45718"/>
          <a:lstStyle/>
          <a:p>
            <a:pPr/>
          </a:p>
        </p:txBody>
      </p:sp>
      <p:sp>
        <p:nvSpPr>
          <p:cNvPr id="171" name="Text 31"/>
          <p:cNvSpPr txBox="1"/>
          <p:nvPr/>
        </p:nvSpPr>
        <p:spPr>
          <a:xfrm>
            <a:off x="8412480" y="3589063"/>
            <a:ext cx="27432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7C6BB5"/>
                </a:solidFill>
                <a:latin typeface="+mn-lt"/>
                <a:ea typeface="+mn-ea"/>
                <a:cs typeface="+mn-cs"/>
                <a:sym typeface="Calibri"/>
              </a:defRPr>
            </a:lvl1pPr>
          </a:lstStyle>
          <a:p>
            <a:pPr/>
            <a:r>
              <a:t>METHOD</a:t>
            </a:r>
          </a:p>
        </p:txBody>
      </p:sp>
      <p:sp>
        <p:nvSpPr>
          <p:cNvPr id="172" name="Text 32"/>
          <p:cNvSpPr txBox="1"/>
          <p:nvPr/>
        </p:nvSpPr>
        <p:spPr>
          <a:xfrm>
            <a:off x="8412480" y="3945057"/>
            <a:ext cx="3108963" cy="9795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2A2440"/>
                </a:solidFill>
                <a:latin typeface="+mn-lt"/>
                <a:ea typeface="+mn-ea"/>
                <a:cs typeface="+mn-cs"/>
                <a:sym typeface="Calibri"/>
              </a:defRPr>
            </a:lvl1pPr>
          </a:lstStyle>
          <a:p>
            <a:pPr/>
            <a:r>
              <a:t>Developed the ESP32S3 firmware (Read_ESP32S3.ino) to read and log weight data via serial output. Verified that all 20 readings were captured without data loss at 1000 ms intervals over the test session.</a:t>
            </a:r>
          </a:p>
        </p:txBody>
      </p:sp>
      <p:sp>
        <p:nvSpPr>
          <p:cNvPr id="173" name="Shape 33"/>
          <p:cNvSpPr/>
          <p:nvPr/>
        </p:nvSpPr>
        <p:spPr>
          <a:xfrm>
            <a:off x="8418830" y="5073405"/>
            <a:ext cx="3108963" cy="1152769"/>
          </a:xfrm>
          <a:prstGeom prst="rect">
            <a:avLst/>
          </a:prstGeom>
          <a:solidFill>
            <a:srgbClr val="EEEAF7"/>
          </a:solidFill>
          <a:ln w="12700">
            <a:solidFill>
              <a:srgbClr val="EEEAF7"/>
            </a:solidFill>
          </a:ln>
        </p:spPr>
        <p:txBody>
          <a:bodyPr lIns="45718" tIns="45718" rIns="45718" bIns="45718"/>
          <a:lstStyle/>
          <a:p>
            <a:pPr>
              <a:defRPr>
                <a:latin typeface="+mn-lt"/>
                <a:ea typeface="+mn-ea"/>
                <a:cs typeface="+mn-cs"/>
                <a:sym typeface="Calibri"/>
              </a:defRPr>
            </a:pPr>
          </a:p>
        </p:txBody>
      </p:sp>
      <p:sp>
        <p:nvSpPr>
          <p:cNvPr id="174" name="Text 34"/>
          <p:cNvSpPr txBox="1"/>
          <p:nvPr/>
        </p:nvSpPr>
        <p:spPr>
          <a:xfrm>
            <a:off x="8555990" y="5206038"/>
            <a:ext cx="27432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50" sz="1000">
                <a:solidFill>
                  <a:srgbClr val="5B4A94"/>
                </a:solidFill>
                <a:latin typeface="+mn-lt"/>
                <a:ea typeface="+mn-ea"/>
                <a:cs typeface="+mn-cs"/>
                <a:sym typeface="Calibri"/>
              </a:defRPr>
            </a:lvl1pPr>
          </a:lstStyle>
          <a:p>
            <a:pPr/>
            <a:r>
              <a:t>RESULT</a:t>
            </a:r>
          </a:p>
        </p:txBody>
      </p:sp>
      <p:sp>
        <p:nvSpPr>
          <p:cNvPr id="175" name="Text 35"/>
          <p:cNvSpPr txBox="1"/>
          <p:nvPr/>
        </p:nvSpPr>
        <p:spPr>
          <a:xfrm>
            <a:off x="8543290" y="5363209"/>
            <a:ext cx="2926083" cy="7763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solidFill>
                  <a:srgbClr val="2A2440"/>
                </a:solidFill>
                <a:latin typeface="+mn-lt"/>
                <a:ea typeface="+mn-ea"/>
                <a:cs typeface="+mn-cs"/>
                <a:sym typeface="Calibri"/>
              </a:defRPr>
            </a:lvl1pPr>
          </a:lstStyle>
          <a:p>
            <a:pPr/>
            <a:r>
              <a:t>20 out of 20 readings successfully captured with zero dropped samples. Firmware logging validated for future MQTT cloud upload integration.</a:t>
            </a:r>
          </a:p>
        </p:txBody>
      </p:sp>
      <p:sp>
        <p:nvSpPr>
          <p:cNvPr id="176" name="Shape 37"/>
          <p:cNvSpPr/>
          <p:nvPr/>
        </p:nvSpPr>
        <p:spPr>
          <a:xfrm>
            <a:off x="548638" y="6446520"/>
            <a:ext cx="11064245" cy="1"/>
          </a:xfrm>
          <a:prstGeom prst="line">
            <a:avLst/>
          </a:prstGeom>
          <a:ln>
            <a:solidFill>
              <a:srgbClr val="E4DFF0"/>
            </a:solidFill>
          </a:ln>
        </p:spPr>
        <p:txBody>
          <a:bodyPr lIns="45718" tIns="45718" rIns="45718" bIns="45718"/>
          <a:lstStyle/>
          <a:p>
            <a:pPr/>
          </a:p>
        </p:txBody>
      </p:sp>
      <p:sp>
        <p:nvSpPr>
          <p:cNvPr id="177" name="Text 38"/>
          <p:cNvSpPr txBox="1"/>
          <p:nvPr/>
        </p:nvSpPr>
        <p:spPr>
          <a:xfrm>
            <a:off x="548640" y="6560863"/>
            <a:ext cx="7315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7A7490"/>
                </a:solidFill>
                <a:latin typeface="+mn-lt"/>
                <a:ea typeface="+mn-ea"/>
                <a:cs typeface="+mn-cs"/>
                <a:sym typeface="Calibri"/>
              </a:defRPr>
            </a:lvl1pPr>
          </a:lstStyle>
          <a:p>
            <a:pPr/>
            <a:r>
              <a:t>Smart Cat Litter Box Monitor   |   Milestone 1</a:t>
            </a:r>
          </a:p>
        </p:txBody>
      </p:sp>
      <p:sp>
        <p:nvSpPr>
          <p:cNvPr id="178" name="Text 39"/>
          <p:cNvSpPr txBox="1"/>
          <p:nvPr/>
        </p:nvSpPr>
        <p:spPr>
          <a:xfrm>
            <a:off x="10698480" y="6560863"/>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solidFill>
                  <a:srgbClr val="7A7490"/>
                </a:solidFill>
                <a:latin typeface="+mn-lt"/>
                <a:ea typeface="+mn-ea"/>
                <a:cs typeface="+mn-cs"/>
                <a:sym typeface="Calibri"/>
              </a:defRPr>
            </a:lvl1pPr>
          </a:lstStyle>
          <a:p>
            <a:pPr/>
            <a:r>
              <a:t>5 / 6</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BFAF6"/>
        </a:solidFill>
      </p:bgPr>
    </p:bg>
    <p:spTree>
      <p:nvGrpSpPr>
        <p:cNvPr id="1" name=""/>
        <p:cNvGrpSpPr/>
        <p:nvPr/>
      </p:nvGrpSpPr>
      <p:grpSpPr>
        <a:xfrm>
          <a:off x="0" y="0"/>
          <a:ext cx="0" cy="0"/>
          <a:chOff x="0" y="0"/>
          <a:chExt cx="0" cy="0"/>
        </a:xfrm>
      </p:grpSpPr>
      <p:sp>
        <p:nvSpPr>
          <p:cNvPr id="180" name="Shape 0"/>
          <p:cNvSpPr/>
          <p:nvPr/>
        </p:nvSpPr>
        <p:spPr>
          <a:xfrm>
            <a:off x="548640" y="530351"/>
            <a:ext cx="146307" cy="146307"/>
          </a:xfrm>
          <a:prstGeom prst="rect">
            <a:avLst/>
          </a:prstGeom>
          <a:solidFill>
            <a:srgbClr val="7C6BB5"/>
          </a:solidFill>
          <a:ln w="12700">
            <a:solidFill>
              <a:srgbClr val="7C6BB5"/>
            </a:solidFill>
          </a:ln>
        </p:spPr>
        <p:txBody>
          <a:bodyPr lIns="45718" tIns="45718" rIns="45718" bIns="45718"/>
          <a:lstStyle/>
          <a:p>
            <a:pPr>
              <a:defRPr>
                <a:latin typeface="+mn-lt"/>
                <a:ea typeface="+mn-ea"/>
                <a:cs typeface="+mn-cs"/>
                <a:sym typeface="Calibri"/>
              </a:defRPr>
            </a:pPr>
          </a:p>
        </p:txBody>
      </p:sp>
      <p:sp>
        <p:nvSpPr>
          <p:cNvPr id="181" name="Text 1"/>
          <p:cNvSpPr txBox="1"/>
          <p:nvPr/>
        </p:nvSpPr>
        <p:spPr>
          <a:xfrm>
            <a:off x="777238" y="534966"/>
            <a:ext cx="548640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50" sz="1000">
                <a:solidFill>
                  <a:srgbClr val="7C6BB5"/>
                </a:solidFill>
                <a:latin typeface="+mn-lt"/>
                <a:ea typeface="+mn-ea"/>
                <a:cs typeface="+mn-cs"/>
                <a:sym typeface="Calibri"/>
              </a:defRPr>
            </a:lvl1pPr>
          </a:lstStyle>
          <a:p>
            <a:pPr/>
            <a:r>
              <a:t>05  BUDGET</a:t>
            </a:r>
          </a:p>
        </p:txBody>
      </p:sp>
      <p:sp>
        <p:nvSpPr>
          <p:cNvPr id="182" name="Text 2"/>
          <p:cNvSpPr txBox="1"/>
          <p:nvPr/>
        </p:nvSpPr>
        <p:spPr>
          <a:xfrm>
            <a:off x="548638" y="989328"/>
            <a:ext cx="11064245"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2A2440"/>
                </a:solidFill>
                <a:latin typeface="Georgia"/>
                <a:ea typeface="Georgia"/>
                <a:cs typeface="Georgia"/>
                <a:sym typeface="Georgia"/>
              </a:defRPr>
            </a:lvl1pPr>
          </a:lstStyle>
          <a:p>
            <a:pPr/>
            <a:r>
              <a:t>Budget Update</a:t>
            </a:r>
          </a:p>
        </p:txBody>
      </p:sp>
      <p:sp>
        <p:nvSpPr>
          <p:cNvPr id="183" name="Text 3"/>
          <p:cNvSpPr txBox="1"/>
          <p:nvPr/>
        </p:nvSpPr>
        <p:spPr>
          <a:xfrm>
            <a:off x="548638" y="1988864"/>
            <a:ext cx="3657605"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TOTAL BUDGET</a:t>
            </a:r>
          </a:p>
        </p:txBody>
      </p:sp>
      <p:sp>
        <p:nvSpPr>
          <p:cNvPr id="184" name="Text 4"/>
          <p:cNvSpPr txBox="1"/>
          <p:nvPr/>
        </p:nvSpPr>
        <p:spPr>
          <a:xfrm>
            <a:off x="548638" y="2350007"/>
            <a:ext cx="3657605"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200">
                <a:solidFill>
                  <a:srgbClr val="2A2440"/>
                </a:solidFill>
                <a:latin typeface="Georgia"/>
                <a:ea typeface="Georgia"/>
                <a:cs typeface="Georgia"/>
                <a:sym typeface="Georgia"/>
              </a:defRPr>
            </a:lvl1pPr>
          </a:lstStyle>
          <a:p>
            <a:pPr/>
            <a:r>
              <a:t>$ 350</a:t>
            </a:r>
          </a:p>
        </p:txBody>
      </p:sp>
      <p:sp>
        <p:nvSpPr>
          <p:cNvPr id="185" name="Shape 5"/>
          <p:cNvSpPr/>
          <p:nvPr/>
        </p:nvSpPr>
        <p:spPr>
          <a:xfrm>
            <a:off x="4023359" y="2011678"/>
            <a:ext cx="3" cy="822963"/>
          </a:xfrm>
          <a:prstGeom prst="line">
            <a:avLst/>
          </a:prstGeom>
          <a:ln>
            <a:solidFill>
              <a:srgbClr val="E4DFF0"/>
            </a:solidFill>
          </a:ln>
        </p:spPr>
        <p:txBody>
          <a:bodyPr lIns="45718" tIns="45718" rIns="45718" bIns="45718"/>
          <a:lstStyle/>
          <a:p>
            <a:pPr/>
          </a:p>
        </p:txBody>
      </p:sp>
      <p:sp>
        <p:nvSpPr>
          <p:cNvPr id="186" name="Text 6"/>
          <p:cNvSpPr txBox="1"/>
          <p:nvPr/>
        </p:nvSpPr>
        <p:spPr>
          <a:xfrm>
            <a:off x="4297679" y="1988864"/>
            <a:ext cx="365760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SPENT SO FAR</a:t>
            </a:r>
          </a:p>
        </p:txBody>
      </p:sp>
      <p:sp>
        <p:nvSpPr>
          <p:cNvPr id="187" name="Text 7"/>
          <p:cNvSpPr txBox="1"/>
          <p:nvPr/>
        </p:nvSpPr>
        <p:spPr>
          <a:xfrm>
            <a:off x="4297679" y="2350007"/>
            <a:ext cx="3657603"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3200">
                <a:solidFill>
                  <a:srgbClr val="2A2440"/>
                </a:solidFill>
                <a:latin typeface="Georgia"/>
                <a:ea typeface="Georgia"/>
                <a:cs typeface="Georgia"/>
                <a:sym typeface="Georgia"/>
              </a:defRPr>
            </a:pPr>
            <a:r>
              <a:t>$</a:t>
            </a:r>
            <a:r>
              <a:t> 57.38</a:t>
            </a:r>
          </a:p>
        </p:txBody>
      </p:sp>
      <p:sp>
        <p:nvSpPr>
          <p:cNvPr id="188" name="Shape 8"/>
          <p:cNvSpPr/>
          <p:nvPr/>
        </p:nvSpPr>
        <p:spPr>
          <a:xfrm>
            <a:off x="7772397" y="2011678"/>
            <a:ext cx="3" cy="822963"/>
          </a:xfrm>
          <a:prstGeom prst="line">
            <a:avLst/>
          </a:prstGeom>
          <a:ln>
            <a:solidFill>
              <a:srgbClr val="E4DFF0"/>
            </a:solidFill>
          </a:ln>
        </p:spPr>
        <p:txBody>
          <a:bodyPr lIns="45718" tIns="45718" rIns="45718" bIns="45718"/>
          <a:lstStyle/>
          <a:p>
            <a:pPr/>
          </a:p>
        </p:txBody>
      </p:sp>
      <p:sp>
        <p:nvSpPr>
          <p:cNvPr id="189" name="Text 9"/>
          <p:cNvSpPr txBox="1"/>
          <p:nvPr/>
        </p:nvSpPr>
        <p:spPr>
          <a:xfrm>
            <a:off x="8046718" y="1988864"/>
            <a:ext cx="3657604"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REMAINING</a:t>
            </a:r>
          </a:p>
        </p:txBody>
      </p:sp>
      <p:sp>
        <p:nvSpPr>
          <p:cNvPr id="190" name="Text 10"/>
          <p:cNvSpPr txBox="1"/>
          <p:nvPr/>
        </p:nvSpPr>
        <p:spPr>
          <a:xfrm>
            <a:off x="8046718" y="2350007"/>
            <a:ext cx="3657604"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3200">
                <a:solidFill>
                  <a:srgbClr val="5B4A94"/>
                </a:solidFill>
                <a:latin typeface="Georgia"/>
                <a:ea typeface="Georgia"/>
                <a:cs typeface="Georgia"/>
                <a:sym typeface="Georgia"/>
              </a:defRPr>
            </a:pPr>
            <a:r>
              <a:t>$ </a:t>
            </a:r>
            <a:r>
              <a:t>292.62</a:t>
            </a:r>
          </a:p>
        </p:txBody>
      </p:sp>
      <p:sp>
        <p:nvSpPr>
          <p:cNvPr id="191" name="Shape 11"/>
          <p:cNvSpPr/>
          <p:nvPr/>
        </p:nvSpPr>
        <p:spPr>
          <a:xfrm>
            <a:off x="548638" y="3063239"/>
            <a:ext cx="11064245" cy="1"/>
          </a:xfrm>
          <a:prstGeom prst="line">
            <a:avLst/>
          </a:prstGeom>
          <a:ln>
            <a:solidFill>
              <a:srgbClr val="E4DFF0"/>
            </a:solidFill>
          </a:ln>
        </p:spPr>
        <p:txBody>
          <a:bodyPr lIns="45718" tIns="45718" rIns="45718" bIns="45718"/>
          <a:lstStyle/>
          <a:p>
            <a:pPr/>
          </a:p>
        </p:txBody>
      </p:sp>
      <p:sp>
        <p:nvSpPr>
          <p:cNvPr id="192" name="Text 12"/>
          <p:cNvSpPr txBox="1"/>
          <p:nvPr/>
        </p:nvSpPr>
        <p:spPr>
          <a:xfrm>
            <a:off x="548638" y="3269023"/>
            <a:ext cx="4572005"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000">
                <a:solidFill>
                  <a:srgbClr val="7C6BB5"/>
                </a:solidFill>
                <a:latin typeface="+mn-lt"/>
                <a:ea typeface="+mn-ea"/>
                <a:cs typeface="+mn-cs"/>
                <a:sym typeface="Calibri"/>
              </a:defRPr>
            </a:lvl1pPr>
          </a:lstStyle>
          <a:p>
            <a:pPr/>
            <a:r>
              <a:t>PURCHASES TO DATE</a:t>
            </a:r>
          </a:p>
        </p:txBody>
      </p:sp>
      <p:graphicFrame>
        <p:nvGraphicFramePr>
          <p:cNvPr id="193" name="Table 0"/>
          <p:cNvGraphicFramePr/>
          <p:nvPr/>
        </p:nvGraphicFramePr>
        <p:xfrm>
          <a:off x="548640" y="3520440"/>
          <a:ext cx="11064241" cy="2816226"/>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6217920"/>
                <a:gridCol w="1188720"/>
                <a:gridCol w="1828800"/>
                <a:gridCol w="1828800"/>
              </a:tblGrid>
              <a:tr h="402336">
                <a:tc>
                  <a:txBody>
                    <a:bodyPr/>
                    <a:lstStyle/>
                    <a:p>
                      <a:pPr algn="l">
                        <a:defRPr sz="1800"/>
                      </a:pPr>
                      <a:r>
                        <a:rPr b="1" sz="1400">
                          <a:solidFill>
                            <a:srgbClr val="5B4A94"/>
                          </a:solidFill>
                        </a:rPr>
                        <a:t>Item</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EEEAF7"/>
                    </a:solidFill>
                  </a:tcPr>
                </a:tc>
                <a:tc>
                  <a:txBody>
                    <a:bodyPr/>
                    <a:lstStyle/>
                    <a:p>
                      <a:pPr algn="ctr">
                        <a:defRPr sz="1800"/>
                      </a:pPr>
                      <a:r>
                        <a:rPr b="1" sz="1400">
                          <a:solidFill>
                            <a:srgbClr val="5B4A94"/>
                          </a:solidFill>
                        </a:rPr>
                        <a:t>Qty</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EEEAF7"/>
                    </a:solidFill>
                  </a:tcPr>
                </a:tc>
                <a:tc>
                  <a:txBody>
                    <a:bodyPr/>
                    <a:lstStyle/>
                    <a:p>
                      <a:pPr>
                        <a:defRPr sz="1800"/>
                      </a:pPr>
                      <a:r>
                        <a:rPr b="1" sz="1400">
                          <a:solidFill>
                            <a:srgbClr val="5B4A94"/>
                          </a:solidFill>
                        </a:rPr>
                        <a:t>Unit Cost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EEEAF7"/>
                    </a:solidFill>
                  </a:tcPr>
                </a:tc>
                <a:tc>
                  <a:txBody>
                    <a:bodyPr/>
                    <a:lstStyle/>
                    <a:p>
                      <a:pPr>
                        <a:defRPr sz="1800"/>
                      </a:pPr>
                      <a:r>
                        <a:rPr b="1" sz="1400">
                          <a:solidFill>
                            <a:srgbClr val="5B4A94"/>
                          </a:solidFill>
                        </a:rPr>
                        <a:t>Total</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EEEAF7"/>
                    </a:solidFill>
                  </a:tcPr>
                </a:tc>
              </a:tr>
              <a:tr h="402336">
                <a:tc>
                  <a:txBody>
                    <a:bodyPr/>
                    <a:lstStyle/>
                    <a:p>
                      <a:pPr algn="l">
                        <a:defRPr sz="1800"/>
                      </a:pPr>
                      <a:r>
                        <a:rPr sz="1400">
                          <a:solidFill>
                            <a:srgbClr val="2A2440"/>
                          </a:solidFill>
                        </a:rPr>
                        <a:t>[LiPo battery]</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lgn="ctr">
                        <a:defRPr sz="1800"/>
                      </a:pPr>
                      <a:r>
                        <a:rPr sz="1400">
                          <a:solidFill>
                            <a:srgbClr val="2A2440"/>
                          </a:solidFill>
                        </a:rPr>
                        <a:t>[1]</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5.83</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5.83</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r>
              <a:tr h="402336">
                <a:tc>
                  <a:txBody>
                    <a:bodyPr/>
                    <a:lstStyle/>
                    <a:p>
                      <a:pPr algn="l">
                        <a:defRPr sz="1400">
                          <a:solidFill>
                            <a:srgbClr val="2A2440"/>
                          </a:solidFill>
                        </a:defRPr>
                      </a:pPr>
                      <a:r>
                        <a:t>[</a:t>
                      </a:r>
                      <a:r>
                        <a:t>LiPo charger module (TP4057, 5pcs)</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lgn="ctr">
                        <a:defRPr sz="1800"/>
                      </a:pPr>
                      <a:r>
                        <a:rPr sz="1400">
                          <a:solidFill>
                            <a:srgbClr val="2A2440"/>
                          </a:solidFill>
                        </a:rPr>
                        <a:t>[1]</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7.56</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7.56</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r>
              <a:tr h="402336">
                <a:tc>
                  <a:txBody>
                    <a:bodyPr/>
                    <a:lstStyle/>
                    <a:p>
                      <a:pPr algn="l">
                        <a:defRPr sz="1400">
                          <a:solidFill>
                            <a:srgbClr val="2A2440"/>
                          </a:solidFill>
                        </a:defRPr>
                      </a:pPr>
                      <a:r>
                        <a:t>[</a:t>
                      </a:r>
                      <a:r>
                        <a:t>Cat litter box(Smart Paws,enclosed)</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lgn="ctr">
                        <a:defRPr sz="1800"/>
                      </a:pPr>
                      <a:r>
                        <a:rPr sz="1400">
                          <a:solidFill>
                            <a:srgbClr val="2A2440"/>
                          </a:solidFill>
                        </a:rPr>
                        <a:t>[1]</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43.99</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43.99</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r>
              <a:tr h="402336">
                <a:tc>
                  <a:txBody>
                    <a:bodyPr/>
                    <a:lstStyle/>
                    <a:p>
                      <a:pPr algn="l">
                        <a:defRPr sz="1800"/>
                      </a:pPr>
                      <a:r>
                        <a:rPr sz="1400">
                          <a:solidFill>
                            <a:srgbClr val="2A2440"/>
                          </a:solidFill>
                        </a:rPr>
                        <a:t>[XIAO ESP32S3]</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lgn="ctr">
                        <a:defRPr sz="1400">
                          <a:solidFill>
                            <a:srgbClr val="2A2440"/>
                          </a:solidFill>
                        </a:defRPr>
                      </a:pPr>
                      <a:r>
                        <a:t>[</a:t>
                      </a:r>
                      <a:r>
                        <a:t>2</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0.00</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0.00</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r>
              <a:tr h="402336">
                <a:tc>
                  <a:txBody>
                    <a:bodyPr/>
                    <a:lstStyle/>
                    <a:p>
                      <a:pPr algn="l">
                        <a:defRPr sz="1800"/>
                      </a:pPr>
                      <a:r>
                        <a:rPr sz="1400">
                          <a:solidFill>
                            <a:srgbClr val="2A2440"/>
                          </a:solidFill>
                        </a:rPr>
                        <a:t>[Load cell + HX711]</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lgn="ctr">
                        <a:defRPr sz="1800"/>
                      </a:pPr>
                      <a:r>
                        <a:rPr sz="1400">
                          <a:solidFill>
                            <a:srgbClr val="2A2440"/>
                          </a:solidFill>
                        </a:rPr>
                        <a:t>[1]</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0.00</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0.00</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r>
              <a:tr h="402336">
                <a:tc>
                  <a:txBody>
                    <a:bodyPr/>
                    <a:lstStyle/>
                    <a:p>
                      <a:pPr algn="l">
                        <a:defRPr sz="1800"/>
                      </a:pPr>
                      <a:r>
                        <a:rPr sz="1400">
                          <a:solidFill>
                            <a:srgbClr val="2A2440"/>
                          </a:solidFill>
                        </a:rPr>
                        <a:t>[PIR motion sensor]</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lgn="ctr">
                        <a:defRPr sz="1800"/>
                      </a:pPr>
                      <a:r>
                        <a:rPr sz="1400">
                          <a:solidFill>
                            <a:srgbClr val="2A2440"/>
                          </a:solidFill>
                        </a:rPr>
                        <a:t>[1]</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0.00</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c>
                  <a:txBody>
                    <a:bodyPr/>
                    <a:lstStyle/>
                    <a:p>
                      <a:pPr>
                        <a:defRPr sz="1400">
                          <a:solidFill>
                            <a:srgbClr val="2A2440"/>
                          </a:solidFill>
                        </a:defRPr>
                      </a:pPr>
                      <a:r>
                        <a:t>[$ </a:t>
                      </a:r>
                      <a:r>
                        <a:t>0.00</a:t>
                      </a:r>
                      <a:r>
                        <a:t>]</a:t>
                      </a:r>
                    </a:p>
                  </a:txBody>
                  <a:tcPr marL="45720" marR="45720" marT="45720" marB="45720" anchor="ctr" anchorCtr="0" horzOverflow="overflow">
                    <a:lnL w="6350">
                      <a:solidFill>
                        <a:srgbClr val="E4DFF0"/>
                      </a:solidFill>
                    </a:lnL>
                    <a:lnR w="6350">
                      <a:solidFill>
                        <a:srgbClr val="E4DFF0"/>
                      </a:solidFill>
                    </a:lnR>
                    <a:lnT w="6350">
                      <a:solidFill>
                        <a:srgbClr val="E4DFF0"/>
                      </a:solidFill>
                    </a:lnT>
                    <a:lnB w="6350">
                      <a:solidFill>
                        <a:srgbClr val="E4DFF0"/>
                      </a:solidFill>
                    </a:lnB>
                    <a:solidFill>
                      <a:srgbClr val="FFFFFF"/>
                    </a:solidFill>
                  </a:tcPr>
                </a:tc>
              </a:tr>
            </a:tbl>
          </a:graphicData>
        </a:graphic>
      </p:graphicFrame>
      <p:sp>
        <p:nvSpPr>
          <p:cNvPr id="194" name="Shape 13"/>
          <p:cNvSpPr/>
          <p:nvPr/>
        </p:nvSpPr>
        <p:spPr>
          <a:xfrm>
            <a:off x="548638" y="6446520"/>
            <a:ext cx="11064245" cy="1"/>
          </a:xfrm>
          <a:prstGeom prst="line">
            <a:avLst/>
          </a:prstGeom>
          <a:ln>
            <a:solidFill>
              <a:srgbClr val="E4DFF0"/>
            </a:solidFill>
          </a:ln>
        </p:spPr>
        <p:txBody>
          <a:bodyPr lIns="45718" tIns="45718" rIns="45718" bIns="45718"/>
          <a:lstStyle/>
          <a:p>
            <a:pPr/>
          </a:p>
        </p:txBody>
      </p:sp>
      <p:sp>
        <p:nvSpPr>
          <p:cNvPr id="195" name="Text 14"/>
          <p:cNvSpPr txBox="1"/>
          <p:nvPr/>
        </p:nvSpPr>
        <p:spPr>
          <a:xfrm>
            <a:off x="548640" y="6560863"/>
            <a:ext cx="7315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7A7490"/>
                </a:solidFill>
                <a:latin typeface="+mn-lt"/>
                <a:ea typeface="+mn-ea"/>
                <a:cs typeface="+mn-cs"/>
                <a:sym typeface="Calibri"/>
              </a:defRPr>
            </a:lvl1pPr>
          </a:lstStyle>
          <a:p>
            <a:pPr/>
            <a:r>
              <a:t>Smart Cat Litter Box Monitor   |   Milestone 1</a:t>
            </a:r>
          </a:p>
        </p:txBody>
      </p:sp>
      <p:sp>
        <p:nvSpPr>
          <p:cNvPr id="196" name="Text 15"/>
          <p:cNvSpPr txBox="1"/>
          <p:nvPr/>
        </p:nvSpPr>
        <p:spPr>
          <a:xfrm>
            <a:off x="10698480" y="6560863"/>
            <a:ext cx="91440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solidFill>
                  <a:srgbClr val="7A7490"/>
                </a:solidFill>
                <a:latin typeface="+mn-lt"/>
                <a:ea typeface="+mn-ea"/>
                <a:cs typeface="+mn-cs"/>
                <a:sym typeface="Calibri"/>
              </a:defRPr>
            </a:lvl1pPr>
          </a:lstStyle>
          <a:p>
            <a:pPr/>
            <a:r>
              <a:t>6 / 6</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