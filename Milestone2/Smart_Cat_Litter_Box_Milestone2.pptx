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标题文本</a:t>
            </a:r>
          </a:p>
        </p:txBody>
      </p:sp>
      <p:sp>
        <p:nvSpPr>
          <p:cNvPr id="3" name="正文级别 1…"/>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8478978" y="6232198"/>
            <a:ext cx="258623" cy="248304"/>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pic>
        <p:nvPicPr>
          <p:cNvPr id="20" name="图片 1" descr="图片 1"/>
          <p:cNvPicPr>
            <a:picLocks noChangeAspect="1"/>
          </p:cNvPicPr>
          <p:nvPr/>
        </p:nvPicPr>
        <p:blipFill>
          <a:blip r:embed="rId2">
            <a:extLst/>
          </a:blip>
          <a:stretch>
            <a:fillRect/>
          </a:stretch>
        </p:blipFill>
        <p:spPr>
          <a:xfrm>
            <a:off x="7752080" y="1557019"/>
            <a:ext cx="2798447" cy="2670812"/>
          </a:xfrm>
          <a:prstGeom prst="rect">
            <a:avLst/>
          </a:prstGeom>
          <a:ln w="12700">
            <a:miter lim="400000"/>
          </a:ln>
        </p:spPr>
      </p:pic>
      <p:sp>
        <p:nvSpPr>
          <p:cNvPr id="21" name="Shape 0"/>
          <p:cNvSpPr/>
          <p:nvPr/>
        </p:nvSpPr>
        <p:spPr>
          <a:xfrm>
            <a:off x="548638" y="548640"/>
            <a:ext cx="11064245" cy="1"/>
          </a:xfrm>
          <a:prstGeom prst="line">
            <a:avLst/>
          </a:prstGeom>
          <a:ln w="15875">
            <a:solidFill>
              <a:srgbClr val="7C6BB5"/>
            </a:solidFill>
          </a:ln>
        </p:spPr>
        <p:txBody>
          <a:bodyPr lIns="45718" tIns="45718" rIns="45718" bIns="45718"/>
          <a:lstStyle/>
          <a:p>
            <a:pPr/>
          </a:p>
        </p:txBody>
      </p:sp>
      <p:sp>
        <p:nvSpPr>
          <p:cNvPr id="22" name="Text 1"/>
          <p:cNvSpPr txBox="1"/>
          <p:nvPr/>
        </p:nvSpPr>
        <p:spPr>
          <a:xfrm>
            <a:off x="548638" y="749852"/>
            <a:ext cx="5486406"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MILESTONE 2</a:t>
            </a:r>
          </a:p>
        </p:txBody>
      </p:sp>
      <p:sp>
        <p:nvSpPr>
          <p:cNvPr id="23" name="Text 2"/>
          <p:cNvSpPr txBox="1"/>
          <p:nvPr/>
        </p:nvSpPr>
        <p:spPr>
          <a:xfrm>
            <a:off x="10058400" y="749852"/>
            <a:ext cx="155448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50" sz="1000">
                <a:solidFill>
                  <a:srgbClr val="7A7490"/>
                </a:solidFill>
                <a:latin typeface="+mn-lt"/>
                <a:ea typeface="+mn-ea"/>
                <a:cs typeface="+mn-cs"/>
                <a:sym typeface="Calibri"/>
              </a:defRPr>
            </a:lvl1pPr>
          </a:lstStyle>
          <a:p>
            <a:pPr/>
            <a:r>
              <a:t>TEAM PROJECT</a:t>
            </a:r>
          </a:p>
        </p:txBody>
      </p:sp>
      <p:sp>
        <p:nvSpPr>
          <p:cNvPr id="24" name="Text 3"/>
          <p:cNvSpPr txBox="1"/>
          <p:nvPr/>
        </p:nvSpPr>
        <p:spPr>
          <a:xfrm>
            <a:off x="1188719" y="1938654"/>
            <a:ext cx="6637019" cy="787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400">
                <a:solidFill>
                  <a:srgbClr val="2A2440"/>
                </a:solidFill>
                <a:latin typeface="Georgia"/>
                <a:ea typeface="Georgia"/>
                <a:cs typeface="Georgia"/>
                <a:sym typeface="Georgia"/>
              </a:defRPr>
            </a:lvl1pPr>
          </a:lstStyle>
          <a:p>
            <a:pPr/>
            <a:r>
              <a:t>Smart Cat Litter</a:t>
            </a:r>
          </a:p>
        </p:txBody>
      </p:sp>
      <p:sp>
        <p:nvSpPr>
          <p:cNvPr id="25" name="Text 4"/>
          <p:cNvSpPr txBox="1"/>
          <p:nvPr/>
        </p:nvSpPr>
        <p:spPr>
          <a:xfrm>
            <a:off x="1188719" y="2944494"/>
            <a:ext cx="6637019" cy="787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5400">
                <a:solidFill>
                  <a:srgbClr val="7C6BB5"/>
                </a:solidFill>
                <a:latin typeface="Georgia"/>
                <a:ea typeface="Georgia"/>
                <a:cs typeface="Georgia"/>
                <a:sym typeface="Georgia"/>
              </a:defRPr>
            </a:lvl1pPr>
          </a:lstStyle>
          <a:p>
            <a:pPr/>
            <a:r>
              <a:t>Box Monitor</a:t>
            </a:r>
          </a:p>
        </p:txBody>
      </p:sp>
      <p:sp>
        <p:nvSpPr>
          <p:cNvPr id="26" name="Shape 5"/>
          <p:cNvSpPr/>
          <p:nvPr/>
        </p:nvSpPr>
        <p:spPr>
          <a:xfrm>
            <a:off x="5532120" y="4343400"/>
            <a:ext cx="1097284" cy="0"/>
          </a:xfrm>
          <a:prstGeom prst="line">
            <a:avLst/>
          </a:prstGeom>
          <a:ln w="12700">
            <a:solidFill>
              <a:srgbClr val="B5ADCF"/>
            </a:solidFill>
          </a:ln>
        </p:spPr>
        <p:txBody>
          <a:bodyPr lIns="45718" tIns="45718" rIns="45718" bIns="45718"/>
          <a:lstStyle/>
          <a:p>
            <a:pPr/>
          </a:p>
        </p:txBody>
      </p:sp>
      <p:sp>
        <p:nvSpPr>
          <p:cNvPr id="27" name="Text 6"/>
          <p:cNvSpPr txBox="1"/>
          <p:nvPr/>
        </p:nvSpPr>
        <p:spPr>
          <a:xfrm>
            <a:off x="548638" y="4627441"/>
            <a:ext cx="1106424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600">
                <a:solidFill>
                  <a:srgbClr val="7A7490"/>
                </a:solidFill>
                <a:latin typeface="+mn-lt"/>
                <a:ea typeface="+mn-ea"/>
                <a:cs typeface="+mn-cs"/>
                <a:sym typeface="Calibri"/>
              </a:defRPr>
            </a:lvl1pPr>
          </a:lstStyle>
          <a:p>
            <a:pPr/>
            <a:r>
              <a:t>Passive health tracking for cats through visit, weight, and pattern monitoring.</a:t>
            </a:r>
          </a:p>
        </p:txBody>
      </p:sp>
      <p:sp>
        <p:nvSpPr>
          <p:cNvPr id="28" name="Shape 7"/>
          <p:cNvSpPr/>
          <p:nvPr/>
        </p:nvSpPr>
        <p:spPr>
          <a:xfrm>
            <a:off x="1188719" y="5212079"/>
            <a:ext cx="9784082" cy="1"/>
          </a:xfrm>
          <a:prstGeom prst="line">
            <a:avLst/>
          </a:prstGeom>
          <a:ln>
            <a:solidFill>
              <a:srgbClr val="E4DFF0"/>
            </a:solidFill>
          </a:ln>
        </p:spPr>
        <p:txBody>
          <a:bodyPr lIns="45718" tIns="45718" rIns="45718" bIns="45718"/>
          <a:lstStyle/>
          <a:p>
            <a:pPr/>
          </a:p>
        </p:txBody>
      </p:sp>
      <p:sp>
        <p:nvSpPr>
          <p:cNvPr id="29" name="Text 8"/>
          <p:cNvSpPr txBox="1"/>
          <p:nvPr/>
        </p:nvSpPr>
        <p:spPr>
          <a:xfrm>
            <a:off x="1188716" y="5468618"/>
            <a:ext cx="365760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7C6BB5"/>
                </a:solidFill>
                <a:latin typeface="+mn-lt"/>
                <a:ea typeface="+mn-ea"/>
                <a:cs typeface="+mn-cs"/>
                <a:sym typeface="Calibri"/>
              </a:defRPr>
            </a:lvl1pPr>
          </a:lstStyle>
          <a:p>
            <a:pPr/>
            <a:r>
              <a:t>TEAM</a:t>
            </a:r>
          </a:p>
        </p:txBody>
      </p:sp>
      <p:sp>
        <p:nvSpPr>
          <p:cNvPr id="30" name="Text 9"/>
          <p:cNvSpPr txBox="1"/>
          <p:nvPr/>
        </p:nvSpPr>
        <p:spPr>
          <a:xfrm>
            <a:off x="1188717" y="5758879"/>
            <a:ext cx="4389127"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A2440"/>
                </a:solidFill>
                <a:latin typeface="+mn-lt"/>
                <a:ea typeface="+mn-ea"/>
                <a:cs typeface="+mn-cs"/>
                <a:sym typeface="Calibri"/>
              </a:defRPr>
            </a:lvl1pPr>
          </a:lstStyle>
          <a:p>
            <a:pPr/>
            <a:r>
              <a:t>Mengqi Shi    Yuna Xiong    Xin Luo</a:t>
            </a:r>
          </a:p>
        </p:txBody>
      </p:sp>
      <p:sp>
        <p:nvSpPr>
          <p:cNvPr id="31" name="Text 10"/>
          <p:cNvSpPr txBox="1"/>
          <p:nvPr/>
        </p:nvSpPr>
        <p:spPr>
          <a:xfrm>
            <a:off x="5943600" y="5468618"/>
            <a:ext cx="36576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7C6BB5"/>
                </a:solidFill>
                <a:latin typeface="+mn-lt"/>
                <a:ea typeface="+mn-ea"/>
                <a:cs typeface="+mn-cs"/>
                <a:sym typeface="Calibri"/>
              </a:defRPr>
            </a:lvl1pPr>
          </a:lstStyle>
          <a:p>
            <a:pPr/>
            <a:r>
              <a:t>TEAM</a:t>
            </a:r>
          </a:p>
        </p:txBody>
      </p:sp>
      <p:sp>
        <p:nvSpPr>
          <p:cNvPr id="32" name="Text 11"/>
          <p:cNvSpPr txBox="1"/>
          <p:nvPr/>
        </p:nvSpPr>
        <p:spPr>
          <a:xfrm>
            <a:off x="5943600" y="5758879"/>
            <a:ext cx="43891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A2440"/>
                </a:solidFill>
                <a:latin typeface="+mn-lt"/>
                <a:ea typeface="+mn-ea"/>
                <a:cs typeface="+mn-cs"/>
                <a:sym typeface="Calibri"/>
              </a:defRPr>
            </a:lvl1pPr>
          </a:lstStyle>
          <a:p>
            <a:pPr/>
            <a:r>
              <a:t>Team SmartLitterBox</a:t>
            </a:r>
          </a:p>
        </p:txBody>
      </p:sp>
      <p:sp>
        <p:nvSpPr>
          <p:cNvPr id="33" name="Text 12"/>
          <p:cNvSpPr txBox="1"/>
          <p:nvPr/>
        </p:nvSpPr>
        <p:spPr>
          <a:xfrm>
            <a:off x="8503918" y="5468618"/>
            <a:ext cx="36576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7C6BB5"/>
                </a:solidFill>
                <a:latin typeface="+mn-lt"/>
                <a:ea typeface="+mn-ea"/>
                <a:cs typeface="+mn-cs"/>
                <a:sym typeface="Calibri"/>
              </a:defRPr>
            </a:lvl1pPr>
          </a:lstStyle>
          <a:p>
            <a:pPr/>
            <a:r>
              <a:t>GITHUB</a:t>
            </a:r>
          </a:p>
        </p:txBody>
      </p:sp>
      <p:sp>
        <p:nvSpPr>
          <p:cNvPr id="34" name="Text 13"/>
          <p:cNvSpPr txBox="1"/>
          <p:nvPr/>
        </p:nvSpPr>
        <p:spPr>
          <a:xfrm>
            <a:off x="8503918" y="5644580"/>
            <a:ext cx="4389124"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A2440"/>
                </a:solidFill>
                <a:latin typeface="+mn-lt"/>
                <a:ea typeface="+mn-ea"/>
                <a:cs typeface="+mn-cs"/>
                <a:sym typeface="Calibri"/>
              </a:defRPr>
            </a:lvl1pPr>
          </a:lstStyle>
          <a:p>
            <a:pPr/>
            <a:r>
              <a:t>https://github.com/MengqiS21/TECHIN515_final_project_smart_litter_box</a:t>
            </a:r>
          </a:p>
        </p:txBody>
      </p:sp>
      <p:sp>
        <p:nvSpPr>
          <p:cNvPr id="35" name="Shape 14"/>
          <p:cNvSpPr/>
          <p:nvPr/>
        </p:nvSpPr>
        <p:spPr>
          <a:xfrm>
            <a:off x="548638" y="6446520"/>
            <a:ext cx="11064245" cy="1"/>
          </a:xfrm>
          <a:prstGeom prst="line">
            <a:avLst/>
          </a:prstGeom>
          <a:ln>
            <a:solidFill>
              <a:srgbClr val="E4DFF0"/>
            </a:solidFill>
          </a:ln>
        </p:spPr>
        <p:txBody>
          <a:bodyPr lIns="45718" tIns="45718" rIns="45718" bIns="45718"/>
          <a:lstStyle/>
          <a:p>
            <a:pPr/>
          </a:p>
        </p:txBody>
      </p:sp>
      <p:sp>
        <p:nvSpPr>
          <p:cNvPr id="36" name="Text 15"/>
          <p:cNvSpPr txBox="1"/>
          <p:nvPr/>
        </p:nvSpPr>
        <p:spPr>
          <a:xfrm>
            <a:off x="548640" y="6560863"/>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1</a:t>
            </a:r>
          </a:p>
        </p:txBody>
      </p:sp>
      <p:sp>
        <p:nvSpPr>
          <p:cNvPr id="37" name="Text 16"/>
          <p:cNvSpPr txBox="1"/>
          <p:nvPr/>
        </p:nvSpPr>
        <p:spPr>
          <a:xfrm>
            <a:off x="10698480" y="6560863"/>
            <a:ext cx="9144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1 / 8</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39" name="Shape 0"/>
          <p:cNvSpPr/>
          <p:nvPr/>
        </p:nvSpPr>
        <p:spPr>
          <a:xfrm>
            <a:off x="548640" y="530351"/>
            <a:ext cx="146308" cy="146308"/>
          </a:xfrm>
          <a:prstGeom prst="rect">
            <a:avLst/>
          </a:prstGeom>
          <a:solidFill>
            <a:srgbClr val="7C6BB5"/>
          </a:solidFill>
          <a:ln w="12700">
            <a:solidFill>
              <a:srgbClr val="7C6BB5"/>
            </a:solidFill>
          </a:ln>
        </p:spPr>
        <p:txBody>
          <a:bodyPr lIns="45718" tIns="45718" rIns="45718" bIns="45718"/>
          <a:lstStyle/>
          <a:p>
            <a:pPr>
              <a:defRPr>
                <a:latin typeface="+mn-lt"/>
                <a:ea typeface="+mn-ea"/>
                <a:cs typeface="+mn-cs"/>
                <a:sym typeface="Calibri"/>
              </a:defRPr>
            </a:pPr>
          </a:p>
        </p:txBody>
      </p:sp>
      <p:sp>
        <p:nvSpPr>
          <p:cNvPr id="40" name="Text 1"/>
          <p:cNvSpPr txBox="1"/>
          <p:nvPr/>
        </p:nvSpPr>
        <p:spPr>
          <a:xfrm>
            <a:off x="777238" y="534965"/>
            <a:ext cx="54864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01  PROBLEM</a:t>
            </a:r>
          </a:p>
        </p:txBody>
      </p:sp>
      <p:sp>
        <p:nvSpPr>
          <p:cNvPr id="41" name="Text 2"/>
          <p:cNvSpPr txBox="1"/>
          <p:nvPr/>
        </p:nvSpPr>
        <p:spPr>
          <a:xfrm>
            <a:off x="548638" y="989327"/>
            <a:ext cx="1106424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A2440"/>
                </a:solidFill>
                <a:latin typeface="Georgia"/>
                <a:ea typeface="Georgia"/>
                <a:cs typeface="Georgia"/>
                <a:sym typeface="Georgia"/>
              </a:defRPr>
            </a:lvl1pPr>
          </a:lstStyle>
          <a:p>
            <a:pPr/>
            <a:r>
              <a:t>The Problem &amp; Who It Affects</a:t>
            </a:r>
          </a:p>
        </p:txBody>
      </p:sp>
      <p:sp>
        <p:nvSpPr>
          <p:cNvPr id="42" name="Shape 3"/>
          <p:cNvSpPr/>
          <p:nvPr/>
        </p:nvSpPr>
        <p:spPr>
          <a:xfrm flipH="1">
            <a:off x="6035040" y="2103120"/>
            <a:ext cx="1" cy="4023360"/>
          </a:xfrm>
          <a:prstGeom prst="line">
            <a:avLst/>
          </a:prstGeom>
          <a:ln>
            <a:solidFill>
              <a:srgbClr val="E4DFF0"/>
            </a:solidFill>
          </a:ln>
        </p:spPr>
        <p:txBody>
          <a:bodyPr lIns="45718" tIns="45718" rIns="45718" bIns="45718"/>
          <a:lstStyle/>
          <a:p>
            <a:pPr/>
          </a:p>
        </p:txBody>
      </p:sp>
      <p:sp>
        <p:nvSpPr>
          <p:cNvPr id="43" name="Text 4"/>
          <p:cNvSpPr txBox="1"/>
          <p:nvPr/>
        </p:nvSpPr>
        <p:spPr>
          <a:xfrm>
            <a:off x="548638" y="2103164"/>
            <a:ext cx="4572006"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THE PROBLEM</a:t>
            </a:r>
          </a:p>
        </p:txBody>
      </p:sp>
      <p:sp>
        <p:nvSpPr>
          <p:cNvPr id="44" name="Text 5"/>
          <p:cNvSpPr txBox="1"/>
          <p:nvPr/>
        </p:nvSpPr>
        <p:spPr>
          <a:xfrm>
            <a:off x="548638" y="2404110"/>
            <a:ext cx="5303524" cy="952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2200">
                <a:solidFill>
                  <a:srgbClr val="2A2440"/>
                </a:solidFill>
                <a:latin typeface="Georgia"/>
                <a:ea typeface="Georgia"/>
                <a:cs typeface="Georgia"/>
                <a:sym typeface="Georgia"/>
              </a:defRPr>
            </a:lvl1pPr>
          </a:lstStyle>
          <a:p>
            <a:pPr/>
            <a:r>
              <a:t>Cat owners have no easy way to detect early signs of health issues from litter box behavior.</a:t>
            </a:r>
          </a:p>
        </p:txBody>
      </p:sp>
      <p:sp>
        <p:nvSpPr>
          <p:cNvPr id="45" name="Text 6"/>
          <p:cNvSpPr txBox="1"/>
          <p:nvPr/>
        </p:nvSpPr>
        <p:spPr>
          <a:xfrm>
            <a:off x="548638" y="4387279"/>
            <a:ext cx="5303524" cy="11009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7A7490"/>
                </a:solidFill>
                <a:latin typeface="+mn-lt"/>
                <a:ea typeface="+mn-ea"/>
                <a:cs typeface="+mn-cs"/>
                <a:sym typeface="Calibri"/>
              </a:defRPr>
            </a:lvl1pPr>
          </a:lstStyle>
          <a:p>
            <a:pPr/>
            <a:r>
              <a:t>Cats often hide symptoms of illness such as urinary blockages or weight loss. Subtle changes in litter box visit frequency, duration, and body weight are hard to notice without consistent tracking. By the time owners spot a problem, the condition may already be serious.</a:t>
            </a:r>
          </a:p>
        </p:txBody>
      </p:sp>
      <p:sp>
        <p:nvSpPr>
          <p:cNvPr id="46" name="Text 7"/>
          <p:cNvSpPr txBox="1"/>
          <p:nvPr/>
        </p:nvSpPr>
        <p:spPr>
          <a:xfrm>
            <a:off x="6309359" y="2103164"/>
            <a:ext cx="45720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BY THE NUMBERS</a:t>
            </a:r>
          </a:p>
        </p:txBody>
      </p:sp>
      <p:sp>
        <p:nvSpPr>
          <p:cNvPr id="47" name="Text 8"/>
          <p:cNvSpPr txBox="1"/>
          <p:nvPr/>
        </p:nvSpPr>
        <p:spPr>
          <a:xfrm>
            <a:off x="6309359" y="2484120"/>
            <a:ext cx="5303524"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200">
                <a:solidFill>
                  <a:srgbClr val="5B4A94"/>
                </a:solidFill>
                <a:latin typeface="Georgia"/>
                <a:ea typeface="Georgia"/>
                <a:cs typeface="Georgia"/>
                <a:sym typeface="Georgia"/>
              </a:defRPr>
            </a:lvl1pPr>
          </a:lstStyle>
          <a:p>
            <a:pPr/>
            <a:r>
              <a:t>64.5%</a:t>
            </a:r>
          </a:p>
        </p:txBody>
      </p:sp>
      <p:sp>
        <p:nvSpPr>
          <p:cNvPr id="48" name="Text 9"/>
          <p:cNvSpPr txBox="1"/>
          <p:nvPr/>
        </p:nvSpPr>
        <p:spPr>
          <a:xfrm>
            <a:off x="6309359" y="3472616"/>
            <a:ext cx="5303524"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rgbClr val="7A7490"/>
                </a:solidFill>
                <a:latin typeface="+mn-lt"/>
                <a:ea typeface="+mn-ea"/>
                <a:cs typeface="+mn-cs"/>
                <a:sym typeface="Calibri"/>
              </a:defRPr>
            </a:lvl1pPr>
          </a:lstStyle>
          <a:p>
            <a:pPr/>
            <a:r>
              <a:t>of cats with urinary tract issues show no obvious symptoms until the condition becomes serious</a:t>
            </a:r>
          </a:p>
        </p:txBody>
      </p:sp>
      <p:sp>
        <p:nvSpPr>
          <p:cNvPr id="49" name="Shape 10"/>
          <p:cNvSpPr/>
          <p:nvPr/>
        </p:nvSpPr>
        <p:spPr>
          <a:xfrm>
            <a:off x="6309359" y="4160520"/>
            <a:ext cx="5303524" cy="1"/>
          </a:xfrm>
          <a:prstGeom prst="line">
            <a:avLst/>
          </a:prstGeom>
          <a:ln>
            <a:solidFill>
              <a:srgbClr val="E4DFF0"/>
            </a:solidFill>
          </a:ln>
        </p:spPr>
        <p:txBody>
          <a:bodyPr lIns="45718" tIns="45718" rIns="45718" bIns="45718"/>
          <a:lstStyle/>
          <a:p>
            <a:pPr/>
          </a:p>
        </p:txBody>
      </p:sp>
      <p:sp>
        <p:nvSpPr>
          <p:cNvPr id="50" name="Text 11"/>
          <p:cNvSpPr txBox="1"/>
          <p:nvPr/>
        </p:nvSpPr>
        <p:spPr>
          <a:xfrm>
            <a:off x="6309359" y="4389163"/>
            <a:ext cx="45720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INTENDED USER GROUP</a:t>
            </a:r>
          </a:p>
        </p:txBody>
      </p:sp>
      <p:sp>
        <p:nvSpPr>
          <p:cNvPr id="51" name="Text 12"/>
          <p:cNvSpPr txBox="1"/>
          <p:nvPr/>
        </p:nvSpPr>
        <p:spPr>
          <a:xfrm>
            <a:off x="6309359" y="5164519"/>
            <a:ext cx="5303524"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A2440"/>
                </a:solidFill>
                <a:latin typeface="+mn-lt"/>
                <a:ea typeface="+mn-ea"/>
                <a:cs typeface="+mn-cs"/>
                <a:sym typeface="Calibri"/>
              </a:defRPr>
            </a:lvl1pPr>
          </a:lstStyle>
          <a:p>
            <a:pPr/>
            <a:r>
              <a:t>Cat owners who want passive, automatic monitoring of their cat's health through litter box usage patterns, without relying on manual observation or frequent vet visits.</a:t>
            </a:r>
          </a:p>
        </p:txBody>
      </p:sp>
      <p:sp>
        <p:nvSpPr>
          <p:cNvPr id="52" name="Shape 13"/>
          <p:cNvSpPr/>
          <p:nvPr/>
        </p:nvSpPr>
        <p:spPr>
          <a:xfrm>
            <a:off x="548638" y="6446520"/>
            <a:ext cx="11064245" cy="1"/>
          </a:xfrm>
          <a:prstGeom prst="line">
            <a:avLst/>
          </a:prstGeom>
          <a:ln>
            <a:solidFill>
              <a:srgbClr val="E4DFF0"/>
            </a:solidFill>
          </a:ln>
        </p:spPr>
        <p:txBody>
          <a:bodyPr lIns="45718" tIns="45718" rIns="45718" bIns="45718"/>
          <a:lstStyle/>
          <a:p>
            <a:pPr/>
          </a:p>
        </p:txBody>
      </p:sp>
      <p:sp>
        <p:nvSpPr>
          <p:cNvPr id="53" name="Text 14"/>
          <p:cNvSpPr txBox="1"/>
          <p:nvPr/>
        </p:nvSpPr>
        <p:spPr>
          <a:xfrm>
            <a:off x="548640" y="6560863"/>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1</a:t>
            </a:r>
          </a:p>
        </p:txBody>
      </p:sp>
      <p:sp>
        <p:nvSpPr>
          <p:cNvPr id="54" name="Text 15"/>
          <p:cNvSpPr txBox="1"/>
          <p:nvPr/>
        </p:nvSpPr>
        <p:spPr>
          <a:xfrm>
            <a:off x="10698480" y="6560863"/>
            <a:ext cx="9144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2 / 8</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56" name="Shape 0"/>
          <p:cNvSpPr/>
          <p:nvPr/>
        </p:nvSpPr>
        <p:spPr>
          <a:xfrm>
            <a:off x="548640" y="530351"/>
            <a:ext cx="146308" cy="146308"/>
          </a:xfrm>
          <a:prstGeom prst="rect">
            <a:avLst/>
          </a:prstGeom>
          <a:solidFill>
            <a:srgbClr val="7C6BB5"/>
          </a:solidFill>
          <a:ln w="12700">
            <a:solidFill>
              <a:srgbClr val="7C6BB5"/>
            </a:solidFill>
          </a:ln>
        </p:spPr>
        <p:txBody>
          <a:bodyPr lIns="45718" tIns="45718" rIns="45718" bIns="45718"/>
          <a:lstStyle/>
          <a:p>
            <a:pPr>
              <a:defRPr>
                <a:latin typeface="+mn-lt"/>
                <a:ea typeface="+mn-ea"/>
                <a:cs typeface="+mn-cs"/>
                <a:sym typeface="Calibri"/>
              </a:defRPr>
            </a:pPr>
          </a:p>
        </p:txBody>
      </p:sp>
      <p:sp>
        <p:nvSpPr>
          <p:cNvPr id="57" name="Text 1"/>
          <p:cNvSpPr txBox="1"/>
          <p:nvPr/>
        </p:nvSpPr>
        <p:spPr>
          <a:xfrm>
            <a:off x="777238" y="534965"/>
            <a:ext cx="54864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02  SOLUTION</a:t>
            </a:r>
          </a:p>
        </p:txBody>
      </p:sp>
      <p:sp>
        <p:nvSpPr>
          <p:cNvPr id="58" name="Text 2"/>
          <p:cNvSpPr txBox="1"/>
          <p:nvPr/>
        </p:nvSpPr>
        <p:spPr>
          <a:xfrm>
            <a:off x="548638" y="989327"/>
            <a:ext cx="1106424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A2440"/>
                </a:solidFill>
                <a:latin typeface="Georgia"/>
                <a:ea typeface="Georgia"/>
                <a:cs typeface="Georgia"/>
                <a:sym typeface="Georgia"/>
              </a:defRPr>
            </a:lvl1pPr>
          </a:lstStyle>
          <a:p>
            <a:pPr/>
            <a:r>
              <a:t>Our Solution &amp; Key Features</a:t>
            </a:r>
          </a:p>
        </p:txBody>
      </p:sp>
      <p:sp>
        <p:nvSpPr>
          <p:cNvPr id="59" name="Text 3"/>
          <p:cNvSpPr txBox="1"/>
          <p:nvPr/>
        </p:nvSpPr>
        <p:spPr>
          <a:xfrm>
            <a:off x="548638" y="2011721"/>
            <a:ext cx="45720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IN ONE SENTENCE</a:t>
            </a:r>
          </a:p>
        </p:txBody>
      </p:sp>
      <p:sp>
        <p:nvSpPr>
          <p:cNvPr id="60" name="Text 4"/>
          <p:cNvSpPr txBox="1"/>
          <p:nvPr/>
        </p:nvSpPr>
        <p:spPr>
          <a:xfrm>
            <a:off x="548640" y="2725418"/>
            <a:ext cx="4480560" cy="195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2000">
                <a:solidFill>
                  <a:srgbClr val="2A2440"/>
                </a:solidFill>
                <a:latin typeface="Georgia"/>
                <a:ea typeface="Georgia"/>
                <a:cs typeface="Georgia"/>
                <a:sym typeface="Georgia"/>
              </a:defRPr>
            </a:lvl1pPr>
          </a:lstStyle>
          <a:p>
            <a:pPr/>
            <a:r>
              <a:t>A litter box mounted edge device that uses a PIR sensor and load cell to track each visit's duration and weight, runs anomaly detection against a personalized baseline on the ESP32S3, and syncs logs to a cloud dashboard for long term trend viewing.</a:t>
            </a:r>
          </a:p>
        </p:txBody>
      </p:sp>
      <p:sp>
        <p:nvSpPr>
          <p:cNvPr id="61" name="Shape 5"/>
          <p:cNvSpPr/>
          <p:nvPr/>
        </p:nvSpPr>
        <p:spPr>
          <a:xfrm>
            <a:off x="548640" y="5212079"/>
            <a:ext cx="4480560" cy="1"/>
          </a:xfrm>
          <a:prstGeom prst="line">
            <a:avLst/>
          </a:prstGeom>
          <a:ln>
            <a:solidFill>
              <a:srgbClr val="E4DFF0"/>
            </a:solidFill>
          </a:ln>
        </p:spPr>
        <p:txBody>
          <a:bodyPr lIns="45718" tIns="45718" rIns="45718" bIns="45718"/>
          <a:lstStyle/>
          <a:p>
            <a:pPr/>
          </a:p>
        </p:txBody>
      </p:sp>
      <p:sp>
        <p:nvSpPr>
          <p:cNvPr id="62" name="Text 6"/>
          <p:cNvSpPr txBox="1"/>
          <p:nvPr/>
        </p:nvSpPr>
        <p:spPr>
          <a:xfrm>
            <a:off x="548638" y="5377179"/>
            <a:ext cx="45720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900">
                <a:solidFill>
                  <a:srgbClr val="7A7490"/>
                </a:solidFill>
                <a:latin typeface="+mn-lt"/>
                <a:ea typeface="+mn-ea"/>
                <a:cs typeface="+mn-cs"/>
                <a:sym typeface="Calibri"/>
              </a:defRPr>
            </a:lvl1pPr>
          </a:lstStyle>
          <a:p>
            <a:pPr/>
            <a:r>
              <a:t>HARDWARE STACK</a:t>
            </a:r>
          </a:p>
        </p:txBody>
      </p:sp>
      <p:sp>
        <p:nvSpPr>
          <p:cNvPr id="63" name="Text 7"/>
          <p:cNvSpPr txBox="1"/>
          <p:nvPr/>
        </p:nvSpPr>
        <p:spPr>
          <a:xfrm>
            <a:off x="548638" y="5695624"/>
            <a:ext cx="5029206"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A2440"/>
                </a:solidFill>
                <a:latin typeface="+mn-lt"/>
                <a:ea typeface="+mn-ea"/>
                <a:cs typeface="+mn-cs"/>
                <a:sym typeface="Calibri"/>
              </a:defRPr>
            </a:lvl1pPr>
          </a:lstStyle>
          <a:p>
            <a:pPr/>
            <a:r>
              <a:t>XIAO ESP32S3    |    Load cell + HX711    |    PIR sensor</a:t>
            </a:r>
          </a:p>
        </p:txBody>
      </p:sp>
      <p:sp>
        <p:nvSpPr>
          <p:cNvPr id="64" name="Shape 8"/>
          <p:cNvSpPr/>
          <p:nvPr/>
        </p:nvSpPr>
        <p:spPr>
          <a:xfrm flipH="1">
            <a:off x="5303520" y="1920237"/>
            <a:ext cx="1" cy="4297686"/>
          </a:xfrm>
          <a:prstGeom prst="line">
            <a:avLst/>
          </a:prstGeom>
          <a:ln>
            <a:solidFill>
              <a:srgbClr val="E4DFF0"/>
            </a:solidFill>
          </a:ln>
        </p:spPr>
        <p:txBody>
          <a:bodyPr lIns="45718" tIns="45718" rIns="45718" bIns="45718"/>
          <a:lstStyle/>
          <a:p>
            <a:pPr/>
          </a:p>
        </p:txBody>
      </p:sp>
      <p:sp>
        <p:nvSpPr>
          <p:cNvPr id="65" name="Text 9"/>
          <p:cNvSpPr txBox="1"/>
          <p:nvPr/>
        </p:nvSpPr>
        <p:spPr>
          <a:xfrm>
            <a:off x="5577840" y="2011721"/>
            <a:ext cx="45720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KEY FEATURES</a:t>
            </a:r>
          </a:p>
        </p:txBody>
      </p:sp>
      <p:sp>
        <p:nvSpPr>
          <p:cNvPr id="66" name="Shape 10"/>
          <p:cNvSpPr/>
          <p:nvPr/>
        </p:nvSpPr>
        <p:spPr>
          <a:xfrm>
            <a:off x="5577840" y="2331720"/>
            <a:ext cx="457207" cy="457207"/>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67" name="Text 11"/>
          <p:cNvSpPr txBox="1"/>
          <p:nvPr/>
        </p:nvSpPr>
        <p:spPr>
          <a:xfrm>
            <a:off x="5577840" y="2493186"/>
            <a:ext cx="457204"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01</a:t>
            </a:r>
          </a:p>
        </p:txBody>
      </p:sp>
      <p:sp>
        <p:nvSpPr>
          <p:cNvPr id="68" name="Text 12"/>
          <p:cNvSpPr txBox="1"/>
          <p:nvPr/>
        </p:nvSpPr>
        <p:spPr>
          <a:xfrm>
            <a:off x="6217920" y="2351023"/>
            <a:ext cx="53035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2A2440"/>
                </a:solidFill>
                <a:latin typeface="Georgia"/>
                <a:ea typeface="Georgia"/>
                <a:cs typeface="Georgia"/>
                <a:sym typeface="Georgia"/>
              </a:defRPr>
            </a:lvl1pPr>
          </a:lstStyle>
          <a:p>
            <a:pPr/>
            <a:r>
              <a:t>Visit Detection</a:t>
            </a:r>
          </a:p>
        </p:txBody>
      </p:sp>
      <p:sp>
        <p:nvSpPr>
          <p:cNvPr id="69" name="Text 13"/>
          <p:cNvSpPr txBox="1"/>
          <p:nvPr/>
        </p:nvSpPr>
        <p:spPr>
          <a:xfrm>
            <a:off x="6217920" y="2883846"/>
            <a:ext cx="5394964"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7A7490"/>
                </a:solidFill>
                <a:latin typeface="+mn-lt"/>
                <a:ea typeface="+mn-ea"/>
                <a:cs typeface="+mn-cs"/>
                <a:sym typeface="Calibri"/>
              </a:defRPr>
            </a:lvl1pPr>
          </a:lstStyle>
          <a:p>
            <a:pPr/>
            <a:r>
              <a:t>PIR sensor captures entry and exit automatically for every visit.</a:t>
            </a:r>
          </a:p>
        </p:txBody>
      </p:sp>
      <p:sp>
        <p:nvSpPr>
          <p:cNvPr id="70" name="Shape 14"/>
          <p:cNvSpPr/>
          <p:nvPr/>
        </p:nvSpPr>
        <p:spPr>
          <a:xfrm>
            <a:off x="5577840" y="3337559"/>
            <a:ext cx="457207" cy="457207"/>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71" name="Text 15"/>
          <p:cNvSpPr txBox="1"/>
          <p:nvPr/>
        </p:nvSpPr>
        <p:spPr>
          <a:xfrm>
            <a:off x="5577840" y="3499025"/>
            <a:ext cx="45720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02</a:t>
            </a:r>
          </a:p>
        </p:txBody>
      </p:sp>
      <p:sp>
        <p:nvSpPr>
          <p:cNvPr id="72" name="Text 16"/>
          <p:cNvSpPr txBox="1"/>
          <p:nvPr/>
        </p:nvSpPr>
        <p:spPr>
          <a:xfrm>
            <a:off x="6217920" y="3356862"/>
            <a:ext cx="53035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2A2440"/>
                </a:solidFill>
                <a:latin typeface="Georgia"/>
                <a:ea typeface="Georgia"/>
                <a:cs typeface="Georgia"/>
                <a:sym typeface="Georgia"/>
              </a:defRPr>
            </a:lvl1pPr>
          </a:lstStyle>
          <a:p>
            <a:pPr/>
            <a:r>
              <a:t>Weight Tracking</a:t>
            </a:r>
          </a:p>
        </p:txBody>
      </p:sp>
      <p:sp>
        <p:nvSpPr>
          <p:cNvPr id="73" name="Text 17"/>
          <p:cNvSpPr txBox="1"/>
          <p:nvPr/>
        </p:nvSpPr>
        <p:spPr>
          <a:xfrm>
            <a:off x="6217920" y="3889683"/>
            <a:ext cx="5394964"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7A7490"/>
                </a:solidFill>
                <a:latin typeface="+mn-lt"/>
                <a:ea typeface="+mn-ea"/>
                <a:cs typeface="+mn-cs"/>
                <a:sym typeface="Calibri"/>
              </a:defRPr>
            </a:lvl1pPr>
          </a:lstStyle>
          <a:p>
            <a:pPr/>
            <a:r>
              <a:t>Load cell measures cat weight per visit and tracks long term trends.</a:t>
            </a:r>
          </a:p>
        </p:txBody>
      </p:sp>
      <p:sp>
        <p:nvSpPr>
          <p:cNvPr id="74" name="Shape 18"/>
          <p:cNvSpPr/>
          <p:nvPr/>
        </p:nvSpPr>
        <p:spPr>
          <a:xfrm>
            <a:off x="5577840" y="4343400"/>
            <a:ext cx="457207" cy="457200"/>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75" name="Text 19"/>
          <p:cNvSpPr txBox="1"/>
          <p:nvPr/>
        </p:nvSpPr>
        <p:spPr>
          <a:xfrm>
            <a:off x="5577840" y="4504864"/>
            <a:ext cx="45720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03</a:t>
            </a:r>
          </a:p>
        </p:txBody>
      </p:sp>
      <p:sp>
        <p:nvSpPr>
          <p:cNvPr id="76" name="Text 20"/>
          <p:cNvSpPr txBox="1"/>
          <p:nvPr/>
        </p:nvSpPr>
        <p:spPr>
          <a:xfrm>
            <a:off x="6217920" y="4362701"/>
            <a:ext cx="53035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2A2440"/>
                </a:solidFill>
                <a:latin typeface="Georgia"/>
                <a:ea typeface="Georgia"/>
                <a:cs typeface="Georgia"/>
                <a:sym typeface="Georgia"/>
              </a:defRPr>
            </a:lvl1pPr>
          </a:lstStyle>
          <a:p>
            <a:pPr/>
            <a:r>
              <a:t>On Device Anomaly</a:t>
            </a:r>
          </a:p>
        </p:txBody>
      </p:sp>
      <p:sp>
        <p:nvSpPr>
          <p:cNvPr id="77" name="Text 21"/>
          <p:cNvSpPr txBox="1"/>
          <p:nvPr/>
        </p:nvSpPr>
        <p:spPr>
          <a:xfrm>
            <a:off x="6217920" y="4895524"/>
            <a:ext cx="5394964"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7A7490"/>
                </a:solidFill>
                <a:latin typeface="+mn-lt"/>
                <a:ea typeface="+mn-ea"/>
                <a:cs typeface="+mn-cs"/>
                <a:sym typeface="Calibri"/>
              </a:defRPr>
            </a:lvl1pPr>
          </a:lstStyle>
          <a:p>
            <a:pPr/>
            <a:r>
              <a:t>Rule based detector compares each visit to a personalized 7 day baseline.</a:t>
            </a:r>
          </a:p>
        </p:txBody>
      </p:sp>
      <p:sp>
        <p:nvSpPr>
          <p:cNvPr id="78" name="Shape 22"/>
          <p:cNvSpPr/>
          <p:nvPr/>
        </p:nvSpPr>
        <p:spPr>
          <a:xfrm>
            <a:off x="5577840" y="5349240"/>
            <a:ext cx="457207" cy="457207"/>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79" name="Text 23"/>
          <p:cNvSpPr txBox="1"/>
          <p:nvPr/>
        </p:nvSpPr>
        <p:spPr>
          <a:xfrm>
            <a:off x="5577840" y="5510705"/>
            <a:ext cx="45720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04</a:t>
            </a:r>
          </a:p>
        </p:txBody>
      </p:sp>
      <p:sp>
        <p:nvSpPr>
          <p:cNvPr id="80" name="Text 24"/>
          <p:cNvSpPr txBox="1"/>
          <p:nvPr/>
        </p:nvSpPr>
        <p:spPr>
          <a:xfrm>
            <a:off x="6217920" y="5368541"/>
            <a:ext cx="530352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2A2440"/>
                </a:solidFill>
                <a:latin typeface="Georgia"/>
                <a:ea typeface="Georgia"/>
                <a:cs typeface="Georgia"/>
                <a:sym typeface="Georgia"/>
              </a:defRPr>
            </a:lvl1pPr>
          </a:lstStyle>
          <a:p>
            <a:pPr/>
            <a:r>
              <a:t>Cloud Trends</a:t>
            </a:r>
          </a:p>
        </p:txBody>
      </p:sp>
      <p:sp>
        <p:nvSpPr>
          <p:cNvPr id="81" name="Text 25"/>
          <p:cNvSpPr txBox="1"/>
          <p:nvPr/>
        </p:nvSpPr>
        <p:spPr>
          <a:xfrm>
            <a:off x="6217920" y="5901363"/>
            <a:ext cx="5394964"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7A7490"/>
                </a:solidFill>
                <a:latin typeface="+mn-lt"/>
                <a:ea typeface="+mn-ea"/>
                <a:cs typeface="+mn-cs"/>
                <a:sym typeface="Calibri"/>
              </a:defRPr>
            </a:lvl1pPr>
          </a:lstStyle>
          <a:p>
            <a:pPr/>
            <a:r>
              <a:t>MQTT upload to a dashboard so owners can view history and alerts.</a:t>
            </a:r>
          </a:p>
        </p:txBody>
      </p:sp>
      <p:sp>
        <p:nvSpPr>
          <p:cNvPr id="82" name="Shape 26"/>
          <p:cNvSpPr/>
          <p:nvPr/>
        </p:nvSpPr>
        <p:spPr>
          <a:xfrm>
            <a:off x="548638" y="6446520"/>
            <a:ext cx="11064245" cy="1"/>
          </a:xfrm>
          <a:prstGeom prst="line">
            <a:avLst/>
          </a:prstGeom>
          <a:ln>
            <a:solidFill>
              <a:srgbClr val="E4DFF0"/>
            </a:solidFill>
          </a:ln>
        </p:spPr>
        <p:txBody>
          <a:bodyPr lIns="45718" tIns="45718" rIns="45718" bIns="45718"/>
          <a:lstStyle/>
          <a:p>
            <a:pPr/>
          </a:p>
        </p:txBody>
      </p:sp>
      <p:sp>
        <p:nvSpPr>
          <p:cNvPr id="83" name="Text 27"/>
          <p:cNvSpPr txBox="1"/>
          <p:nvPr/>
        </p:nvSpPr>
        <p:spPr>
          <a:xfrm>
            <a:off x="548640" y="6560863"/>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1</a:t>
            </a:r>
          </a:p>
        </p:txBody>
      </p:sp>
      <p:sp>
        <p:nvSpPr>
          <p:cNvPr id="84" name="Text 28"/>
          <p:cNvSpPr txBox="1"/>
          <p:nvPr/>
        </p:nvSpPr>
        <p:spPr>
          <a:xfrm>
            <a:off x="10698480" y="6560863"/>
            <a:ext cx="9144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3 / 8</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86"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a:pPr>
              <a:defRPr>
                <a:latin typeface="+mn-lt"/>
                <a:ea typeface="+mn-ea"/>
                <a:cs typeface="+mn-cs"/>
                <a:sym typeface="Calibri"/>
              </a:defRPr>
            </a:pPr>
          </a:p>
        </p:txBody>
      </p:sp>
      <p:sp>
        <p:nvSpPr>
          <p:cNvPr id="87" name="Text 1"/>
          <p:cNvSpPr txBox="1"/>
          <p:nvPr/>
        </p:nvSpPr>
        <p:spPr>
          <a:xfrm>
            <a:off x="777239" y="534967"/>
            <a:ext cx="54864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03  ARCHITECTURE</a:t>
            </a:r>
          </a:p>
        </p:txBody>
      </p:sp>
      <p:sp>
        <p:nvSpPr>
          <p:cNvPr id="88" name="Text 2"/>
          <p:cNvSpPr txBox="1"/>
          <p:nvPr/>
        </p:nvSpPr>
        <p:spPr>
          <a:xfrm>
            <a:off x="548638" y="989329"/>
            <a:ext cx="11064244"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A2440"/>
                </a:solidFill>
                <a:latin typeface="Georgia"/>
                <a:ea typeface="Georgia"/>
                <a:cs typeface="Georgia"/>
                <a:sym typeface="Georgia"/>
              </a:defRPr>
            </a:lvl1pPr>
          </a:lstStyle>
          <a:p>
            <a:pPr/>
            <a:r>
              <a:t>Updated System Architecture</a:t>
            </a:r>
          </a:p>
        </p:txBody>
      </p:sp>
      <p:sp>
        <p:nvSpPr>
          <p:cNvPr id="89" name="Shape 3"/>
          <p:cNvSpPr/>
          <p:nvPr/>
        </p:nvSpPr>
        <p:spPr>
          <a:xfrm>
            <a:off x="7772399" y="1170432"/>
            <a:ext cx="182883" cy="182883"/>
          </a:xfrm>
          <a:prstGeom prst="ellipse">
            <a:avLst/>
          </a:prstGeom>
          <a:solidFill>
            <a:srgbClr val="6FB58A"/>
          </a:solidFill>
          <a:ln w="12700">
            <a:solidFill>
              <a:srgbClr val="6FB58A"/>
            </a:solidFill>
          </a:ln>
        </p:spPr>
        <p:txBody>
          <a:bodyPr lIns="45718" tIns="45718" rIns="45718" bIns="45718"/>
          <a:lstStyle/>
          <a:p>
            <a:pPr>
              <a:defRPr>
                <a:latin typeface="+mn-lt"/>
                <a:ea typeface="+mn-ea"/>
                <a:cs typeface="+mn-cs"/>
                <a:sym typeface="Calibri"/>
              </a:defRPr>
            </a:pPr>
          </a:p>
        </p:txBody>
      </p:sp>
      <p:sp>
        <p:nvSpPr>
          <p:cNvPr id="90" name="Text 4"/>
          <p:cNvSpPr txBox="1"/>
          <p:nvPr/>
        </p:nvSpPr>
        <p:spPr>
          <a:xfrm>
            <a:off x="8028430" y="1183439"/>
            <a:ext cx="137160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7A7490"/>
                </a:solidFill>
                <a:latin typeface="+mn-lt"/>
                <a:ea typeface="+mn-ea"/>
                <a:cs typeface="+mn-cs"/>
                <a:sym typeface="Calibri"/>
              </a:defRPr>
            </a:lvl1pPr>
          </a:lstStyle>
          <a:p>
            <a:pPr/>
            <a:r>
              <a:t>Proven</a:t>
            </a:r>
          </a:p>
        </p:txBody>
      </p:sp>
      <p:sp>
        <p:nvSpPr>
          <p:cNvPr id="91" name="Shape 5"/>
          <p:cNvSpPr/>
          <p:nvPr/>
        </p:nvSpPr>
        <p:spPr>
          <a:xfrm>
            <a:off x="9235440" y="1170432"/>
            <a:ext cx="182883" cy="182883"/>
          </a:xfrm>
          <a:prstGeom prst="ellipse">
            <a:avLst/>
          </a:prstGeom>
          <a:solidFill>
            <a:srgbClr val="D9B65A"/>
          </a:solidFill>
          <a:ln w="12700">
            <a:solidFill>
              <a:srgbClr val="D9B65A"/>
            </a:solidFill>
          </a:ln>
        </p:spPr>
        <p:txBody>
          <a:bodyPr lIns="45718" tIns="45718" rIns="45718" bIns="45718"/>
          <a:lstStyle/>
          <a:p>
            <a:pPr>
              <a:defRPr>
                <a:latin typeface="+mn-lt"/>
                <a:ea typeface="+mn-ea"/>
                <a:cs typeface="+mn-cs"/>
                <a:sym typeface="Calibri"/>
              </a:defRPr>
            </a:pPr>
          </a:p>
        </p:txBody>
      </p:sp>
      <p:sp>
        <p:nvSpPr>
          <p:cNvPr id="92" name="Text 6"/>
          <p:cNvSpPr txBox="1"/>
          <p:nvPr/>
        </p:nvSpPr>
        <p:spPr>
          <a:xfrm>
            <a:off x="9491471" y="1183439"/>
            <a:ext cx="137160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7A7490"/>
                </a:solidFill>
                <a:latin typeface="+mn-lt"/>
                <a:ea typeface="+mn-ea"/>
                <a:cs typeface="+mn-cs"/>
                <a:sym typeface="Calibri"/>
              </a:defRPr>
            </a:lvl1pPr>
          </a:lstStyle>
          <a:p>
            <a:pPr/>
            <a:r>
              <a:t>In progress</a:t>
            </a:r>
          </a:p>
        </p:txBody>
      </p:sp>
      <p:sp>
        <p:nvSpPr>
          <p:cNvPr id="93" name="Shape 7"/>
          <p:cNvSpPr/>
          <p:nvPr/>
        </p:nvSpPr>
        <p:spPr>
          <a:xfrm>
            <a:off x="10698480" y="1170432"/>
            <a:ext cx="182883" cy="182883"/>
          </a:xfrm>
          <a:prstGeom prst="ellipse">
            <a:avLst/>
          </a:prstGeom>
          <a:solidFill>
            <a:srgbClr val="C47A7A"/>
          </a:solidFill>
          <a:ln w="12700">
            <a:solidFill>
              <a:srgbClr val="C47A7A"/>
            </a:solidFill>
          </a:ln>
        </p:spPr>
        <p:txBody>
          <a:bodyPr lIns="45718" tIns="45718" rIns="45718" bIns="45718"/>
          <a:lstStyle/>
          <a:p>
            <a:pPr>
              <a:defRPr>
                <a:latin typeface="+mn-lt"/>
                <a:ea typeface="+mn-ea"/>
                <a:cs typeface="+mn-cs"/>
                <a:sym typeface="Calibri"/>
              </a:defRPr>
            </a:pPr>
          </a:p>
        </p:txBody>
      </p:sp>
      <p:sp>
        <p:nvSpPr>
          <p:cNvPr id="94" name="Text 8"/>
          <p:cNvSpPr txBox="1"/>
          <p:nvPr/>
        </p:nvSpPr>
        <p:spPr>
          <a:xfrm>
            <a:off x="10954511" y="1183439"/>
            <a:ext cx="137160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7A7490"/>
                </a:solidFill>
                <a:latin typeface="+mn-lt"/>
                <a:ea typeface="+mn-ea"/>
                <a:cs typeface="+mn-cs"/>
                <a:sym typeface="Calibri"/>
              </a:defRPr>
            </a:lvl1pPr>
          </a:lstStyle>
          <a:p>
            <a:pPr/>
            <a:r>
              <a:t>Blocked</a:t>
            </a:r>
          </a:p>
        </p:txBody>
      </p:sp>
      <p:sp>
        <p:nvSpPr>
          <p:cNvPr id="95" name="Shape 9"/>
          <p:cNvSpPr/>
          <p:nvPr/>
        </p:nvSpPr>
        <p:spPr>
          <a:xfrm>
            <a:off x="457200" y="1965960"/>
            <a:ext cx="3840480" cy="3200402"/>
          </a:xfrm>
          <a:prstGeom prst="rect">
            <a:avLst/>
          </a:prstGeom>
          <a:solidFill>
            <a:srgbClr val="FBFAF6"/>
          </a:solidFill>
          <a:ln w="12700">
            <a:solidFill>
              <a:srgbClr val="B5ADCF"/>
            </a:solidFill>
            <a:prstDash val="dash"/>
          </a:ln>
        </p:spPr>
        <p:txBody>
          <a:bodyPr lIns="45718" tIns="45718" rIns="45718" bIns="45718"/>
          <a:lstStyle/>
          <a:p>
            <a:pPr>
              <a:defRPr>
                <a:latin typeface="+mn-lt"/>
                <a:ea typeface="+mn-ea"/>
                <a:cs typeface="+mn-cs"/>
                <a:sym typeface="Calibri"/>
              </a:defRPr>
            </a:pPr>
          </a:p>
        </p:txBody>
      </p:sp>
      <p:sp>
        <p:nvSpPr>
          <p:cNvPr id="96" name="Text 10"/>
          <p:cNvSpPr txBox="1"/>
          <p:nvPr/>
        </p:nvSpPr>
        <p:spPr>
          <a:xfrm>
            <a:off x="548639" y="2103164"/>
            <a:ext cx="365760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7C6BB5"/>
                </a:solidFill>
                <a:latin typeface="+mn-lt"/>
                <a:ea typeface="+mn-ea"/>
                <a:cs typeface="+mn-cs"/>
                <a:sym typeface="Calibri"/>
              </a:defRPr>
            </a:lvl1pPr>
          </a:lstStyle>
          <a:p>
            <a:pPr/>
            <a:r>
              <a:t>NODE A: Sensor Unit</a:t>
            </a:r>
          </a:p>
        </p:txBody>
      </p:sp>
      <p:sp>
        <p:nvSpPr>
          <p:cNvPr id="97" name="Shape 11"/>
          <p:cNvSpPr/>
          <p:nvPr/>
        </p:nvSpPr>
        <p:spPr>
          <a:xfrm>
            <a:off x="457200" y="5257798"/>
            <a:ext cx="3840480" cy="1097283"/>
          </a:xfrm>
          <a:prstGeom prst="rect">
            <a:avLst/>
          </a:prstGeom>
          <a:solidFill>
            <a:srgbClr val="FBFAF6"/>
          </a:solidFill>
          <a:ln w="12700">
            <a:solidFill>
              <a:srgbClr val="B5ADCF"/>
            </a:solidFill>
            <a:prstDash val="dash"/>
          </a:ln>
        </p:spPr>
        <p:txBody>
          <a:bodyPr lIns="45718" tIns="45718" rIns="45718" bIns="45718"/>
          <a:lstStyle/>
          <a:p>
            <a:pPr>
              <a:defRPr>
                <a:latin typeface="+mn-lt"/>
                <a:ea typeface="+mn-ea"/>
                <a:cs typeface="+mn-cs"/>
                <a:sym typeface="Calibri"/>
              </a:defRPr>
            </a:pPr>
          </a:p>
        </p:txBody>
      </p:sp>
      <p:sp>
        <p:nvSpPr>
          <p:cNvPr id="98" name="Text 12"/>
          <p:cNvSpPr txBox="1"/>
          <p:nvPr/>
        </p:nvSpPr>
        <p:spPr>
          <a:xfrm>
            <a:off x="548639" y="5312708"/>
            <a:ext cx="365760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7C6BB5"/>
                </a:solidFill>
                <a:latin typeface="+mn-lt"/>
                <a:ea typeface="+mn-ea"/>
                <a:cs typeface="+mn-cs"/>
                <a:sym typeface="Calibri"/>
              </a:defRPr>
            </a:lvl1pPr>
          </a:lstStyle>
          <a:p>
            <a:pPr/>
            <a:r>
              <a:t>NODE B: Weight Unit</a:t>
            </a:r>
          </a:p>
        </p:txBody>
      </p:sp>
      <p:sp>
        <p:nvSpPr>
          <p:cNvPr id="99" name="Shape 13"/>
          <p:cNvSpPr/>
          <p:nvPr/>
        </p:nvSpPr>
        <p:spPr>
          <a:xfrm>
            <a:off x="731519" y="2423160"/>
            <a:ext cx="1554481" cy="7315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00" name="Shape 14"/>
          <p:cNvSpPr/>
          <p:nvPr/>
        </p:nvSpPr>
        <p:spPr>
          <a:xfrm>
            <a:off x="841247" y="2532888"/>
            <a:ext cx="164595" cy="164595"/>
          </a:xfrm>
          <a:prstGeom prst="ellipse">
            <a:avLst/>
          </a:prstGeom>
          <a:solidFill>
            <a:srgbClr val="6FB58A"/>
          </a:solidFill>
          <a:ln w="12700">
            <a:solidFill>
              <a:srgbClr val="6FB58A"/>
            </a:solidFill>
          </a:ln>
        </p:spPr>
        <p:txBody>
          <a:bodyPr lIns="45718" tIns="45718" rIns="45718" bIns="45718"/>
          <a:lstStyle/>
          <a:p>
            <a:pPr>
              <a:defRPr>
                <a:latin typeface="+mn-lt"/>
                <a:ea typeface="+mn-ea"/>
                <a:cs typeface="+mn-cs"/>
                <a:sym typeface="Calibri"/>
              </a:defRPr>
            </a:pPr>
          </a:p>
        </p:txBody>
      </p:sp>
      <p:sp>
        <p:nvSpPr>
          <p:cNvPr id="101" name="Text 15"/>
          <p:cNvSpPr txBox="1"/>
          <p:nvPr/>
        </p:nvSpPr>
        <p:spPr>
          <a:xfrm>
            <a:off x="822960" y="2615237"/>
            <a:ext cx="1371602"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PIR Motion</a:t>
            </a:r>
          </a:p>
          <a:p>
            <a:pPr algn="ctr">
              <a:defRPr b="1" sz="1200">
                <a:solidFill>
                  <a:srgbClr val="2A2440"/>
                </a:solidFill>
                <a:latin typeface="+mn-lt"/>
                <a:ea typeface="+mn-ea"/>
                <a:cs typeface="+mn-cs"/>
                <a:sym typeface="Calibri"/>
              </a:defRPr>
            </a:pPr>
            <a:r>
              <a:t>Sensor</a:t>
            </a:r>
          </a:p>
        </p:txBody>
      </p:sp>
      <p:sp>
        <p:nvSpPr>
          <p:cNvPr id="102" name="Shape 16"/>
          <p:cNvSpPr/>
          <p:nvPr/>
        </p:nvSpPr>
        <p:spPr>
          <a:xfrm>
            <a:off x="731519" y="3428998"/>
            <a:ext cx="1554481" cy="731523"/>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03" name="Shape 17"/>
          <p:cNvSpPr/>
          <p:nvPr/>
        </p:nvSpPr>
        <p:spPr>
          <a:xfrm>
            <a:off x="841247" y="3538728"/>
            <a:ext cx="164595" cy="164595"/>
          </a:xfrm>
          <a:prstGeom prst="ellipse">
            <a:avLst/>
          </a:prstGeom>
          <a:solidFill>
            <a:srgbClr val="6FB58A"/>
          </a:solidFill>
          <a:ln w="12700">
            <a:solidFill>
              <a:srgbClr val="6FB58A"/>
            </a:solidFill>
          </a:ln>
        </p:spPr>
        <p:txBody>
          <a:bodyPr lIns="45718" tIns="45718" rIns="45718" bIns="45718"/>
          <a:lstStyle/>
          <a:p>
            <a:pPr>
              <a:defRPr>
                <a:latin typeface="+mn-lt"/>
                <a:ea typeface="+mn-ea"/>
                <a:cs typeface="+mn-cs"/>
                <a:sym typeface="Calibri"/>
              </a:defRPr>
            </a:pPr>
          </a:p>
        </p:txBody>
      </p:sp>
      <p:sp>
        <p:nvSpPr>
          <p:cNvPr id="104" name="Text 18"/>
          <p:cNvSpPr txBox="1"/>
          <p:nvPr/>
        </p:nvSpPr>
        <p:spPr>
          <a:xfrm>
            <a:off x="822960" y="3621076"/>
            <a:ext cx="137160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ESP32S3</a:t>
            </a:r>
          </a:p>
          <a:p>
            <a:pPr algn="ctr">
              <a:defRPr b="1" sz="1200">
                <a:solidFill>
                  <a:srgbClr val="2A2440"/>
                </a:solidFill>
                <a:latin typeface="+mn-lt"/>
                <a:ea typeface="+mn-ea"/>
                <a:cs typeface="+mn-cs"/>
                <a:sym typeface="Calibri"/>
              </a:defRPr>
            </a:pPr>
            <a:r>
              <a:t>Node A</a:t>
            </a:r>
          </a:p>
        </p:txBody>
      </p:sp>
      <p:sp>
        <p:nvSpPr>
          <p:cNvPr id="105" name="Shape 19"/>
          <p:cNvSpPr/>
          <p:nvPr/>
        </p:nvSpPr>
        <p:spPr>
          <a:xfrm>
            <a:off x="731519" y="5486400"/>
            <a:ext cx="1554481" cy="685800"/>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06" name="Shape 20"/>
          <p:cNvSpPr/>
          <p:nvPr/>
        </p:nvSpPr>
        <p:spPr>
          <a:xfrm>
            <a:off x="841247" y="5596128"/>
            <a:ext cx="164595" cy="164595"/>
          </a:xfrm>
          <a:prstGeom prst="ellipse">
            <a:avLst/>
          </a:prstGeom>
          <a:solidFill>
            <a:srgbClr val="6FB58A"/>
          </a:solidFill>
          <a:ln w="12700">
            <a:solidFill>
              <a:srgbClr val="6FB58A"/>
            </a:solidFill>
          </a:ln>
        </p:spPr>
        <p:txBody>
          <a:bodyPr lIns="45718" tIns="45718" rIns="45718" bIns="45718"/>
          <a:lstStyle/>
          <a:p>
            <a:pPr>
              <a:defRPr>
                <a:latin typeface="+mn-lt"/>
                <a:ea typeface="+mn-ea"/>
                <a:cs typeface="+mn-cs"/>
                <a:sym typeface="Calibri"/>
              </a:defRPr>
            </a:pPr>
          </a:p>
        </p:txBody>
      </p:sp>
      <p:sp>
        <p:nvSpPr>
          <p:cNvPr id="107" name="Text 21"/>
          <p:cNvSpPr txBox="1"/>
          <p:nvPr/>
        </p:nvSpPr>
        <p:spPr>
          <a:xfrm>
            <a:off x="822960" y="5655616"/>
            <a:ext cx="137160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Load Cell</a:t>
            </a:r>
          </a:p>
          <a:p>
            <a:pPr algn="ctr">
              <a:defRPr b="1" sz="1200">
                <a:solidFill>
                  <a:srgbClr val="2A2440"/>
                </a:solidFill>
                <a:latin typeface="+mn-lt"/>
                <a:ea typeface="+mn-ea"/>
                <a:cs typeface="+mn-cs"/>
                <a:sym typeface="Calibri"/>
              </a:defRPr>
            </a:pPr>
            <a:r>
              <a:t>+ HX711</a:t>
            </a:r>
          </a:p>
        </p:txBody>
      </p:sp>
      <p:sp>
        <p:nvSpPr>
          <p:cNvPr id="108" name="Shape 22"/>
          <p:cNvSpPr/>
          <p:nvPr/>
        </p:nvSpPr>
        <p:spPr>
          <a:xfrm>
            <a:off x="2560320" y="5486400"/>
            <a:ext cx="1554482" cy="685800"/>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09" name="Shape 23"/>
          <p:cNvSpPr/>
          <p:nvPr/>
        </p:nvSpPr>
        <p:spPr>
          <a:xfrm>
            <a:off x="2670048" y="5596128"/>
            <a:ext cx="164595" cy="164595"/>
          </a:xfrm>
          <a:prstGeom prst="ellipse">
            <a:avLst/>
          </a:prstGeom>
          <a:solidFill>
            <a:srgbClr val="6FB58A"/>
          </a:solidFill>
          <a:ln w="12700">
            <a:solidFill>
              <a:srgbClr val="6FB58A"/>
            </a:solidFill>
          </a:ln>
        </p:spPr>
        <p:txBody>
          <a:bodyPr lIns="45718" tIns="45718" rIns="45718" bIns="45718"/>
          <a:lstStyle/>
          <a:p>
            <a:pPr>
              <a:defRPr>
                <a:latin typeface="+mn-lt"/>
                <a:ea typeface="+mn-ea"/>
                <a:cs typeface="+mn-cs"/>
                <a:sym typeface="Calibri"/>
              </a:defRPr>
            </a:pPr>
          </a:p>
        </p:txBody>
      </p:sp>
      <p:sp>
        <p:nvSpPr>
          <p:cNvPr id="110" name="Text 24"/>
          <p:cNvSpPr txBox="1"/>
          <p:nvPr/>
        </p:nvSpPr>
        <p:spPr>
          <a:xfrm>
            <a:off x="2651760" y="5655616"/>
            <a:ext cx="137160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ESP32S3</a:t>
            </a:r>
          </a:p>
          <a:p>
            <a:pPr algn="ctr">
              <a:defRPr b="1" sz="1200">
                <a:solidFill>
                  <a:srgbClr val="2A2440"/>
                </a:solidFill>
                <a:latin typeface="+mn-lt"/>
                <a:ea typeface="+mn-ea"/>
                <a:cs typeface="+mn-cs"/>
                <a:sym typeface="Calibri"/>
              </a:defRPr>
            </a:pPr>
            <a:r>
              <a:t>Node B</a:t>
            </a:r>
          </a:p>
        </p:txBody>
      </p:sp>
      <p:sp>
        <p:nvSpPr>
          <p:cNvPr id="111" name="Shape 25"/>
          <p:cNvSpPr/>
          <p:nvPr/>
        </p:nvSpPr>
        <p:spPr>
          <a:xfrm>
            <a:off x="4754879" y="2788920"/>
            <a:ext cx="2194562" cy="7315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12" name="Shape 26"/>
          <p:cNvSpPr/>
          <p:nvPr/>
        </p:nvSpPr>
        <p:spPr>
          <a:xfrm>
            <a:off x="4864608" y="2898648"/>
            <a:ext cx="164595" cy="164595"/>
          </a:xfrm>
          <a:prstGeom prst="ellipse">
            <a:avLst/>
          </a:prstGeom>
          <a:solidFill>
            <a:srgbClr val="D9B65A"/>
          </a:solidFill>
          <a:ln w="12700">
            <a:solidFill>
              <a:srgbClr val="D9B65A"/>
            </a:solidFill>
          </a:ln>
        </p:spPr>
        <p:txBody>
          <a:bodyPr lIns="45718" tIns="45718" rIns="45718" bIns="45718"/>
          <a:lstStyle/>
          <a:p>
            <a:pPr>
              <a:defRPr>
                <a:latin typeface="+mn-lt"/>
                <a:ea typeface="+mn-ea"/>
                <a:cs typeface="+mn-cs"/>
                <a:sym typeface="Calibri"/>
              </a:defRPr>
            </a:pPr>
          </a:p>
        </p:txBody>
      </p:sp>
      <p:sp>
        <p:nvSpPr>
          <p:cNvPr id="113" name="Text 27"/>
          <p:cNvSpPr txBox="1"/>
          <p:nvPr/>
        </p:nvSpPr>
        <p:spPr>
          <a:xfrm>
            <a:off x="4846320" y="2980996"/>
            <a:ext cx="201168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Signal</a:t>
            </a:r>
          </a:p>
          <a:p>
            <a:pPr algn="ctr">
              <a:defRPr b="1" sz="1200">
                <a:solidFill>
                  <a:srgbClr val="2A2440"/>
                </a:solidFill>
                <a:latin typeface="+mn-lt"/>
                <a:ea typeface="+mn-ea"/>
                <a:cs typeface="+mn-cs"/>
                <a:sym typeface="Calibri"/>
              </a:defRPr>
            </a:pPr>
            <a:r>
              <a:t>Processing</a:t>
            </a:r>
          </a:p>
        </p:txBody>
      </p:sp>
      <p:sp>
        <p:nvSpPr>
          <p:cNvPr id="114" name="Shape 28"/>
          <p:cNvSpPr/>
          <p:nvPr/>
        </p:nvSpPr>
        <p:spPr>
          <a:xfrm>
            <a:off x="4754879" y="3977640"/>
            <a:ext cx="2194562" cy="7315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15" name="Shape 29"/>
          <p:cNvSpPr/>
          <p:nvPr/>
        </p:nvSpPr>
        <p:spPr>
          <a:xfrm>
            <a:off x="4864608" y="4087367"/>
            <a:ext cx="164595" cy="164595"/>
          </a:xfrm>
          <a:prstGeom prst="ellipse">
            <a:avLst/>
          </a:prstGeom>
          <a:solidFill>
            <a:srgbClr val="D9B65A"/>
          </a:solidFill>
          <a:ln w="12700">
            <a:solidFill>
              <a:srgbClr val="D9B65A"/>
            </a:solidFill>
          </a:ln>
        </p:spPr>
        <p:txBody>
          <a:bodyPr lIns="45718" tIns="45718" rIns="45718" bIns="45718"/>
          <a:lstStyle/>
          <a:p>
            <a:pPr>
              <a:defRPr>
                <a:latin typeface="+mn-lt"/>
                <a:ea typeface="+mn-ea"/>
                <a:cs typeface="+mn-cs"/>
                <a:sym typeface="Calibri"/>
              </a:defRPr>
            </a:pPr>
          </a:p>
        </p:txBody>
      </p:sp>
      <p:sp>
        <p:nvSpPr>
          <p:cNvPr id="116" name="Text 30"/>
          <p:cNvSpPr txBox="1"/>
          <p:nvPr/>
        </p:nvSpPr>
        <p:spPr>
          <a:xfrm>
            <a:off x="4846320" y="4169716"/>
            <a:ext cx="201168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Anomaly</a:t>
            </a:r>
          </a:p>
          <a:p>
            <a:pPr algn="ctr">
              <a:defRPr b="1" sz="1200">
                <a:solidFill>
                  <a:srgbClr val="2A2440"/>
                </a:solidFill>
                <a:latin typeface="+mn-lt"/>
                <a:ea typeface="+mn-ea"/>
                <a:cs typeface="+mn-cs"/>
                <a:sym typeface="Calibri"/>
              </a:defRPr>
            </a:pPr>
            <a:r>
              <a:t>Detection</a:t>
            </a:r>
          </a:p>
        </p:txBody>
      </p:sp>
      <p:sp>
        <p:nvSpPr>
          <p:cNvPr id="117" name="Shape 31"/>
          <p:cNvSpPr/>
          <p:nvPr/>
        </p:nvSpPr>
        <p:spPr>
          <a:xfrm>
            <a:off x="7589518" y="2788920"/>
            <a:ext cx="2194562" cy="7315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18" name="Shape 32"/>
          <p:cNvSpPr/>
          <p:nvPr/>
        </p:nvSpPr>
        <p:spPr>
          <a:xfrm>
            <a:off x="7699247" y="2898648"/>
            <a:ext cx="164595" cy="164595"/>
          </a:xfrm>
          <a:prstGeom prst="ellipse">
            <a:avLst/>
          </a:prstGeom>
          <a:solidFill>
            <a:srgbClr val="C47A7A"/>
          </a:solidFill>
          <a:ln w="12700">
            <a:solidFill>
              <a:srgbClr val="C47A7A"/>
            </a:solidFill>
          </a:ln>
        </p:spPr>
        <p:txBody>
          <a:bodyPr lIns="45718" tIns="45718" rIns="45718" bIns="45718"/>
          <a:lstStyle/>
          <a:p>
            <a:pPr>
              <a:defRPr>
                <a:latin typeface="+mn-lt"/>
                <a:ea typeface="+mn-ea"/>
                <a:cs typeface="+mn-cs"/>
                <a:sym typeface="Calibri"/>
              </a:defRPr>
            </a:pPr>
          </a:p>
        </p:txBody>
      </p:sp>
      <p:sp>
        <p:nvSpPr>
          <p:cNvPr id="119" name="Text 33"/>
          <p:cNvSpPr txBox="1"/>
          <p:nvPr/>
        </p:nvSpPr>
        <p:spPr>
          <a:xfrm>
            <a:off x="7680959" y="2980996"/>
            <a:ext cx="201168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Cloud Upload</a:t>
            </a:r>
          </a:p>
          <a:p>
            <a:pPr algn="ctr">
              <a:defRPr b="1" sz="1200">
                <a:solidFill>
                  <a:srgbClr val="2A2440"/>
                </a:solidFill>
                <a:latin typeface="+mn-lt"/>
                <a:ea typeface="+mn-ea"/>
                <a:cs typeface="+mn-cs"/>
                <a:sym typeface="Calibri"/>
              </a:defRPr>
            </a:pPr>
            <a:r>
              <a:t>(MQTT)</a:t>
            </a:r>
          </a:p>
        </p:txBody>
      </p:sp>
      <p:sp>
        <p:nvSpPr>
          <p:cNvPr id="120" name="Shape 34"/>
          <p:cNvSpPr/>
          <p:nvPr/>
        </p:nvSpPr>
        <p:spPr>
          <a:xfrm>
            <a:off x="7589518" y="3977640"/>
            <a:ext cx="2194562" cy="7315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21" name="Shape 35"/>
          <p:cNvSpPr/>
          <p:nvPr/>
        </p:nvSpPr>
        <p:spPr>
          <a:xfrm>
            <a:off x="7699247" y="4087367"/>
            <a:ext cx="164595" cy="164595"/>
          </a:xfrm>
          <a:prstGeom prst="ellipse">
            <a:avLst/>
          </a:prstGeom>
          <a:solidFill>
            <a:srgbClr val="C47A7A"/>
          </a:solidFill>
          <a:ln w="12700">
            <a:solidFill>
              <a:srgbClr val="C47A7A"/>
            </a:solidFill>
          </a:ln>
        </p:spPr>
        <p:txBody>
          <a:bodyPr lIns="45718" tIns="45718" rIns="45718" bIns="45718"/>
          <a:lstStyle/>
          <a:p>
            <a:pPr>
              <a:defRPr>
                <a:latin typeface="+mn-lt"/>
                <a:ea typeface="+mn-ea"/>
                <a:cs typeface="+mn-cs"/>
                <a:sym typeface="Calibri"/>
              </a:defRPr>
            </a:pPr>
          </a:p>
        </p:txBody>
      </p:sp>
      <p:sp>
        <p:nvSpPr>
          <p:cNvPr id="122" name="Text 36"/>
          <p:cNvSpPr txBox="1"/>
          <p:nvPr/>
        </p:nvSpPr>
        <p:spPr>
          <a:xfrm>
            <a:off x="7680959" y="4169716"/>
            <a:ext cx="201168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Cloud</a:t>
            </a:r>
          </a:p>
          <a:p>
            <a:pPr algn="ctr">
              <a:defRPr b="1" sz="1200">
                <a:solidFill>
                  <a:srgbClr val="2A2440"/>
                </a:solidFill>
                <a:latin typeface="+mn-lt"/>
                <a:ea typeface="+mn-ea"/>
                <a:cs typeface="+mn-cs"/>
                <a:sym typeface="Calibri"/>
              </a:defRPr>
            </a:pPr>
            <a:r>
              <a:t>Dashboard</a:t>
            </a:r>
          </a:p>
        </p:txBody>
      </p:sp>
      <p:sp>
        <p:nvSpPr>
          <p:cNvPr id="123" name="Shape 37"/>
          <p:cNvSpPr/>
          <p:nvPr/>
        </p:nvSpPr>
        <p:spPr>
          <a:xfrm>
            <a:off x="10149840" y="3291840"/>
            <a:ext cx="1463042" cy="82296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24" name="Shape 38"/>
          <p:cNvSpPr/>
          <p:nvPr/>
        </p:nvSpPr>
        <p:spPr>
          <a:xfrm>
            <a:off x="10259568" y="3401567"/>
            <a:ext cx="164595" cy="164595"/>
          </a:xfrm>
          <a:prstGeom prst="ellipse">
            <a:avLst/>
          </a:prstGeom>
          <a:solidFill>
            <a:srgbClr val="D9B65A"/>
          </a:solidFill>
          <a:ln w="12700">
            <a:solidFill>
              <a:srgbClr val="D9B65A"/>
            </a:solidFill>
          </a:ln>
        </p:spPr>
        <p:txBody>
          <a:bodyPr lIns="45718" tIns="45718" rIns="45718" bIns="45718"/>
          <a:lstStyle/>
          <a:p>
            <a:pPr>
              <a:defRPr>
                <a:latin typeface="+mn-lt"/>
                <a:ea typeface="+mn-ea"/>
                <a:cs typeface="+mn-cs"/>
                <a:sym typeface="Calibri"/>
              </a:defRPr>
            </a:pPr>
          </a:p>
        </p:txBody>
      </p:sp>
      <p:sp>
        <p:nvSpPr>
          <p:cNvPr id="125" name="Text 39"/>
          <p:cNvSpPr txBox="1"/>
          <p:nvPr/>
        </p:nvSpPr>
        <p:spPr>
          <a:xfrm>
            <a:off x="10241280" y="3529636"/>
            <a:ext cx="128016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200">
                <a:solidFill>
                  <a:srgbClr val="2A2440"/>
                </a:solidFill>
                <a:latin typeface="+mn-lt"/>
                <a:ea typeface="+mn-ea"/>
                <a:cs typeface="+mn-cs"/>
                <a:sym typeface="Calibri"/>
              </a:defRPr>
            </a:pPr>
            <a:r>
              <a:t>Frontend</a:t>
            </a:r>
          </a:p>
          <a:p>
            <a:pPr algn="ctr">
              <a:defRPr b="1" sz="1200">
                <a:solidFill>
                  <a:srgbClr val="2A2440"/>
                </a:solidFill>
                <a:latin typeface="+mn-lt"/>
                <a:ea typeface="+mn-ea"/>
                <a:cs typeface="+mn-cs"/>
                <a:sym typeface="Calibri"/>
              </a:defRPr>
            </a:pPr>
            <a:r>
              <a:t>UI</a:t>
            </a:r>
          </a:p>
        </p:txBody>
      </p:sp>
      <p:sp>
        <p:nvSpPr>
          <p:cNvPr id="126" name="Shape 40"/>
          <p:cNvSpPr/>
          <p:nvPr/>
        </p:nvSpPr>
        <p:spPr>
          <a:xfrm>
            <a:off x="1508759" y="3154678"/>
            <a:ext cx="3" cy="274322"/>
          </a:xfrm>
          <a:prstGeom prst="line">
            <a:avLst/>
          </a:prstGeom>
          <a:ln w="15875">
            <a:solidFill>
              <a:srgbClr val="7A7490"/>
            </a:solidFill>
          </a:ln>
        </p:spPr>
        <p:txBody>
          <a:bodyPr lIns="45718" tIns="45718" rIns="45718" bIns="45718"/>
          <a:lstStyle/>
          <a:p>
            <a:pPr/>
          </a:p>
        </p:txBody>
      </p:sp>
      <p:sp>
        <p:nvSpPr>
          <p:cNvPr id="127" name="Shape 41"/>
          <p:cNvSpPr/>
          <p:nvPr/>
        </p:nvSpPr>
        <p:spPr>
          <a:xfrm>
            <a:off x="2286000" y="3794758"/>
            <a:ext cx="457202" cy="2"/>
          </a:xfrm>
          <a:prstGeom prst="line">
            <a:avLst/>
          </a:prstGeom>
          <a:ln w="15875">
            <a:solidFill>
              <a:srgbClr val="7A7490"/>
            </a:solidFill>
          </a:ln>
        </p:spPr>
        <p:txBody>
          <a:bodyPr lIns="45718" tIns="45718" rIns="45718" bIns="45718"/>
          <a:lstStyle/>
          <a:p>
            <a:pPr/>
          </a:p>
        </p:txBody>
      </p:sp>
      <p:sp>
        <p:nvSpPr>
          <p:cNvPr id="128" name="Shape 42"/>
          <p:cNvSpPr/>
          <p:nvPr/>
        </p:nvSpPr>
        <p:spPr>
          <a:xfrm>
            <a:off x="2743199" y="3154678"/>
            <a:ext cx="1" cy="640082"/>
          </a:xfrm>
          <a:prstGeom prst="line">
            <a:avLst/>
          </a:prstGeom>
          <a:ln w="15875">
            <a:solidFill>
              <a:srgbClr val="7A7490"/>
            </a:solidFill>
          </a:ln>
        </p:spPr>
        <p:txBody>
          <a:bodyPr lIns="45718" tIns="45718" rIns="45718" bIns="45718"/>
          <a:lstStyle/>
          <a:p>
            <a:pPr/>
          </a:p>
        </p:txBody>
      </p:sp>
      <p:sp>
        <p:nvSpPr>
          <p:cNvPr id="129" name="Shape 43"/>
          <p:cNvSpPr/>
          <p:nvPr/>
        </p:nvSpPr>
        <p:spPr>
          <a:xfrm>
            <a:off x="2743200" y="3154678"/>
            <a:ext cx="2011679" cy="3"/>
          </a:xfrm>
          <a:prstGeom prst="line">
            <a:avLst/>
          </a:prstGeom>
          <a:ln w="15875">
            <a:solidFill>
              <a:srgbClr val="7A7490"/>
            </a:solidFill>
          </a:ln>
        </p:spPr>
        <p:txBody>
          <a:bodyPr lIns="45718" tIns="45718" rIns="45718" bIns="45718"/>
          <a:lstStyle/>
          <a:p>
            <a:pPr/>
          </a:p>
        </p:txBody>
      </p:sp>
      <p:sp>
        <p:nvSpPr>
          <p:cNvPr id="130" name="Shape 44"/>
          <p:cNvSpPr/>
          <p:nvPr/>
        </p:nvSpPr>
        <p:spPr>
          <a:xfrm>
            <a:off x="2285999" y="5833870"/>
            <a:ext cx="274322" cy="2"/>
          </a:xfrm>
          <a:prstGeom prst="line">
            <a:avLst/>
          </a:prstGeom>
          <a:ln w="15875">
            <a:solidFill>
              <a:srgbClr val="7A7490"/>
            </a:solidFill>
          </a:ln>
        </p:spPr>
        <p:txBody>
          <a:bodyPr lIns="45718" tIns="45718" rIns="45718" bIns="45718"/>
          <a:lstStyle/>
          <a:p>
            <a:pPr/>
          </a:p>
        </p:txBody>
      </p:sp>
      <p:sp>
        <p:nvSpPr>
          <p:cNvPr id="131" name="Shape 45"/>
          <p:cNvSpPr/>
          <p:nvPr/>
        </p:nvSpPr>
        <p:spPr>
          <a:xfrm>
            <a:off x="3337559" y="4526280"/>
            <a:ext cx="2" cy="960122"/>
          </a:xfrm>
          <a:prstGeom prst="line">
            <a:avLst/>
          </a:prstGeom>
          <a:ln w="19050">
            <a:solidFill>
              <a:srgbClr val="7C6BB5"/>
            </a:solidFill>
          </a:ln>
        </p:spPr>
        <p:txBody>
          <a:bodyPr lIns="45718" tIns="45718" rIns="45718" bIns="45718"/>
          <a:lstStyle/>
          <a:p>
            <a:pPr/>
          </a:p>
        </p:txBody>
      </p:sp>
      <p:sp>
        <p:nvSpPr>
          <p:cNvPr id="132" name="Shape 46"/>
          <p:cNvSpPr/>
          <p:nvPr/>
        </p:nvSpPr>
        <p:spPr>
          <a:xfrm>
            <a:off x="2285999" y="4160519"/>
            <a:ext cx="1051562" cy="3"/>
          </a:xfrm>
          <a:prstGeom prst="line">
            <a:avLst/>
          </a:prstGeom>
          <a:ln w="19050">
            <a:solidFill>
              <a:srgbClr val="7C6BB5"/>
            </a:solidFill>
          </a:ln>
        </p:spPr>
        <p:txBody>
          <a:bodyPr lIns="45718" tIns="45718" rIns="45718" bIns="45718"/>
          <a:lstStyle/>
          <a:p>
            <a:pPr/>
          </a:p>
        </p:txBody>
      </p:sp>
      <p:sp>
        <p:nvSpPr>
          <p:cNvPr id="133" name="Shape 47"/>
          <p:cNvSpPr/>
          <p:nvPr/>
        </p:nvSpPr>
        <p:spPr>
          <a:xfrm>
            <a:off x="3337559" y="4160519"/>
            <a:ext cx="2" cy="365762"/>
          </a:xfrm>
          <a:prstGeom prst="line">
            <a:avLst/>
          </a:prstGeom>
          <a:ln w="19050">
            <a:solidFill>
              <a:srgbClr val="7C6BB5"/>
            </a:solidFill>
          </a:ln>
        </p:spPr>
        <p:txBody>
          <a:bodyPr lIns="45718" tIns="45718" rIns="45718" bIns="45718"/>
          <a:lstStyle/>
          <a:p>
            <a:pPr/>
          </a:p>
        </p:txBody>
      </p:sp>
      <p:sp>
        <p:nvSpPr>
          <p:cNvPr id="134" name="Text 48"/>
          <p:cNvSpPr txBox="1"/>
          <p:nvPr/>
        </p:nvSpPr>
        <p:spPr>
          <a:xfrm>
            <a:off x="3428998" y="4508499"/>
            <a:ext cx="10972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900">
                <a:solidFill>
                  <a:srgbClr val="7C6BB5"/>
                </a:solidFill>
                <a:latin typeface="+mn-lt"/>
                <a:ea typeface="+mn-ea"/>
                <a:cs typeface="+mn-cs"/>
                <a:sym typeface="Calibri"/>
              </a:defRPr>
            </a:lvl1pPr>
          </a:lstStyle>
          <a:p>
            <a:pPr/>
            <a:r>
              <a:t>ESP NOW</a:t>
            </a:r>
          </a:p>
        </p:txBody>
      </p:sp>
      <p:sp>
        <p:nvSpPr>
          <p:cNvPr id="135" name="Shape 49"/>
          <p:cNvSpPr/>
          <p:nvPr/>
        </p:nvSpPr>
        <p:spPr>
          <a:xfrm>
            <a:off x="5852159" y="3520440"/>
            <a:ext cx="2" cy="457202"/>
          </a:xfrm>
          <a:prstGeom prst="line">
            <a:avLst/>
          </a:prstGeom>
          <a:ln w="15875">
            <a:solidFill>
              <a:srgbClr val="7A7490"/>
            </a:solidFill>
            <a:prstDash val="dash"/>
          </a:ln>
        </p:spPr>
        <p:txBody>
          <a:bodyPr lIns="45718" tIns="45718" rIns="45718" bIns="45718"/>
          <a:lstStyle/>
          <a:p>
            <a:pPr/>
          </a:p>
        </p:txBody>
      </p:sp>
      <p:sp>
        <p:nvSpPr>
          <p:cNvPr id="136" name="Shape 50"/>
          <p:cNvSpPr/>
          <p:nvPr/>
        </p:nvSpPr>
        <p:spPr>
          <a:xfrm>
            <a:off x="6949440" y="4343400"/>
            <a:ext cx="274322" cy="0"/>
          </a:xfrm>
          <a:prstGeom prst="line">
            <a:avLst/>
          </a:prstGeom>
          <a:ln w="15875">
            <a:solidFill>
              <a:srgbClr val="7A7490"/>
            </a:solidFill>
            <a:prstDash val="dash"/>
          </a:ln>
        </p:spPr>
        <p:txBody>
          <a:bodyPr lIns="45718" tIns="45718" rIns="45718" bIns="45718"/>
          <a:lstStyle/>
          <a:p>
            <a:pPr/>
          </a:p>
        </p:txBody>
      </p:sp>
      <p:sp>
        <p:nvSpPr>
          <p:cNvPr id="137" name="Shape 51"/>
          <p:cNvSpPr/>
          <p:nvPr/>
        </p:nvSpPr>
        <p:spPr>
          <a:xfrm>
            <a:off x="7223759" y="3154678"/>
            <a:ext cx="2" cy="1188722"/>
          </a:xfrm>
          <a:prstGeom prst="line">
            <a:avLst/>
          </a:prstGeom>
          <a:ln w="15875">
            <a:solidFill>
              <a:srgbClr val="7A7490"/>
            </a:solidFill>
            <a:prstDash val="dash"/>
          </a:ln>
        </p:spPr>
        <p:txBody>
          <a:bodyPr lIns="45718" tIns="45718" rIns="45718" bIns="45718"/>
          <a:lstStyle/>
          <a:p>
            <a:pPr/>
          </a:p>
        </p:txBody>
      </p:sp>
      <p:sp>
        <p:nvSpPr>
          <p:cNvPr id="138" name="Shape 52"/>
          <p:cNvSpPr/>
          <p:nvPr/>
        </p:nvSpPr>
        <p:spPr>
          <a:xfrm>
            <a:off x="7223759" y="3154679"/>
            <a:ext cx="365762" cy="2"/>
          </a:xfrm>
          <a:prstGeom prst="line">
            <a:avLst/>
          </a:prstGeom>
          <a:ln w="15875">
            <a:solidFill>
              <a:srgbClr val="7A7490"/>
            </a:solidFill>
            <a:prstDash val="dash"/>
          </a:ln>
        </p:spPr>
        <p:txBody>
          <a:bodyPr lIns="45718" tIns="45718" rIns="45718" bIns="45718"/>
          <a:lstStyle/>
          <a:p>
            <a:pPr/>
          </a:p>
        </p:txBody>
      </p:sp>
      <p:sp>
        <p:nvSpPr>
          <p:cNvPr id="139" name="Shape 53"/>
          <p:cNvSpPr/>
          <p:nvPr/>
        </p:nvSpPr>
        <p:spPr>
          <a:xfrm>
            <a:off x="8686799" y="3520440"/>
            <a:ext cx="1" cy="457202"/>
          </a:xfrm>
          <a:prstGeom prst="line">
            <a:avLst/>
          </a:prstGeom>
          <a:ln w="15875">
            <a:solidFill>
              <a:srgbClr val="7A7490"/>
            </a:solidFill>
            <a:prstDash val="dash"/>
          </a:ln>
        </p:spPr>
        <p:txBody>
          <a:bodyPr lIns="45718" tIns="45718" rIns="45718" bIns="45718"/>
          <a:lstStyle/>
          <a:p>
            <a:pPr/>
          </a:p>
        </p:txBody>
      </p:sp>
      <p:sp>
        <p:nvSpPr>
          <p:cNvPr id="140" name="Shape 54"/>
          <p:cNvSpPr/>
          <p:nvPr/>
        </p:nvSpPr>
        <p:spPr>
          <a:xfrm>
            <a:off x="9784080" y="4343400"/>
            <a:ext cx="365762" cy="0"/>
          </a:xfrm>
          <a:prstGeom prst="line">
            <a:avLst/>
          </a:prstGeom>
          <a:ln w="15875">
            <a:solidFill>
              <a:srgbClr val="7A7490"/>
            </a:solidFill>
            <a:prstDash val="dash"/>
          </a:ln>
        </p:spPr>
        <p:txBody>
          <a:bodyPr lIns="45718" tIns="45718" rIns="45718" bIns="45718"/>
          <a:lstStyle/>
          <a:p>
            <a:pPr/>
          </a:p>
        </p:txBody>
      </p:sp>
      <p:sp>
        <p:nvSpPr>
          <p:cNvPr id="141" name="Shape 55"/>
          <p:cNvSpPr/>
          <p:nvPr/>
        </p:nvSpPr>
        <p:spPr>
          <a:xfrm>
            <a:off x="10149840" y="3794759"/>
            <a:ext cx="2" cy="548642"/>
          </a:xfrm>
          <a:prstGeom prst="line">
            <a:avLst/>
          </a:prstGeom>
          <a:ln w="15875">
            <a:solidFill>
              <a:srgbClr val="7A7490"/>
            </a:solidFill>
            <a:prstDash val="dash"/>
          </a:ln>
        </p:spPr>
        <p:txBody>
          <a:bodyPr lIns="45718" tIns="45718" rIns="45718" bIns="45718"/>
          <a:lstStyle/>
          <a:p>
            <a:pPr/>
          </a:p>
        </p:txBody>
      </p:sp>
      <p:sp>
        <p:nvSpPr>
          <p:cNvPr id="142" name="Shape 56"/>
          <p:cNvSpPr/>
          <p:nvPr/>
        </p:nvSpPr>
        <p:spPr>
          <a:xfrm>
            <a:off x="7589518" y="4343398"/>
            <a:ext cx="2" cy="640082"/>
          </a:xfrm>
          <a:prstGeom prst="line">
            <a:avLst/>
          </a:prstGeom>
          <a:ln w="15875">
            <a:solidFill>
              <a:srgbClr val="7C6BB5"/>
            </a:solidFill>
            <a:prstDash val="dash"/>
          </a:ln>
        </p:spPr>
        <p:txBody>
          <a:bodyPr lIns="45718" tIns="45718" rIns="45718" bIns="45718"/>
          <a:lstStyle/>
          <a:p>
            <a:pPr/>
          </a:p>
        </p:txBody>
      </p:sp>
      <p:sp>
        <p:nvSpPr>
          <p:cNvPr id="143" name="Shape 57"/>
          <p:cNvSpPr/>
          <p:nvPr/>
        </p:nvSpPr>
        <p:spPr>
          <a:xfrm>
            <a:off x="4754879" y="4983478"/>
            <a:ext cx="2834642" cy="3"/>
          </a:xfrm>
          <a:prstGeom prst="line">
            <a:avLst/>
          </a:prstGeom>
          <a:ln w="15875">
            <a:solidFill>
              <a:srgbClr val="7C6BB5"/>
            </a:solidFill>
            <a:prstDash val="dash"/>
          </a:ln>
        </p:spPr>
        <p:txBody>
          <a:bodyPr lIns="45718" tIns="45718" rIns="45718" bIns="45718"/>
          <a:lstStyle/>
          <a:p>
            <a:pPr/>
          </a:p>
        </p:txBody>
      </p:sp>
      <p:sp>
        <p:nvSpPr>
          <p:cNvPr id="144" name="Shape 58"/>
          <p:cNvSpPr/>
          <p:nvPr/>
        </p:nvSpPr>
        <p:spPr>
          <a:xfrm>
            <a:off x="4754879" y="3520440"/>
            <a:ext cx="1" cy="1463042"/>
          </a:xfrm>
          <a:prstGeom prst="line">
            <a:avLst/>
          </a:prstGeom>
          <a:ln w="15875">
            <a:solidFill>
              <a:srgbClr val="7C6BB5"/>
            </a:solidFill>
            <a:prstDash val="dash"/>
          </a:ln>
        </p:spPr>
        <p:txBody>
          <a:bodyPr lIns="45718" tIns="45718" rIns="45718" bIns="45718"/>
          <a:lstStyle/>
          <a:p>
            <a:pPr/>
          </a:p>
        </p:txBody>
      </p:sp>
      <p:sp>
        <p:nvSpPr>
          <p:cNvPr id="145" name="Text 59"/>
          <p:cNvSpPr txBox="1"/>
          <p:nvPr/>
        </p:nvSpPr>
        <p:spPr>
          <a:xfrm>
            <a:off x="4571998" y="5036097"/>
            <a:ext cx="32004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7C6BB5"/>
                </a:solidFill>
                <a:latin typeface="+mn-lt"/>
                <a:ea typeface="+mn-ea"/>
                <a:cs typeface="+mn-cs"/>
                <a:sym typeface="Calibri"/>
              </a:defRPr>
            </a:lvl1pPr>
          </a:lstStyle>
          <a:p>
            <a:pPr/>
            <a:r>
              <a:t>feedback: updated baseline</a:t>
            </a:r>
          </a:p>
        </p:txBody>
      </p:sp>
      <p:sp>
        <p:nvSpPr>
          <p:cNvPr id="146" name="Text 60"/>
          <p:cNvSpPr txBox="1"/>
          <p:nvPr/>
        </p:nvSpPr>
        <p:spPr>
          <a:xfrm>
            <a:off x="4645150" y="6231626"/>
            <a:ext cx="110642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7A7490"/>
                </a:solidFill>
                <a:latin typeface="+mn-lt"/>
                <a:ea typeface="+mn-ea"/>
                <a:cs typeface="+mn-cs"/>
                <a:sym typeface="Calibri"/>
              </a:defRPr>
            </a:lvl1pPr>
          </a:lstStyle>
          <a:p>
            <a:pPr/>
            <a:r>
              <a:t>Two ESP32S3 nodes communicate via ESP NOW. Solid lines mark tested interfaces. Dashed lines mark interfaces not yet verified.</a:t>
            </a:r>
          </a:p>
        </p:txBody>
      </p:sp>
      <p:sp>
        <p:nvSpPr>
          <p:cNvPr id="147" name="Shape 61"/>
          <p:cNvSpPr/>
          <p:nvPr/>
        </p:nvSpPr>
        <p:spPr>
          <a:xfrm>
            <a:off x="548638" y="6446520"/>
            <a:ext cx="11064244" cy="1"/>
          </a:xfrm>
          <a:prstGeom prst="line">
            <a:avLst/>
          </a:prstGeom>
          <a:ln>
            <a:solidFill>
              <a:srgbClr val="E4DFF0"/>
            </a:solidFill>
          </a:ln>
        </p:spPr>
        <p:txBody>
          <a:bodyPr lIns="45718" tIns="45718" rIns="45718" bIns="45718"/>
          <a:lstStyle/>
          <a:p>
            <a:pPr/>
          </a:p>
        </p:txBody>
      </p:sp>
      <p:sp>
        <p:nvSpPr>
          <p:cNvPr id="148" name="Text 62"/>
          <p:cNvSpPr txBox="1"/>
          <p:nvPr/>
        </p:nvSpPr>
        <p:spPr>
          <a:xfrm>
            <a:off x="548640" y="6560864"/>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2</a:t>
            </a:r>
          </a:p>
        </p:txBody>
      </p:sp>
      <p:sp>
        <p:nvSpPr>
          <p:cNvPr id="149" name="Text 63"/>
          <p:cNvSpPr txBox="1"/>
          <p:nvPr/>
        </p:nvSpPr>
        <p:spPr>
          <a:xfrm>
            <a:off x="10698480" y="6560864"/>
            <a:ext cx="9144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4 / 8</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151"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a:pPr>
              <a:defRPr>
                <a:latin typeface="+mn-lt"/>
                <a:ea typeface="+mn-ea"/>
                <a:cs typeface="+mn-cs"/>
                <a:sym typeface="Calibri"/>
              </a:defRPr>
            </a:pPr>
          </a:p>
        </p:txBody>
      </p:sp>
      <p:sp>
        <p:nvSpPr>
          <p:cNvPr id="152" name="Text 1"/>
          <p:cNvSpPr txBox="1"/>
          <p:nvPr/>
        </p:nvSpPr>
        <p:spPr>
          <a:xfrm>
            <a:off x="777239" y="534967"/>
            <a:ext cx="54864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04  TRADE OFF</a:t>
            </a:r>
          </a:p>
        </p:txBody>
      </p:sp>
      <p:sp>
        <p:nvSpPr>
          <p:cNvPr id="153" name="Text 2"/>
          <p:cNvSpPr txBox="1"/>
          <p:nvPr/>
        </p:nvSpPr>
        <p:spPr>
          <a:xfrm>
            <a:off x="548638" y="989329"/>
            <a:ext cx="11064244"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A2440"/>
                </a:solidFill>
                <a:latin typeface="Georgia"/>
                <a:ea typeface="Georgia"/>
                <a:cs typeface="Georgia"/>
                <a:sym typeface="Georgia"/>
              </a:defRPr>
            </a:lvl1pPr>
          </a:lstStyle>
          <a:p>
            <a:pPr/>
            <a:r>
              <a:t>Trade Off Analysis</a:t>
            </a:r>
          </a:p>
        </p:txBody>
      </p:sp>
      <p:sp>
        <p:nvSpPr>
          <p:cNvPr id="154" name="Text 3"/>
          <p:cNvSpPr txBox="1"/>
          <p:nvPr/>
        </p:nvSpPr>
        <p:spPr>
          <a:xfrm>
            <a:off x="548638" y="1781240"/>
            <a:ext cx="11064244"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500">
                <a:solidFill>
                  <a:srgbClr val="7A7490"/>
                </a:solidFill>
                <a:latin typeface="+mn-lt"/>
                <a:ea typeface="+mn-ea"/>
                <a:cs typeface="+mn-cs"/>
                <a:sym typeface="Calibri"/>
              </a:defRPr>
            </a:lvl1pPr>
          </a:lstStyle>
          <a:p>
            <a:pPr/>
            <a:r>
              <a:t>Sweeping system parameters to evaluate impact on performance metrics.</a:t>
            </a:r>
          </a:p>
        </p:txBody>
      </p:sp>
      <p:sp>
        <p:nvSpPr>
          <p:cNvPr id="155" name="Shape 4"/>
          <p:cNvSpPr/>
          <p:nvPr/>
        </p:nvSpPr>
        <p:spPr>
          <a:xfrm>
            <a:off x="548638" y="2240278"/>
            <a:ext cx="5349244" cy="4023361"/>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56" name="Text 5"/>
          <p:cNvSpPr txBox="1"/>
          <p:nvPr/>
        </p:nvSpPr>
        <p:spPr>
          <a:xfrm>
            <a:off x="777240" y="2446064"/>
            <a:ext cx="9144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01</a:t>
            </a:r>
          </a:p>
        </p:txBody>
      </p:sp>
      <p:sp>
        <p:nvSpPr>
          <p:cNvPr id="157" name="Text 6"/>
          <p:cNvSpPr txBox="1"/>
          <p:nvPr/>
        </p:nvSpPr>
        <p:spPr>
          <a:xfrm>
            <a:off x="777238" y="2678429"/>
            <a:ext cx="489204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A2440"/>
                </a:solidFill>
                <a:latin typeface="Georgia"/>
                <a:ea typeface="Georgia"/>
                <a:cs typeface="Georgia"/>
                <a:sym typeface="Georgia"/>
              </a:defRPr>
            </a:lvl1pPr>
          </a:lstStyle>
          <a:p>
            <a:pPr/>
            <a:r>
              <a:t>Stabilization Window</a:t>
            </a:r>
          </a:p>
        </p:txBody>
      </p:sp>
      <p:sp>
        <p:nvSpPr>
          <p:cNvPr id="158" name="Shape 7"/>
          <p:cNvSpPr/>
          <p:nvPr/>
        </p:nvSpPr>
        <p:spPr>
          <a:xfrm>
            <a:off x="777238" y="3108960"/>
            <a:ext cx="4892044" cy="1"/>
          </a:xfrm>
          <a:prstGeom prst="line">
            <a:avLst/>
          </a:prstGeom>
          <a:ln>
            <a:solidFill>
              <a:srgbClr val="E4DFF0"/>
            </a:solidFill>
          </a:ln>
        </p:spPr>
        <p:txBody>
          <a:bodyPr lIns="45718" tIns="45718" rIns="45718" bIns="45718"/>
          <a:lstStyle/>
          <a:p>
            <a:pPr/>
          </a:p>
        </p:txBody>
      </p:sp>
      <p:sp>
        <p:nvSpPr>
          <p:cNvPr id="159" name="Text 8"/>
          <p:cNvSpPr txBox="1"/>
          <p:nvPr/>
        </p:nvSpPr>
        <p:spPr>
          <a:xfrm>
            <a:off x="777240" y="3305600"/>
            <a:ext cx="2743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7C6BB5"/>
                </a:solidFill>
                <a:latin typeface="+mn-lt"/>
                <a:ea typeface="+mn-ea"/>
                <a:cs typeface="+mn-cs"/>
                <a:sym typeface="Calibri"/>
              </a:defRPr>
            </a:lvl1pPr>
          </a:lstStyle>
          <a:p>
            <a:pPr/>
            <a:r>
              <a:t>PARAMETER</a:t>
            </a:r>
          </a:p>
        </p:txBody>
      </p:sp>
      <p:sp>
        <p:nvSpPr>
          <p:cNvPr id="160" name="Text 9"/>
          <p:cNvSpPr txBox="1"/>
          <p:nvPr/>
        </p:nvSpPr>
        <p:spPr>
          <a:xfrm>
            <a:off x="777238" y="3549611"/>
            <a:ext cx="4892044" cy="7763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A2440"/>
                </a:solidFill>
                <a:latin typeface="+mn-lt"/>
                <a:ea typeface="+mn-ea"/>
                <a:cs typeface="+mn-cs"/>
                <a:sym typeface="Calibri"/>
              </a:defRPr>
            </a:lvl1pPr>
          </a:lstStyle>
          <a:p>
            <a:pPr/>
            <a:r>
              <a:t>HX711 stabilization time controls how long the system waits after detecting a visit before recording a stable weight reading. Tested at 1s, 3s, 5s, and 7s windows to evaluate the trade off between reading accuracy and response speed.</a:t>
            </a:r>
          </a:p>
        </p:txBody>
      </p:sp>
      <p:sp>
        <p:nvSpPr>
          <p:cNvPr id="161" name="Shape 10"/>
          <p:cNvSpPr/>
          <p:nvPr/>
        </p:nvSpPr>
        <p:spPr>
          <a:xfrm>
            <a:off x="777238" y="4424114"/>
            <a:ext cx="4892044" cy="1656647"/>
          </a:xfrm>
          <a:prstGeom prst="rect">
            <a:avLst/>
          </a:prstGeom>
          <a:solidFill>
            <a:srgbClr val="EEEAF7"/>
          </a:solidFill>
          <a:ln w="12700">
            <a:solidFill>
              <a:srgbClr val="EEEAF7"/>
            </a:solidFill>
          </a:ln>
        </p:spPr>
        <p:txBody>
          <a:bodyPr lIns="45718" tIns="45718" rIns="45718" bIns="45718"/>
          <a:lstStyle/>
          <a:p>
            <a:pPr>
              <a:defRPr>
                <a:latin typeface="+mn-lt"/>
                <a:ea typeface="+mn-ea"/>
                <a:cs typeface="+mn-cs"/>
                <a:sym typeface="Calibri"/>
              </a:defRPr>
            </a:pPr>
          </a:p>
        </p:txBody>
      </p:sp>
      <p:sp>
        <p:nvSpPr>
          <p:cNvPr id="162" name="Text 11"/>
          <p:cNvSpPr txBox="1"/>
          <p:nvPr/>
        </p:nvSpPr>
        <p:spPr>
          <a:xfrm>
            <a:off x="914400" y="4576850"/>
            <a:ext cx="274320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5B4A94"/>
                </a:solidFill>
                <a:latin typeface="+mn-lt"/>
                <a:ea typeface="+mn-ea"/>
                <a:cs typeface="+mn-cs"/>
                <a:sym typeface="Calibri"/>
              </a:defRPr>
            </a:lvl1pPr>
          </a:lstStyle>
          <a:p>
            <a:pPr/>
            <a:r>
              <a:t>RESULT</a:t>
            </a:r>
          </a:p>
        </p:txBody>
      </p:sp>
      <p:sp>
        <p:nvSpPr>
          <p:cNvPr id="163" name="Text 12"/>
          <p:cNvSpPr txBox="1"/>
          <p:nvPr/>
        </p:nvSpPr>
        <p:spPr>
          <a:xfrm>
            <a:off x="966469" y="4879340"/>
            <a:ext cx="4513581" cy="918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A2440"/>
                </a:solidFill>
                <a:latin typeface="+mn-lt"/>
                <a:ea typeface="+mn-ea"/>
                <a:cs typeface="+mn-cs"/>
                <a:sym typeface="Calibri"/>
              </a:defRPr>
            </a:lvl1pPr>
          </a:lstStyle>
          <a:p>
            <a:pPr/>
            <a:r>
              <a:t>At 1s, readings showed high variance due to the cat's movement on the load cell. At 3s, standard deviation dropped significantly but occasional spikes remained. At 5s, mean error reached 0.11 g with 0.23 g standard deviation, providing stable readings with acceptable latency. At 7s, accuracy improved only marginally while adding unnecessary delay.</a:t>
            </a:r>
          </a:p>
        </p:txBody>
      </p:sp>
      <p:sp>
        <p:nvSpPr>
          <p:cNvPr id="164" name="Shape 13"/>
          <p:cNvSpPr/>
          <p:nvPr/>
        </p:nvSpPr>
        <p:spPr>
          <a:xfrm>
            <a:off x="6263640" y="2240278"/>
            <a:ext cx="5349242" cy="4023361"/>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65" name="Text 14"/>
          <p:cNvSpPr txBox="1"/>
          <p:nvPr/>
        </p:nvSpPr>
        <p:spPr>
          <a:xfrm>
            <a:off x="6492240" y="2446064"/>
            <a:ext cx="9144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02</a:t>
            </a:r>
          </a:p>
        </p:txBody>
      </p:sp>
      <p:sp>
        <p:nvSpPr>
          <p:cNvPr id="166" name="Text 15"/>
          <p:cNvSpPr txBox="1"/>
          <p:nvPr/>
        </p:nvSpPr>
        <p:spPr>
          <a:xfrm>
            <a:off x="6492240" y="2678429"/>
            <a:ext cx="4892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A2440"/>
                </a:solidFill>
                <a:latin typeface="Georgia"/>
                <a:ea typeface="Georgia"/>
                <a:cs typeface="Georgia"/>
                <a:sym typeface="Georgia"/>
              </a:defRPr>
            </a:lvl1pPr>
          </a:lstStyle>
          <a:p>
            <a:pPr/>
            <a:r>
              <a:t>Communication Protocol</a:t>
            </a:r>
          </a:p>
        </p:txBody>
      </p:sp>
      <p:sp>
        <p:nvSpPr>
          <p:cNvPr id="167" name="Shape 16"/>
          <p:cNvSpPr/>
          <p:nvPr/>
        </p:nvSpPr>
        <p:spPr>
          <a:xfrm>
            <a:off x="6492240" y="3108960"/>
            <a:ext cx="4892042" cy="1"/>
          </a:xfrm>
          <a:prstGeom prst="line">
            <a:avLst/>
          </a:prstGeom>
          <a:ln>
            <a:solidFill>
              <a:srgbClr val="E4DFF0"/>
            </a:solidFill>
          </a:ln>
        </p:spPr>
        <p:txBody>
          <a:bodyPr lIns="45718" tIns="45718" rIns="45718" bIns="45718"/>
          <a:lstStyle/>
          <a:p>
            <a:pPr/>
          </a:p>
        </p:txBody>
      </p:sp>
      <p:sp>
        <p:nvSpPr>
          <p:cNvPr id="168" name="Text 17"/>
          <p:cNvSpPr txBox="1"/>
          <p:nvPr/>
        </p:nvSpPr>
        <p:spPr>
          <a:xfrm>
            <a:off x="6492240" y="3305600"/>
            <a:ext cx="27432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7C6BB5"/>
                </a:solidFill>
                <a:latin typeface="+mn-lt"/>
                <a:ea typeface="+mn-ea"/>
                <a:cs typeface="+mn-cs"/>
                <a:sym typeface="Calibri"/>
              </a:defRPr>
            </a:lvl1pPr>
          </a:lstStyle>
          <a:p>
            <a:pPr/>
            <a:r>
              <a:t>PARAMETER</a:t>
            </a:r>
          </a:p>
        </p:txBody>
      </p:sp>
      <p:sp>
        <p:nvSpPr>
          <p:cNvPr id="169" name="Text 18"/>
          <p:cNvSpPr txBox="1"/>
          <p:nvPr/>
        </p:nvSpPr>
        <p:spPr>
          <a:xfrm>
            <a:off x="6492240" y="3549611"/>
            <a:ext cx="4892042" cy="7763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A2440"/>
                </a:solidFill>
                <a:latin typeface="+mn-lt"/>
                <a:ea typeface="+mn-ea"/>
                <a:cs typeface="+mn-cs"/>
                <a:sym typeface="Calibri"/>
              </a:defRPr>
            </a:lvl1pPr>
          </a:lstStyle>
          <a:p>
            <a:pPr/>
            <a:r>
              <a:t>Evaluated three options for communication between the sensor node (ESP32S3 + PIR) and the weight node (ESP32S3 + HX711): ESP NOW, Wi Fi, and BLE. Compared on latency, power consumption, and ease of implementation.</a:t>
            </a:r>
          </a:p>
        </p:txBody>
      </p:sp>
      <p:sp>
        <p:nvSpPr>
          <p:cNvPr id="170" name="Shape 19"/>
          <p:cNvSpPr/>
          <p:nvPr/>
        </p:nvSpPr>
        <p:spPr>
          <a:xfrm>
            <a:off x="6492240" y="4424114"/>
            <a:ext cx="4892042" cy="1656647"/>
          </a:xfrm>
          <a:prstGeom prst="rect">
            <a:avLst/>
          </a:prstGeom>
          <a:solidFill>
            <a:srgbClr val="EEEAF7"/>
          </a:solidFill>
          <a:ln w="12700">
            <a:solidFill>
              <a:srgbClr val="EEEAF7"/>
            </a:solidFill>
          </a:ln>
        </p:spPr>
        <p:txBody>
          <a:bodyPr lIns="45718" tIns="45718" rIns="45718" bIns="45718"/>
          <a:lstStyle/>
          <a:p>
            <a:pPr>
              <a:defRPr>
                <a:latin typeface="+mn-lt"/>
                <a:ea typeface="+mn-ea"/>
                <a:cs typeface="+mn-cs"/>
                <a:sym typeface="Calibri"/>
              </a:defRPr>
            </a:pPr>
          </a:p>
        </p:txBody>
      </p:sp>
      <p:sp>
        <p:nvSpPr>
          <p:cNvPr id="171" name="Text 20"/>
          <p:cNvSpPr txBox="1"/>
          <p:nvPr/>
        </p:nvSpPr>
        <p:spPr>
          <a:xfrm>
            <a:off x="6629400" y="4576850"/>
            <a:ext cx="274320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000">
                <a:solidFill>
                  <a:srgbClr val="5B4A94"/>
                </a:solidFill>
                <a:latin typeface="+mn-lt"/>
                <a:ea typeface="+mn-ea"/>
                <a:cs typeface="+mn-cs"/>
                <a:sym typeface="Calibri"/>
              </a:defRPr>
            </a:lvl1pPr>
          </a:lstStyle>
          <a:p>
            <a:pPr/>
            <a:r>
              <a:t>RESULT</a:t>
            </a:r>
          </a:p>
        </p:txBody>
      </p:sp>
      <p:sp>
        <p:nvSpPr>
          <p:cNvPr id="172" name="Text 21"/>
          <p:cNvSpPr txBox="1"/>
          <p:nvPr/>
        </p:nvSpPr>
        <p:spPr>
          <a:xfrm>
            <a:off x="6681469" y="4784090"/>
            <a:ext cx="4513581" cy="1109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2A2440"/>
                </a:solidFill>
                <a:latin typeface="+mn-lt"/>
                <a:ea typeface="+mn-ea"/>
                <a:cs typeface="+mn-cs"/>
                <a:sym typeface="Calibri"/>
              </a:defRPr>
            </a:lvl1pPr>
          </a:lstStyle>
          <a:p>
            <a:pPr/>
            <a:r>
              <a:t>Wi Fi offers high throughput but requires a router and draws significantly more power, which is not ideal for a battery powered device. BLE is low power but introduces pairing complexity and higher latency for real time data transfer. ESP NOW enables direct peer to peer communication between two ESP32S3 boards with no router dependency, sub 10 ms latency, and minimal power overhead.</a:t>
            </a:r>
          </a:p>
        </p:txBody>
      </p:sp>
      <p:sp>
        <p:nvSpPr>
          <p:cNvPr id="173" name="Shape 22"/>
          <p:cNvSpPr/>
          <p:nvPr/>
        </p:nvSpPr>
        <p:spPr>
          <a:xfrm>
            <a:off x="548638" y="6446520"/>
            <a:ext cx="11064244" cy="1"/>
          </a:xfrm>
          <a:prstGeom prst="line">
            <a:avLst/>
          </a:prstGeom>
          <a:ln>
            <a:solidFill>
              <a:srgbClr val="E4DFF0"/>
            </a:solidFill>
          </a:ln>
        </p:spPr>
        <p:txBody>
          <a:bodyPr lIns="45718" tIns="45718" rIns="45718" bIns="45718"/>
          <a:lstStyle/>
          <a:p>
            <a:pPr/>
          </a:p>
        </p:txBody>
      </p:sp>
      <p:sp>
        <p:nvSpPr>
          <p:cNvPr id="174" name="Text 23"/>
          <p:cNvSpPr txBox="1"/>
          <p:nvPr/>
        </p:nvSpPr>
        <p:spPr>
          <a:xfrm>
            <a:off x="548640" y="6560864"/>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2</a:t>
            </a:r>
          </a:p>
        </p:txBody>
      </p:sp>
      <p:sp>
        <p:nvSpPr>
          <p:cNvPr id="175" name="Text 24"/>
          <p:cNvSpPr txBox="1"/>
          <p:nvPr/>
        </p:nvSpPr>
        <p:spPr>
          <a:xfrm>
            <a:off x="10698480" y="6560864"/>
            <a:ext cx="9144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5 / 8</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177"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a:pPr>
              <a:defRPr>
                <a:latin typeface="+mn-lt"/>
                <a:ea typeface="+mn-ea"/>
                <a:cs typeface="+mn-cs"/>
                <a:sym typeface="Calibri"/>
              </a:defRPr>
            </a:pPr>
          </a:p>
        </p:txBody>
      </p:sp>
      <p:sp>
        <p:nvSpPr>
          <p:cNvPr id="178" name="Text 1"/>
          <p:cNvSpPr txBox="1"/>
          <p:nvPr/>
        </p:nvSpPr>
        <p:spPr>
          <a:xfrm>
            <a:off x="777239" y="534967"/>
            <a:ext cx="54864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05  VALIDATION</a:t>
            </a:r>
          </a:p>
        </p:txBody>
      </p:sp>
      <p:sp>
        <p:nvSpPr>
          <p:cNvPr id="179" name="Text 2"/>
          <p:cNvSpPr txBox="1"/>
          <p:nvPr/>
        </p:nvSpPr>
        <p:spPr>
          <a:xfrm>
            <a:off x="548638" y="989329"/>
            <a:ext cx="11064244"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A2440"/>
                </a:solidFill>
                <a:latin typeface="Georgia"/>
                <a:ea typeface="Georgia"/>
                <a:cs typeface="Georgia"/>
                <a:sym typeface="Georgia"/>
              </a:defRPr>
            </a:lvl1pPr>
          </a:lstStyle>
          <a:p>
            <a:pPr/>
            <a:r>
              <a:t>Validation: Data Collection &amp; Integration</a:t>
            </a:r>
          </a:p>
        </p:txBody>
      </p:sp>
      <p:sp>
        <p:nvSpPr>
          <p:cNvPr id="180" name="Text 3"/>
          <p:cNvSpPr txBox="1"/>
          <p:nvPr/>
        </p:nvSpPr>
        <p:spPr>
          <a:xfrm>
            <a:off x="548638" y="1781240"/>
            <a:ext cx="11064244"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500">
                <a:solidFill>
                  <a:srgbClr val="7A7490"/>
                </a:solidFill>
                <a:latin typeface="+mn-lt"/>
                <a:ea typeface="+mn-ea"/>
                <a:cs typeface="+mn-cs"/>
                <a:sym typeface="Calibri"/>
              </a:defRPr>
            </a:lvl1pPr>
          </a:lstStyle>
          <a:p>
            <a:pPr/>
            <a:r>
              <a:t>Systematic validation of sensor integration, data pipeline, and model readiness.</a:t>
            </a:r>
          </a:p>
        </p:txBody>
      </p:sp>
      <p:sp>
        <p:nvSpPr>
          <p:cNvPr id="181" name="Shape 4"/>
          <p:cNvSpPr/>
          <p:nvPr/>
        </p:nvSpPr>
        <p:spPr>
          <a:xfrm>
            <a:off x="548638" y="2286000"/>
            <a:ext cx="2468883" cy="1005839"/>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82" name="Shape 5"/>
          <p:cNvSpPr/>
          <p:nvPr/>
        </p:nvSpPr>
        <p:spPr>
          <a:xfrm>
            <a:off x="685798" y="2395727"/>
            <a:ext cx="289845" cy="289845"/>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183" name="Text 6"/>
          <p:cNvSpPr txBox="1"/>
          <p:nvPr/>
        </p:nvSpPr>
        <p:spPr>
          <a:xfrm>
            <a:off x="670701" y="2488614"/>
            <a:ext cx="3200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1</a:t>
            </a:r>
          </a:p>
        </p:txBody>
      </p:sp>
      <p:sp>
        <p:nvSpPr>
          <p:cNvPr id="184" name="Text 7"/>
          <p:cNvSpPr txBox="1"/>
          <p:nvPr/>
        </p:nvSpPr>
        <p:spPr>
          <a:xfrm>
            <a:off x="1097278" y="2477315"/>
            <a:ext cx="1737363"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2440"/>
                </a:solidFill>
                <a:latin typeface="+mn-lt"/>
                <a:ea typeface="+mn-ea"/>
                <a:cs typeface="+mn-cs"/>
                <a:sym typeface="Calibri"/>
              </a:defRPr>
            </a:lvl1pPr>
          </a:lstStyle>
          <a:p>
            <a:pPr/>
            <a:r>
              <a:t>Sensor Data Collection</a:t>
            </a:r>
          </a:p>
        </p:txBody>
      </p:sp>
      <p:sp>
        <p:nvSpPr>
          <p:cNvPr id="185" name="Text 8"/>
          <p:cNvSpPr txBox="1"/>
          <p:nvPr/>
        </p:nvSpPr>
        <p:spPr>
          <a:xfrm>
            <a:off x="685798" y="2737310"/>
            <a:ext cx="2194563"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A7490"/>
                </a:solidFill>
                <a:latin typeface="+mn-lt"/>
                <a:ea typeface="+mn-ea"/>
                <a:cs typeface="+mn-cs"/>
                <a:sym typeface="Calibri"/>
              </a:defRPr>
            </a:lvl1pPr>
          </a:lstStyle>
          <a:p>
            <a:pPr/>
            <a:r>
              <a:t>PIR sensor detects motion and triggers the ESP32S3 camera module to capture an image.</a:t>
            </a:r>
          </a:p>
        </p:txBody>
      </p:sp>
      <p:sp>
        <p:nvSpPr>
          <p:cNvPr id="186" name="Text 9"/>
          <p:cNvSpPr txBox="1"/>
          <p:nvPr/>
        </p:nvSpPr>
        <p:spPr>
          <a:xfrm>
            <a:off x="3025831" y="2613293"/>
            <a:ext cx="548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7C6BB5"/>
                </a:solidFill>
                <a:latin typeface="+mn-lt"/>
                <a:ea typeface="+mn-ea"/>
                <a:cs typeface="+mn-cs"/>
                <a:sym typeface="Calibri"/>
              </a:defRPr>
            </a:lvl1pPr>
          </a:lstStyle>
          <a:p>
            <a:pPr/>
            <a:r>
              <a:t>▶</a:t>
            </a:r>
          </a:p>
        </p:txBody>
      </p:sp>
      <p:sp>
        <p:nvSpPr>
          <p:cNvPr id="187" name="Shape 10"/>
          <p:cNvSpPr/>
          <p:nvPr/>
        </p:nvSpPr>
        <p:spPr>
          <a:xfrm>
            <a:off x="3548953" y="2261678"/>
            <a:ext cx="2468882" cy="1005840"/>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88" name="Text 13"/>
          <p:cNvSpPr txBox="1"/>
          <p:nvPr/>
        </p:nvSpPr>
        <p:spPr>
          <a:xfrm>
            <a:off x="4097592" y="2452992"/>
            <a:ext cx="17373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2440"/>
                </a:solidFill>
                <a:latin typeface="+mn-lt"/>
                <a:ea typeface="+mn-ea"/>
                <a:cs typeface="+mn-cs"/>
                <a:sym typeface="Calibri"/>
              </a:defRPr>
            </a:lvl1pPr>
          </a:lstStyle>
          <a:p>
            <a:pPr/>
            <a:r>
              <a:t>Data Labeling</a:t>
            </a:r>
          </a:p>
        </p:txBody>
      </p:sp>
      <p:sp>
        <p:nvSpPr>
          <p:cNvPr id="189" name="Text 14"/>
          <p:cNvSpPr txBox="1"/>
          <p:nvPr/>
        </p:nvSpPr>
        <p:spPr>
          <a:xfrm>
            <a:off x="3683117" y="2718878"/>
            <a:ext cx="2194562"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A7490"/>
                </a:solidFill>
                <a:latin typeface="+mn-lt"/>
                <a:ea typeface="+mn-ea"/>
                <a:cs typeface="+mn-cs"/>
                <a:sym typeface="Calibri"/>
              </a:defRPr>
            </a:lvl1pPr>
          </a:lstStyle>
          <a:p>
            <a:pPr/>
            <a:r>
              <a:t>Collected images manually labeled into three categories: Cat A, Cat B, and Empty litter box.</a:t>
            </a:r>
          </a:p>
        </p:txBody>
      </p:sp>
      <p:sp>
        <p:nvSpPr>
          <p:cNvPr id="190" name="Text 15"/>
          <p:cNvSpPr txBox="1"/>
          <p:nvPr/>
        </p:nvSpPr>
        <p:spPr>
          <a:xfrm>
            <a:off x="5958106" y="2613293"/>
            <a:ext cx="54864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7C6BB5"/>
                </a:solidFill>
                <a:latin typeface="+mn-lt"/>
                <a:ea typeface="+mn-ea"/>
                <a:cs typeface="+mn-cs"/>
                <a:sym typeface="Calibri"/>
              </a:defRPr>
            </a:lvl1pPr>
          </a:lstStyle>
          <a:p>
            <a:pPr/>
            <a:r>
              <a:t>▶</a:t>
            </a:r>
          </a:p>
        </p:txBody>
      </p:sp>
      <p:sp>
        <p:nvSpPr>
          <p:cNvPr id="191" name="Shape 16"/>
          <p:cNvSpPr/>
          <p:nvPr/>
        </p:nvSpPr>
        <p:spPr>
          <a:xfrm>
            <a:off x="6447018" y="2261678"/>
            <a:ext cx="2468883" cy="1005840"/>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92" name="Text 19"/>
          <p:cNvSpPr txBox="1"/>
          <p:nvPr/>
        </p:nvSpPr>
        <p:spPr>
          <a:xfrm>
            <a:off x="6995659" y="2452992"/>
            <a:ext cx="17373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2440"/>
                </a:solidFill>
                <a:latin typeface="+mn-lt"/>
                <a:ea typeface="+mn-ea"/>
                <a:cs typeface="+mn-cs"/>
                <a:sym typeface="Calibri"/>
              </a:defRPr>
            </a:lvl1pPr>
          </a:lstStyle>
          <a:p>
            <a:pPr/>
            <a:r>
              <a:t>Feature Extraction</a:t>
            </a:r>
          </a:p>
        </p:txBody>
      </p:sp>
      <p:sp>
        <p:nvSpPr>
          <p:cNvPr id="193" name="Text 20"/>
          <p:cNvSpPr txBox="1"/>
          <p:nvPr/>
        </p:nvSpPr>
        <p:spPr>
          <a:xfrm>
            <a:off x="6584177" y="2727722"/>
            <a:ext cx="2194562"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A7490"/>
                </a:solidFill>
                <a:latin typeface="+mn-lt"/>
                <a:ea typeface="+mn-ea"/>
                <a:cs typeface="+mn-cs"/>
                <a:sym typeface="Calibri"/>
              </a:defRPr>
            </a:lvl1pPr>
          </a:lstStyle>
          <a:p>
            <a:pPr/>
            <a:r>
              <a:t>Image features extracted through the Edge Impulse DSP pipeline for input into the classification model.</a:t>
            </a:r>
          </a:p>
        </p:txBody>
      </p:sp>
      <p:sp>
        <p:nvSpPr>
          <p:cNvPr id="194" name="Text 21"/>
          <p:cNvSpPr txBox="1"/>
          <p:nvPr/>
        </p:nvSpPr>
        <p:spPr>
          <a:xfrm>
            <a:off x="8827328" y="2613293"/>
            <a:ext cx="54864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7C6BB5"/>
                </a:solidFill>
                <a:latin typeface="+mn-lt"/>
                <a:ea typeface="+mn-ea"/>
                <a:cs typeface="+mn-cs"/>
                <a:sym typeface="Calibri"/>
              </a:defRPr>
            </a:lvl1pPr>
          </a:lstStyle>
          <a:p>
            <a:pPr/>
            <a:r>
              <a:t>▶</a:t>
            </a:r>
          </a:p>
        </p:txBody>
      </p:sp>
      <p:sp>
        <p:nvSpPr>
          <p:cNvPr id="195" name="Shape 22"/>
          <p:cNvSpPr/>
          <p:nvPr/>
        </p:nvSpPr>
        <p:spPr>
          <a:xfrm>
            <a:off x="9331835" y="2261678"/>
            <a:ext cx="2468882" cy="1005840"/>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196" name="Text 25"/>
          <p:cNvSpPr txBox="1"/>
          <p:nvPr/>
        </p:nvSpPr>
        <p:spPr>
          <a:xfrm>
            <a:off x="9880475" y="2452992"/>
            <a:ext cx="17373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2440"/>
                </a:solidFill>
                <a:latin typeface="+mn-lt"/>
                <a:ea typeface="+mn-ea"/>
                <a:cs typeface="+mn-cs"/>
                <a:sym typeface="Calibri"/>
              </a:defRPr>
            </a:lvl1pPr>
          </a:lstStyle>
          <a:p>
            <a:pPr/>
            <a:r>
              <a:t>Model Training</a:t>
            </a:r>
          </a:p>
        </p:txBody>
      </p:sp>
      <p:sp>
        <p:nvSpPr>
          <p:cNvPr id="197" name="Text 26"/>
          <p:cNvSpPr txBox="1"/>
          <p:nvPr/>
        </p:nvSpPr>
        <p:spPr>
          <a:xfrm>
            <a:off x="9479332" y="2795538"/>
            <a:ext cx="219456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A7490"/>
                </a:solidFill>
                <a:latin typeface="+mn-lt"/>
                <a:ea typeface="+mn-ea"/>
                <a:cs typeface="+mn-cs"/>
                <a:sym typeface="Calibri"/>
              </a:defRPr>
            </a:lvl1pPr>
          </a:lstStyle>
          <a:p>
            <a:pPr/>
            <a:r>
              <a:t>Classification model trained to identify which cat is visiting</a:t>
            </a:r>
          </a:p>
        </p:txBody>
      </p:sp>
      <p:sp>
        <p:nvSpPr>
          <p:cNvPr id="198" name="Shape 27"/>
          <p:cNvSpPr/>
          <p:nvPr/>
        </p:nvSpPr>
        <p:spPr>
          <a:xfrm>
            <a:off x="548638" y="3566159"/>
            <a:ext cx="11064244" cy="1"/>
          </a:xfrm>
          <a:prstGeom prst="line">
            <a:avLst/>
          </a:prstGeom>
          <a:ln>
            <a:solidFill>
              <a:srgbClr val="E4DFF0"/>
            </a:solidFill>
          </a:ln>
        </p:spPr>
        <p:txBody>
          <a:bodyPr lIns="45718" tIns="45718" rIns="45718" bIns="45718"/>
          <a:lstStyle/>
          <a:p>
            <a:pPr/>
          </a:p>
        </p:txBody>
      </p:sp>
      <p:sp>
        <p:nvSpPr>
          <p:cNvPr id="199" name="Shape 28"/>
          <p:cNvSpPr/>
          <p:nvPr/>
        </p:nvSpPr>
        <p:spPr>
          <a:xfrm>
            <a:off x="548639" y="3749040"/>
            <a:ext cx="3657603" cy="25603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200" name="Text 29"/>
          <p:cNvSpPr txBox="1"/>
          <p:nvPr/>
        </p:nvSpPr>
        <p:spPr>
          <a:xfrm>
            <a:off x="777240" y="3971290"/>
            <a:ext cx="32004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A2440"/>
                </a:solidFill>
                <a:latin typeface="Georgia"/>
                <a:ea typeface="Georgia"/>
                <a:cs typeface="Georgia"/>
                <a:sym typeface="Georgia"/>
              </a:defRPr>
            </a:lvl1pPr>
          </a:lstStyle>
          <a:p>
            <a:pPr/>
            <a:r>
              <a:t>Data Collected</a:t>
            </a:r>
          </a:p>
        </p:txBody>
      </p:sp>
      <p:sp>
        <p:nvSpPr>
          <p:cNvPr id="201" name="Shape 30"/>
          <p:cNvSpPr/>
          <p:nvPr/>
        </p:nvSpPr>
        <p:spPr>
          <a:xfrm>
            <a:off x="777240" y="4343400"/>
            <a:ext cx="3200401" cy="0"/>
          </a:xfrm>
          <a:prstGeom prst="line">
            <a:avLst/>
          </a:prstGeom>
          <a:ln>
            <a:solidFill>
              <a:srgbClr val="E4DFF0"/>
            </a:solidFill>
          </a:ln>
        </p:spPr>
        <p:txBody>
          <a:bodyPr lIns="45718" tIns="45718" rIns="45718" bIns="45718"/>
          <a:lstStyle/>
          <a:p>
            <a:pPr/>
          </a:p>
        </p:txBody>
      </p:sp>
      <p:sp>
        <p:nvSpPr>
          <p:cNvPr id="202" name="Text 31"/>
          <p:cNvSpPr txBox="1"/>
          <p:nvPr/>
        </p:nvSpPr>
        <p:spPr>
          <a:xfrm>
            <a:off x="777240" y="4836598"/>
            <a:ext cx="3200401" cy="9795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A2440"/>
                </a:solidFill>
                <a:latin typeface="+mn-lt"/>
                <a:ea typeface="+mn-ea"/>
                <a:cs typeface="+mn-cs"/>
                <a:sym typeface="Calibri"/>
              </a:defRPr>
            </a:lvl1pPr>
          </a:lstStyle>
          <a:p>
            <a:pPr/>
            <a:r>
              <a:t>600 images total across three categories (Cat A, Cat B, Empty). All captured via PIR triggered camera on the ESP32S3. Insert sample images from each category and a photo of the hardware setup.</a:t>
            </a:r>
          </a:p>
        </p:txBody>
      </p:sp>
      <p:sp>
        <p:nvSpPr>
          <p:cNvPr id="203" name="Shape 32"/>
          <p:cNvSpPr/>
          <p:nvPr/>
        </p:nvSpPr>
        <p:spPr>
          <a:xfrm>
            <a:off x="4343400" y="3749040"/>
            <a:ext cx="3657600" cy="25603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204" name="Text 33"/>
          <p:cNvSpPr txBox="1"/>
          <p:nvPr/>
        </p:nvSpPr>
        <p:spPr>
          <a:xfrm>
            <a:off x="4572000" y="3971290"/>
            <a:ext cx="320040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A2440"/>
                </a:solidFill>
                <a:latin typeface="Georgia"/>
                <a:ea typeface="Georgia"/>
                <a:cs typeface="Georgia"/>
                <a:sym typeface="Georgia"/>
              </a:defRPr>
            </a:lvl1pPr>
          </a:lstStyle>
          <a:p>
            <a:pPr/>
            <a:r>
              <a:t>Quantitative Results</a:t>
            </a:r>
          </a:p>
        </p:txBody>
      </p:sp>
      <p:sp>
        <p:nvSpPr>
          <p:cNvPr id="205" name="Shape 34"/>
          <p:cNvSpPr/>
          <p:nvPr/>
        </p:nvSpPr>
        <p:spPr>
          <a:xfrm>
            <a:off x="4572000" y="4343400"/>
            <a:ext cx="3200401" cy="0"/>
          </a:xfrm>
          <a:prstGeom prst="line">
            <a:avLst/>
          </a:prstGeom>
          <a:ln>
            <a:solidFill>
              <a:srgbClr val="E4DFF0"/>
            </a:solidFill>
          </a:ln>
        </p:spPr>
        <p:txBody>
          <a:bodyPr lIns="45718" tIns="45718" rIns="45718" bIns="45718"/>
          <a:lstStyle/>
          <a:p>
            <a:pPr/>
          </a:p>
        </p:txBody>
      </p:sp>
      <p:sp>
        <p:nvSpPr>
          <p:cNvPr id="206" name="Text 35"/>
          <p:cNvSpPr txBox="1"/>
          <p:nvPr/>
        </p:nvSpPr>
        <p:spPr>
          <a:xfrm>
            <a:off x="4572000" y="5039798"/>
            <a:ext cx="3200400"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A2440"/>
                </a:solidFill>
                <a:latin typeface="+mn-lt"/>
                <a:ea typeface="+mn-ea"/>
                <a:cs typeface="+mn-cs"/>
                <a:sym typeface="Calibri"/>
              </a:defRPr>
            </a:lvl1pPr>
          </a:lstStyle>
          <a:p>
            <a:pPr/>
            <a:r>
              <a:t>HX711 weight sensor validated with mean error 0.11 g and std dev 0.23 g over 20 trials. Image classification accuracy 89.8% on test set.</a:t>
            </a:r>
          </a:p>
        </p:txBody>
      </p:sp>
      <p:sp>
        <p:nvSpPr>
          <p:cNvPr id="207" name="Shape 36"/>
          <p:cNvSpPr/>
          <p:nvPr/>
        </p:nvSpPr>
        <p:spPr>
          <a:xfrm>
            <a:off x="8138159" y="3749040"/>
            <a:ext cx="3657602" cy="2560322"/>
          </a:xfrm>
          <a:prstGeom prst="rect">
            <a:avLst/>
          </a:prstGeom>
          <a:solidFill>
            <a:srgbClr val="FFFFFF"/>
          </a:solidFill>
          <a:ln w="12700">
            <a:solidFill>
              <a:srgbClr val="E4DFF0"/>
            </a:solidFill>
          </a:ln>
        </p:spPr>
        <p:txBody>
          <a:bodyPr lIns="45718" tIns="45718" rIns="45718" bIns="45718"/>
          <a:lstStyle/>
          <a:p>
            <a:pPr>
              <a:defRPr>
                <a:latin typeface="+mn-lt"/>
                <a:ea typeface="+mn-ea"/>
                <a:cs typeface="+mn-cs"/>
                <a:sym typeface="Calibri"/>
              </a:defRPr>
            </a:pPr>
          </a:p>
        </p:txBody>
      </p:sp>
      <p:sp>
        <p:nvSpPr>
          <p:cNvPr id="208" name="Text 37"/>
          <p:cNvSpPr txBox="1"/>
          <p:nvPr/>
        </p:nvSpPr>
        <p:spPr>
          <a:xfrm>
            <a:off x="8366759" y="3971290"/>
            <a:ext cx="320040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A2440"/>
                </a:solidFill>
                <a:latin typeface="Georgia"/>
                <a:ea typeface="Georgia"/>
                <a:cs typeface="Georgia"/>
                <a:sym typeface="Georgia"/>
              </a:defRPr>
            </a:lvl1pPr>
          </a:lstStyle>
          <a:p>
            <a:pPr/>
            <a:r>
              <a:t>Model / Next Steps</a:t>
            </a:r>
          </a:p>
        </p:txBody>
      </p:sp>
      <p:sp>
        <p:nvSpPr>
          <p:cNvPr id="209" name="Shape 38"/>
          <p:cNvSpPr/>
          <p:nvPr/>
        </p:nvSpPr>
        <p:spPr>
          <a:xfrm>
            <a:off x="8366759" y="4343400"/>
            <a:ext cx="3200402" cy="0"/>
          </a:xfrm>
          <a:prstGeom prst="line">
            <a:avLst/>
          </a:prstGeom>
          <a:ln>
            <a:solidFill>
              <a:srgbClr val="E4DFF0"/>
            </a:solidFill>
          </a:ln>
        </p:spPr>
        <p:txBody>
          <a:bodyPr lIns="45718" tIns="45718" rIns="45718" bIns="45718"/>
          <a:lstStyle/>
          <a:p>
            <a:pPr/>
          </a:p>
        </p:txBody>
      </p:sp>
      <p:sp>
        <p:nvSpPr>
          <p:cNvPr id="210" name="Text 39"/>
          <p:cNvSpPr txBox="1"/>
          <p:nvPr/>
        </p:nvSpPr>
        <p:spPr>
          <a:xfrm>
            <a:off x="8366759" y="4734998"/>
            <a:ext cx="3200402" cy="1182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A2440"/>
                </a:solidFill>
                <a:latin typeface="+mn-lt"/>
                <a:ea typeface="+mn-ea"/>
                <a:cs typeface="+mn-cs"/>
                <a:sym typeface="Calibri"/>
              </a:defRPr>
            </a:lvl1pPr>
          </a:lstStyle>
          <a:p>
            <a:pPr/>
            <a:r>
              <a:t>lassification model can distinguish between Cat A, Cat B, and Empty. Next step is integrating the classifier output with weight and visit duration data to build the full anomaly detection pipeline. Cloud upload and dashboard display to follow.</a:t>
            </a:r>
          </a:p>
        </p:txBody>
      </p:sp>
      <p:sp>
        <p:nvSpPr>
          <p:cNvPr id="211" name="Shape 40"/>
          <p:cNvSpPr/>
          <p:nvPr/>
        </p:nvSpPr>
        <p:spPr>
          <a:xfrm>
            <a:off x="548638" y="6446520"/>
            <a:ext cx="11064244" cy="1"/>
          </a:xfrm>
          <a:prstGeom prst="line">
            <a:avLst/>
          </a:prstGeom>
          <a:ln>
            <a:solidFill>
              <a:srgbClr val="E4DFF0"/>
            </a:solidFill>
          </a:ln>
        </p:spPr>
        <p:txBody>
          <a:bodyPr lIns="45718" tIns="45718" rIns="45718" bIns="45718"/>
          <a:lstStyle/>
          <a:p>
            <a:pPr/>
          </a:p>
        </p:txBody>
      </p:sp>
      <p:sp>
        <p:nvSpPr>
          <p:cNvPr id="212" name="Text 41"/>
          <p:cNvSpPr txBox="1"/>
          <p:nvPr/>
        </p:nvSpPr>
        <p:spPr>
          <a:xfrm>
            <a:off x="548640" y="6560864"/>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2</a:t>
            </a:r>
          </a:p>
        </p:txBody>
      </p:sp>
      <p:sp>
        <p:nvSpPr>
          <p:cNvPr id="213" name="Text 42"/>
          <p:cNvSpPr txBox="1"/>
          <p:nvPr/>
        </p:nvSpPr>
        <p:spPr>
          <a:xfrm>
            <a:off x="10698480" y="6560864"/>
            <a:ext cx="9144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6 / 8</a:t>
            </a:r>
          </a:p>
        </p:txBody>
      </p:sp>
      <p:sp>
        <p:nvSpPr>
          <p:cNvPr id="214" name="Shape 5"/>
          <p:cNvSpPr/>
          <p:nvPr/>
        </p:nvSpPr>
        <p:spPr>
          <a:xfrm>
            <a:off x="3686112" y="2371406"/>
            <a:ext cx="289845" cy="289845"/>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215" name="Text 12"/>
          <p:cNvSpPr txBox="1"/>
          <p:nvPr/>
        </p:nvSpPr>
        <p:spPr>
          <a:xfrm>
            <a:off x="3671013" y="2464291"/>
            <a:ext cx="320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2</a:t>
            </a:r>
          </a:p>
        </p:txBody>
      </p:sp>
      <p:sp>
        <p:nvSpPr>
          <p:cNvPr id="216" name="Shape 5"/>
          <p:cNvSpPr/>
          <p:nvPr/>
        </p:nvSpPr>
        <p:spPr>
          <a:xfrm>
            <a:off x="6599277" y="2371406"/>
            <a:ext cx="289845" cy="289845"/>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217" name="Text 12"/>
          <p:cNvSpPr txBox="1"/>
          <p:nvPr/>
        </p:nvSpPr>
        <p:spPr>
          <a:xfrm>
            <a:off x="6584177" y="2464291"/>
            <a:ext cx="320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3</a:t>
            </a:r>
          </a:p>
        </p:txBody>
      </p:sp>
      <p:sp>
        <p:nvSpPr>
          <p:cNvPr id="218" name="Shape 5"/>
          <p:cNvSpPr/>
          <p:nvPr/>
        </p:nvSpPr>
        <p:spPr>
          <a:xfrm>
            <a:off x="9487269" y="2386503"/>
            <a:ext cx="289845" cy="289845"/>
          </a:xfrm>
          <a:prstGeom prst="ellipse">
            <a:avLst/>
          </a:prstGeom>
          <a:solidFill>
            <a:srgbClr val="EEEAF7"/>
          </a:solidFill>
          <a:ln>
            <a:solidFill>
              <a:srgbClr val="7C6BB5"/>
            </a:solidFill>
          </a:ln>
        </p:spPr>
        <p:txBody>
          <a:bodyPr lIns="45718" tIns="45718" rIns="45718" bIns="45718"/>
          <a:lstStyle/>
          <a:p>
            <a:pPr>
              <a:defRPr>
                <a:latin typeface="+mn-lt"/>
                <a:ea typeface="+mn-ea"/>
                <a:cs typeface="+mn-cs"/>
                <a:sym typeface="Calibri"/>
              </a:defRPr>
            </a:pPr>
          </a:p>
        </p:txBody>
      </p:sp>
      <p:sp>
        <p:nvSpPr>
          <p:cNvPr id="219" name="Text 12"/>
          <p:cNvSpPr txBox="1"/>
          <p:nvPr/>
        </p:nvSpPr>
        <p:spPr>
          <a:xfrm>
            <a:off x="9472170" y="2479389"/>
            <a:ext cx="320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5B4A94"/>
                </a:solidFill>
                <a:latin typeface="+mn-lt"/>
                <a:ea typeface="+mn-ea"/>
                <a:cs typeface="+mn-cs"/>
                <a:sym typeface="Calibri"/>
              </a:defRPr>
            </a:lvl1pPr>
          </a:lstStyle>
          <a:p>
            <a:pPr/>
            <a:r>
              <a:t>4</a:t>
            </a:r>
          </a:p>
        </p:txBody>
      </p:sp>
      <p:pic>
        <p:nvPicPr>
          <p:cNvPr id="220" name="0aa8ab1311532cb4fd63f7928fdfff64.jpg" descr="0aa8ab1311532cb4fd63f7928fdfff64.jpg"/>
          <p:cNvPicPr>
            <a:picLocks noChangeAspect="1"/>
          </p:cNvPicPr>
          <p:nvPr/>
        </p:nvPicPr>
        <p:blipFill>
          <a:blip r:embed="rId2">
            <a:extLst/>
          </a:blip>
          <a:stretch>
            <a:fillRect/>
          </a:stretch>
        </p:blipFill>
        <p:spPr>
          <a:xfrm>
            <a:off x="9549248" y="367393"/>
            <a:ext cx="2251602" cy="1688373"/>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222" name="Shape 40"/>
          <p:cNvSpPr/>
          <p:nvPr/>
        </p:nvSpPr>
        <p:spPr>
          <a:xfrm>
            <a:off x="548638" y="6446520"/>
            <a:ext cx="11064244" cy="1"/>
          </a:xfrm>
          <a:prstGeom prst="line">
            <a:avLst/>
          </a:prstGeom>
          <a:ln>
            <a:solidFill>
              <a:srgbClr val="E4DFF0"/>
            </a:solidFill>
          </a:ln>
        </p:spPr>
        <p:txBody>
          <a:bodyPr lIns="45718" tIns="45718" rIns="45718" bIns="45718"/>
          <a:lstStyle/>
          <a:p>
            <a:pPr/>
          </a:p>
        </p:txBody>
      </p:sp>
      <p:sp>
        <p:nvSpPr>
          <p:cNvPr id="223" name="Text 41"/>
          <p:cNvSpPr txBox="1"/>
          <p:nvPr/>
        </p:nvSpPr>
        <p:spPr>
          <a:xfrm>
            <a:off x="548640" y="6560864"/>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2</a:t>
            </a:r>
          </a:p>
        </p:txBody>
      </p:sp>
      <p:sp>
        <p:nvSpPr>
          <p:cNvPr id="224" name="Text 42"/>
          <p:cNvSpPr txBox="1"/>
          <p:nvPr/>
        </p:nvSpPr>
        <p:spPr>
          <a:xfrm>
            <a:off x="10698480" y="6560864"/>
            <a:ext cx="91440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7/ 8</a:t>
            </a:r>
          </a:p>
        </p:txBody>
      </p:sp>
      <p:pic>
        <p:nvPicPr>
          <p:cNvPr id="225" name="int8.png" descr="int8.png"/>
          <p:cNvPicPr>
            <a:picLocks noChangeAspect="1"/>
          </p:cNvPicPr>
          <p:nvPr/>
        </p:nvPicPr>
        <p:blipFill>
          <a:blip r:embed="rId2">
            <a:extLst/>
          </a:blip>
          <a:stretch>
            <a:fillRect/>
          </a:stretch>
        </p:blipFill>
        <p:spPr>
          <a:xfrm>
            <a:off x="3453352" y="90120"/>
            <a:ext cx="5285296" cy="6332178"/>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AF6"/>
        </a:solidFill>
      </p:bgPr>
    </p:bg>
    <p:spTree>
      <p:nvGrpSpPr>
        <p:cNvPr id="1" name=""/>
        <p:cNvGrpSpPr/>
        <p:nvPr/>
      </p:nvGrpSpPr>
      <p:grpSpPr>
        <a:xfrm>
          <a:off x="0" y="0"/>
          <a:ext cx="0" cy="0"/>
          <a:chOff x="0" y="0"/>
          <a:chExt cx="0" cy="0"/>
        </a:xfrm>
      </p:grpSpPr>
      <p:sp>
        <p:nvSpPr>
          <p:cNvPr id="227" name="Shape 0"/>
          <p:cNvSpPr/>
          <p:nvPr/>
        </p:nvSpPr>
        <p:spPr>
          <a:xfrm>
            <a:off x="548640" y="530351"/>
            <a:ext cx="146308" cy="146308"/>
          </a:xfrm>
          <a:prstGeom prst="rect">
            <a:avLst/>
          </a:prstGeom>
          <a:solidFill>
            <a:srgbClr val="7C6BB5"/>
          </a:solidFill>
          <a:ln w="12700">
            <a:solidFill>
              <a:srgbClr val="7C6BB5"/>
            </a:solidFill>
          </a:ln>
        </p:spPr>
        <p:txBody>
          <a:bodyPr lIns="45718" tIns="45718" rIns="45718" bIns="45718"/>
          <a:lstStyle/>
          <a:p>
            <a:pPr>
              <a:defRPr>
                <a:latin typeface="+mn-lt"/>
                <a:ea typeface="+mn-ea"/>
                <a:cs typeface="+mn-cs"/>
                <a:sym typeface="Calibri"/>
              </a:defRPr>
            </a:pPr>
          </a:p>
        </p:txBody>
      </p:sp>
      <p:sp>
        <p:nvSpPr>
          <p:cNvPr id="228" name="Text 1"/>
          <p:cNvSpPr txBox="1"/>
          <p:nvPr/>
        </p:nvSpPr>
        <p:spPr>
          <a:xfrm>
            <a:off x="777238" y="534965"/>
            <a:ext cx="54864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50" sz="1000">
                <a:solidFill>
                  <a:srgbClr val="7C6BB5"/>
                </a:solidFill>
                <a:latin typeface="+mn-lt"/>
                <a:ea typeface="+mn-ea"/>
                <a:cs typeface="+mn-cs"/>
                <a:sym typeface="Calibri"/>
              </a:defRPr>
            </a:lvl1pPr>
          </a:lstStyle>
          <a:p>
            <a:pPr/>
            <a:r>
              <a:t>05  BUDGET</a:t>
            </a:r>
          </a:p>
        </p:txBody>
      </p:sp>
      <p:sp>
        <p:nvSpPr>
          <p:cNvPr id="229" name="Text 2"/>
          <p:cNvSpPr txBox="1"/>
          <p:nvPr/>
        </p:nvSpPr>
        <p:spPr>
          <a:xfrm>
            <a:off x="548638" y="989327"/>
            <a:ext cx="1106424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2A2440"/>
                </a:solidFill>
                <a:latin typeface="Georgia"/>
                <a:ea typeface="Georgia"/>
                <a:cs typeface="Georgia"/>
                <a:sym typeface="Georgia"/>
              </a:defRPr>
            </a:lvl1pPr>
          </a:lstStyle>
          <a:p>
            <a:pPr/>
            <a:r>
              <a:t>Budget Update</a:t>
            </a:r>
          </a:p>
        </p:txBody>
      </p:sp>
      <p:sp>
        <p:nvSpPr>
          <p:cNvPr id="230" name="Text 3"/>
          <p:cNvSpPr txBox="1"/>
          <p:nvPr/>
        </p:nvSpPr>
        <p:spPr>
          <a:xfrm>
            <a:off x="548638" y="1988864"/>
            <a:ext cx="3657606"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TOTAL BUDGET</a:t>
            </a:r>
          </a:p>
        </p:txBody>
      </p:sp>
      <p:sp>
        <p:nvSpPr>
          <p:cNvPr id="231" name="Text 4"/>
          <p:cNvSpPr txBox="1"/>
          <p:nvPr/>
        </p:nvSpPr>
        <p:spPr>
          <a:xfrm>
            <a:off x="548638" y="2350007"/>
            <a:ext cx="3657606"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2A2440"/>
                </a:solidFill>
                <a:latin typeface="Georgia"/>
                <a:ea typeface="Georgia"/>
                <a:cs typeface="Georgia"/>
                <a:sym typeface="Georgia"/>
              </a:defRPr>
            </a:lvl1pPr>
          </a:lstStyle>
          <a:p>
            <a:pPr/>
            <a:r>
              <a:t>$ 350</a:t>
            </a:r>
          </a:p>
        </p:txBody>
      </p:sp>
      <p:sp>
        <p:nvSpPr>
          <p:cNvPr id="232" name="Shape 5"/>
          <p:cNvSpPr/>
          <p:nvPr/>
        </p:nvSpPr>
        <p:spPr>
          <a:xfrm>
            <a:off x="4023359" y="2011677"/>
            <a:ext cx="4" cy="822964"/>
          </a:xfrm>
          <a:prstGeom prst="line">
            <a:avLst/>
          </a:prstGeom>
          <a:ln>
            <a:solidFill>
              <a:srgbClr val="E4DFF0"/>
            </a:solidFill>
          </a:ln>
        </p:spPr>
        <p:txBody>
          <a:bodyPr lIns="45718" tIns="45718" rIns="45718" bIns="45718"/>
          <a:lstStyle/>
          <a:p>
            <a:pPr/>
          </a:p>
        </p:txBody>
      </p:sp>
      <p:sp>
        <p:nvSpPr>
          <p:cNvPr id="233" name="Text 6"/>
          <p:cNvSpPr txBox="1"/>
          <p:nvPr/>
        </p:nvSpPr>
        <p:spPr>
          <a:xfrm>
            <a:off x="4297679" y="1988864"/>
            <a:ext cx="36576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SPENT SO FAR</a:t>
            </a:r>
          </a:p>
        </p:txBody>
      </p:sp>
      <p:sp>
        <p:nvSpPr>
          <p:cNvPr id="234" name="Text 7"/>
          <p:cNvSpPr txBox="1"/>
          <p:nvPr/>
        </p:nvSpPr>
        <p:spPr>
          <a:xfrm>
            <a:off x="4297679" y="2350007"/>
            <a:ext cx="3657604"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2A2440"/>
                </a:solidFill>
                <a:latin typeface="Georgia"/>
                <a:ea typeface="Georgia"/>
                <a:cs typeface="Georgia"/>
                <a:sym typeface="Georgia"/>
              </a:defRPr>
            </a:lvl1pPr>
          </a:lstStyle>
          <a:p>
            <a:pPr/>
            <a:r>
              <a:t>$ 57.38</a:t>
            </a:r>
          </a:p>
        </p:txBody>
      </p:sp>
      <p:sp>
        <p:nvSpPr>
          <p:cNvPr id="235" name="Shape 8"/>
          <p:cNvSpPr/>
          <p:nvPr/>
        </p:nvSpPr>
        <p:spPr>
          <a:xfrm>
            <a:off x="7772396" y="2011677"/>
            <a:ext cx="4" cy="822964"/>
          </a:xfrm>
          <a:prstGeom prst="line">
            <a:avLst/>
          </a:prstGeom>
          <a:ln>
            <a:solidFill>
              <a:srgbClr val="E4DFF0"/>
            </a:solidFill>
          </a:ln>
        </p:spPr>
        <p:txBody>
          <a:bodyPr lIns="45718" tIns="45718" rIns="45718" bIns="45718"/>
          <a:lstStyle/>
          <a:p>
            <a:pPr/>
          </a:p>
        </p:txBody>
      </p:sp>
      <p:sp>
        <p:nvSpPr>
          <p:cNvPr id="236" name="Text 9"/>
          <p:cNvSpPr txBox="1"/>
          <p:nvPr/>
        </p:nvSpPr>
        <p:spPr>
          <a:xfrm>
            <a:off x="8046718" y="1988864"/>
            <a:ext cx="3657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REMAINING</a:t>
            </a:r>
          </a:p>
        </p:txBody>
      </p:sp>
      <p:sp>
        <p:nvSpPr>
          <p:cNvPr id="237" name="Text 10"/>
          <p:cNvSpPr txBox="1"/>
          <p:nvPr/>
        </p:nvSpPr>
        <p:spPr>
          <a:xfrm>
            <a:off x="8046718" y="2350007"/>
            <a:ext cx="3657605"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5B4A94"/>
                </a:solidFill>
                <a:latin typeface="Georgia"/>
                <a:ea typeface="Georgia"/>
                <a:cs typeface="Georgia"/>
                <a:sym typeface="Georgia"/>
              </a:defRPr>
            </a:lvl1pPr>
          </a:lstStyle>
          <a:p>
            <a:pPr/>
            <a:r>
              <a:t>$ 292.62</a:t>
            </a:r>
          </a:p>
        </p:txBody>
      </p:sp>
      <p:sp>
        <p:nvSpPr>
          <p:cNvPr id="238" name="Shape 11"/>
          <p:cNvSpPr/>
          <p:nvPr/>
        </p:nvSpPr>
        <p:spPr>
          <a:xfrm>
            <a:off x="548638" y="3063239"/>
            <a:ext cx="11064245" cy="1"/>
          </a:xfrm>
          <a:prstGeom prst="line">
            <a:avLst/>
          </a:prstGeom>
          <a:ln>
            <a:solidFill>
              <a:srgbClr val="E4DFF0"/>
            </a:solidFill>
          </a:ln>
        </p:spPr>
        <p:txBody>
          <a:bodyPr lIns="45718" tIns="45718" rIns="45718" bIns="45718"/>
          <a:lstStyle/>
          <a:p>
            <a:pPr/>
          </a:p>
        </p:txBody>
      </p:sp>
      <p:sp>
        <p:nvSpPr>
          <p:cNvPr id="239" name="Text 12"/>
          <p:cNvSpPr txBox="1"/>
          <p:nvPr/>
        </p:nvSpPr>
        <p:spPr>
          <a:xfrm>
            <a:off x="548638" y="3269023"/>
            <a:ext cx="4572006"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000">
                <a:solidFill>
                  <a:srgbClr val="7C6BB5"/>
                </a:solidFill>
                <a:latin typeface="+mn-lt"/>
                <a:ea typeface="+mn-ea"/>
                <a:cs typeface="+mn-cs"/>
                <a:sym typeface="Calibri"/>
              </a:defRPr>
            </a:lvl1pPr>
          </a:lstStyle>
          <a:p>
            <a:pPr/>
            <a:r>
              <a:t>PURCHASES TO DATE</a:t>
            </a:r>
          </a:p>
        </p:txBody>
      </p:sp>
      <p:graphicFrame>
        <p:nvGraphicFramePr>
          <p:cNvPr id="240" name="Table 0"/>
          <p:cNvGraphicFramePr/>
          <p:nvPr/>
        </p:nvGraphicFramePr>
        <p:xfrm>
          <a:off x="548640" y="3520440"/>
          <a:ext cx="11064241" cy="281622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217920"/>
                <a:gridCol w="1188720"/>
                <a:gridCol w="1828800"/>
                <a:gridCol w="1828800"/>
              </a:tblGrid>
              <a:tr h="402336">
                <a:tc>
                  <a:txBody>
                    <a:bodyPr/>
                    <a:lstStyle/>
                    <a:p>
                      <a:pPr algn="l">
                        <a:defRPr sz="1800"/>
                      </a:pPr>
                      <a:r>
                        <a:rPr b="1" sz="1400">
                          <a:solidFill>
                            <a:srgbClr val="5B4A94"/>
                          </a:solidFill>
                        </a:rPr>
                        <a:t>Item</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c>
                  <a:txBody>
                    <a:bodyPr/>
                    <a:lstStyle/>
                    <a:p>
                      <a:pPr algn="ctr">
                        <a:defRPr sz="1800"/>
                      </a:pPr>
                      <a:r>
                        <a:rPr b="1" sz="1400">
                          <a:solidFill>
                            <a:srgbClr val="5B4A94"/>
                          </a:solidFill>
                        </a:rPr>
                        <a:t>Qty</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c>
                  <a:txBody>
                    <a:bodyPr/>
                    <a:lstStyle/>
                    <a:p>
                      <a:pPr>
                        <a:defRPr sz="1800"/>
                      </a:pPr>
                      <a:r>
                        <a:rPr b="1" sz="1400">
                          <a:solidFill>
                            <a:srgbClr val="5B4A94"/>
                          </a:solidFill>
                        </a:rPr>
                        <a:t>Unit Cost</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c>
                  <a:txBody>
                    <a:bodyPr/>
                    <a:lstStyle/>
                    <a:p>
                      <a:pPr>
                        <a:defRPr sz="1800"/>
                      </a:pPr>
                      <a:r>
                        <a:rPr b="1" sz="1400">
                          <a:solidFill>
                            <a:srgbClr val="5B4A94"/>
                          </a:solidFill>
                        </a:rPr>
                        <a:t>Total</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r>
              <a:tr h="402336">
                <a:tc>
                  <a:txBody>
                    <a:bodyPr/>
                    <a:lstStyle/>
                    <a:p>
                      <a:pPr algn="l">
                        <a:defRPr sz="1800"/>
                      </a:pPr>
                      <a:r>
                        <a:rPr sz="1400">
                          <a:solidFill>
                            <a:srgbClr val="2A2440"/>
                          </a:solidFill>
                        </a:rPr>
                        <a:t>[LiPo battery]</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[$ 5.83]</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[$ 5.83]</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[LiPo charger module (TP4057, 5pcs)]</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[$ 7.56]</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[$ 7.56]</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[Cat litter box(Smart Paws,enclosed)]</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[$ 43.99]</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[$ 43.99]</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[XIAO ESP32S3]</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[2]</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[$ 0.00]</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[$ 0.00]</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[Load cell + HX711]</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[$ 0.00]</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[$ 0.00]</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[PIR motion sensor]</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[$ 0.00]</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[$ 0.00]</a:t>
                      </a:r>
                    </a:p>
                  </a:txBody>
                  <a:tcPr marL="45720" marR="45720" marT="45720" marB="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bl>
          </a:graphicData>
        </a:graphic>
      </p:graphicFrame>
      <p:sp>
        <p:nvSpPr>
          <p:cNvPr id="241" name="Shape 13"/>
          <p:cNvSpPr/>
          <p:nvPr/>
        </p:nvSpPr>
        <p:spPr>
          <a:xfrm>
            <a:off x="548638" y="6446520"/>
            <a:ext cx="11064245" cy="1"/>
          </a:xfrm>
          <a:prstGeom prst="line">
            <a:avLst/>
          </a:prstGeom>
          <a:ln>
            <a:solidFill>
              <a:srgbClr val="E4DFF0"/>
            </a:solidFill>
          </a:ln>
        </p:spPr>
        <p:txBody>
          <a:bodyPr lIns="45718" tIns="45718" rIns="45718" bIns="45718"/>
          <a:lstStyle/>
          <a:p>
            <a:pPr/>
          </a:p>
        </p:txBody>
      </p:sp>
      <p:sp>
        <p:nvSpPr>
          <p:cNvPr id="242" name="Text 14"/>
          <p:cNvSpPr txBox="1"/>
          <p:nvPr/>
        </p:nvSpPr>
        <p:spPr>
          <a:xfrm>
            <a:off x="548640" y="6560863"/>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7A7490"/>
                </a:solidFill>
                <a:latin typeface="+mn-lt"/>
                <a:ea typeface="+mn-ea"/>
                <a:cs typeface="+mn-cs"/>
                <a:sym typeface="Calibri"/>
              </a:defRPr>
            </a:lvl1pPr>
          </a:lstStyle>
          <a:p>
            <a:pPr/>
            <a:r>
              <a:t>Smart Cat Litter Box Monitor   |   Milestone 1</a:t>
            </a:r>
          </a:p>
        </p:txBody>
      </p:sp>
      <p:sp>
        <p:nvSpPr>
          <p:cNvPr id="243" name="Text 15"/>
          <p:cNvSpPr txBox="1"/>
          <p:nvPr/>
        </p:nvSpPr>
        <p:spPr>
          <a:xfrm>
            <a:off x="10698480" y="6560863"/>
            <a:ext cx="914404"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7A7490"/>
                </a:solidFill>
                <a:latin typeface="+mn-lt"/>
                <a:ea typeface="+mn-ea"/>
                <a:cs typeface="+mn-cs"/>
                <a:sym typeface="Calibri"/>
              </a:defRPr>
            </a:lvl1pPr>
          </a:lstStyle>
          <a:p>
            <a:pPr/>
            <a:r>
              <a:t>8 / 8</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